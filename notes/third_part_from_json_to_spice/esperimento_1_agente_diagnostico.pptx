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09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sezione introduce il primo esperimento sull agente: non si parla solo di generazione SPICE, ma del livello diagnostico costruito sopra gli output della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2.0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21792" y="530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Esperimento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96012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diagnostico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 circuiti ricostruiti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2.0: Graph JSON → SPICE → diagnosi grounded → scenari controllati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6213D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48840" y="4078224"/>
            <a:ext cx="64008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834640" y="3749040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6213D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60520" y="4078224"/>
            <a:ext cx="64008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846320" y="3749040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16213D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ngspice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4078224"/>
            <a:ext cx="64008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858000" y="374904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16213D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366760" y="4078224"/>
            <a:ext cx="640080" cy="0"/>
          </a:xfrm>
          <a:prstGeom prst="line">
            <a:avLst/>
          </a:prstGeom>
          <a:noFill/>
          <a:ln w="2032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052560" y="3749040"/>
            <a:ext cx="1508760" cy="658368"/>
          </a:xfrm>
          <a:prstGeom prst="roundRect">
            <a:avLst>
              <a:gd name="adj" fmla="val 9722"/>
            </a:avLst>
          </a:prstGeom>
          <a:solidFill>
            <a:srgbClr val="16213D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controllati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9253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Blocco di slide per tesi / presentazione progetto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MOTIVAZIONE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Perché serve un agente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output tecnici sono corretti ma difficili da leggere per un utente finale.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01-08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19476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tecnica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SPICE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926080" y="19476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numerica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074920" y="19476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interfaccia naturale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evidenze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223760" y="19476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 tracciabile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834640"/>
            <a:ext cx="5074920" cy="1371600"/>
          </a:xfrm>
          <a:prstGeom prst="roundRect">
            <a:avLst>
              <a:gd name="adj" fmla="val 4667"/>
            </a:avLst>
          </a:prstGeom>
          <a:solidFill>
            <a:srgbClr val="14213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Problema: Graph JSON, node map, netlist e stdout/stderr sono utili per validazione scientifica, ma non rispondono direttamente a domande come “perché la lampada non si accende?”.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5074920" cy="1371600"/>
          </a:xfrm>
          <a:prstGeom prst="roundRect">
            <a:avLst>
              <a:gd name="adj" fmla="val 4667"/>
            </a:avLst>
          </a:prstGeom>
          <a:solidFill>
            <a:srgbClr val="14213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Soluzione: una </a:t>
            </a:r>
            <a:r>
              <a:rPr lang="en-US" sz="19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diagnostica </a:t>
            </a: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 legge gli output già prodotti, distingue fatti e ipotesi, e propone verifiche simulabili senza alterare la run base.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77240" y="4983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Sintesi: l’agente rende interrogabile la Pipeline 2.0.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centrale: diagnosi grounded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non inventa il circuito: usa gli artefatti come fonte di verità.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16213D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tecnica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2331720"/>
            <a:ext cx="82296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749040" y="201168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16213D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 SPICE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0" y="2331720"/>
            <a:ext cx="822960" cy="0"/>
          </a:xfrm>
          <a:prstGeom prst="line">
            <a:avLst/>
          </a:prstGeom>
          <a:noFill/>
          <a:ln w="2032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675120" y="2011680"/>
            <a:ext cx="2148840" cy="640080"/>
          </a:xfrm>
          <a:prstGeom prst="roundRect">
            <a:avLst>
              <a:gd name="adj" fmla="val 10000"/>
            </a:avLst>
          </a:prstGeom>
          <a:solidFill>
            <a:srgbClr val="16213D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contesto diagnostico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15400" y="2331720"/>
            <a:ext cx="82296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829800" y="2011680"/>
            <a:ext cx="1508760" cy="640080"/>
          </a:xfrm>
          <a:prstGeom prst="roundRect">
            <a:avLst>
              <a:gd name="adj" fmla="val 10000"/>
            </a:avLst>
          </a:prstGeom>
          <a:solidFill>
            <a:srgbClr val="16213D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50292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dati certi: </a:t>
            </a:r>
            <a:r>
              <a:rPr lang="en-US" sz="180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JSON, node map, valori dichiarati</a:t>
            </a:r>
            <a:endParaRPr lang="en-US" sz="1800" i="1" dirty="0"/>
          </a:p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risultati simulati: </a:t>
            </a:r>
            <a:r>
              <a:rPr lang="en-US" sz="180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netlist, stdout, stderr, CSV/plot</a:t>
            </a:r>
            <a:endParaRPr lang="en-US" sz="1800" i="1" dirty="0"/>
          </a:p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assunzioni: </a:t>
            </a:r>
            <a:r>
              <a:rPr lang="en-US" sz="180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 manuali, modelli SPICE, stati switch</a:t>
            </a:r>
            <a:endParaRPr lang="en-US" sz="1800" i="1" dirty="0"/>
          </a:p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ipotesi: </a:t>
            </a:r>
            <a:r>
              <a:rPr lang="en-US" sz="180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spiegazioni diagnostiche da confermare con scenari</a:t>
            </a:r>
            <a:endParaRPr lang="en-US" sz="1800" i="1" dirty="0"/>
          </a:p>
        </p:txBody>
      </p:sp>
      <p:sp>
        <p:nvSpPr>
          <p:cNvPr id="17" name="Text 15"/>
          <p:cNvSpPr/>
          <p:nvPr/>
        </p:nvSpPr>
        <p:spPr>
          <a:xfrm>
            <a:off x="6537960" y="3337560"/>
            <a:ext cx="4251960" cy="1737360"/>
          </a:xfrm>
          <a:prstGeom prst="roundRect">
            <a:avLst>
              <a:gd name="adj" fmla="val 3684"/>
            </a:avLst>
          </a:prstGeom>
          <a:solidFill>
            <a:srgbClr val="10213A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Regola chiave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conclusione deve poter essere ricondotta a un file originale o a uno scenario eseguito.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ARCHITETTURA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Dove si aggancia nella Pipeline 2.0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punto minimo è dopo 08_spice_run: prima esiste solo la netlist, dopo esiste il risultato ngspice.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62456" y="2203704"/>
            <a:ext cx="25603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472184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31720" y="2203704"/>
            <a:ext cx="25603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441448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node_map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00984" y="2203704"/>
            <a:ext cx="25603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410712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0248" y="2203704"/>
            <a:ext cx="25603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379976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39512" y="2203704"/>
            <a:ext cx="25603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349240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08776" y="2203704"/>
            <a:ext cx="25603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318504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spice_emit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78040" y="2203704"/>
            <a:ext cx="25603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287768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spice_run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47304" y="2203704"/>
            <a:ext cx="256032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257032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web_chat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16568" y="2203704"/>
            <a:ext cx="256032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226296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85832" y="2203704"/>
            <a:ext cx="25603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0195560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055096" y="2203704"/>
            <a:ext cx="256032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1164824" y="1874520"/>
            <a:ext cx="841248" cy="658368"/>
          </a:xfrm>
          <a:prstGeom prst="roundRect">
            <a:avLst>
              <a:gd name="adj" fmla="val 9722"/>
            </a:avLst>
          </a:prstGeom>
          <a:solidFill>
            <a:srgbClr val="12213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306324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01-08 producono artefatti </a:t>
            </a:r>
            <a:r>
              <a:rPr lang="en-US" sz="1650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tecnici</a:t>
            </a: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</a:p>
          <a:p>
            <a:pPr marL="0" indent="0" algn="l">
              <a:buNone/>
            </a:pPr>
            <a:endParaRPr lang="en-US" sz="165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JSON, valori, regole, netlist, log ngspice e risultati numerici</a:t>
            </a: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4480560" y="306324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è il ponte operativo: </a:t>
            </a:r>
          </a:p>
          <a:p>
            <a:pPr marL="0" indent="0" algn="l">
              <a:buNone/>
            </a:pPr>
            <a:endParaRPr lang="en-US" sz="165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650" i="1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riceve</a:t>
            </a:r>
            <a:r>
              <a:rPr lang="en-US" sz="16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il sintomo, chiama 10, chiama 11, mostra la risposta e passa eventuali scenari a 12.</a:t>
            </a:r>
            <a:endParaRPr lang="en-US" sz="1650" i="1" dirty="0"/>
          </a:p>
        </p:txBody>
      </p:sp>
      <p:sp>
        <p:nvSpPr>
          <p:cNvPr id="34" name="Text 32"/>
          <p:cNvSpPr/>
          <p:nvPr/>
        </p:nvSpPr>
        <p:spPr>
          <a:xfrm>
            <a:off x="8183880" y="306324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10-12 non sostituiscono la pipeline:</a:t>
            </a:r>
          </a:p>
          <a:p>
            <a:pPr marL="0" indent="0" algn="l">
              <a:buNone/>
            </a:pPr>
            <a:endParaRPr lang="en-US" sz="165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6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indicizzano, spiegano e creano copie scenario senza sovrascrivere la base run.</a:t>
            </a:r>
            <a:endParaRPr lang="en-US" sz="1650" i="1" dirty="0"/>
          </a:p>
        </p:txBody>
      </p:sp>
      <p:sp>
        <p:nvSpPr>
          <p:cNvPr id="35" name="Text 33"/>
          <p:cNvSpPr/>
          <p:nvPr/>
        </p:nvSpPr>
        <p:spPr>
          <a:xfrm>
            <a:off x="4526280" y="4983480"/>
            <a:ext cx="3108960" cy="310896"/>
          </a:xfrm>
          <a:prstGeom prst="roundRect">
            <a:avLst>
              <a:gd name="adj" fmla="val 20588"/>
            </a:avLst>
          </a:prstGeom>
          <a:solidFill>
            <a:srgbClr val="22C55E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run originale intoccabile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CHAT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09_web_chat: interfaccia locale e orchestratore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è un backend permanente: è un server locale temporaneo per interrogare gli output.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1828800" cy="3291840"/>
          </a:xfrm>
          <a:prstGeom prst="roundRect">
            <a:avLst>
              <a:gd name="adj" fmla="val 3500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selector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run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1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2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0360" y="1600200"/>
            <a:ext cx="3657600" cy="3291840"/>
          </a:xfrm>
          <a:prstGeom prst="roundRect">
            <a:avLst>
              <a:gd name="adj" fmla="val 1944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panel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summary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stdout / stderr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/ values / node map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 plot / CSV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1600200"/>
            <a:ext cx="4526280" cy="3291840"/>
          </a:xfrm>
          <a:prstGeom prst="roundRect">
            <a:avLst>
              <a:gd name="adj" fmla="val 1944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chat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Utente scrive il sintomo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risponde in Markdown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“esegui scenario 1”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Dettagli esecuzione richiudibili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conversazione mantenuta dal browser per batch/circuito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risposte chat salvate in file dedicati per non sovrascrivere esperimenti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scenario run visibile in sidebar dopo esecuzione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selettore modello implementato; immagine usata solo quando serve</a:t>
            </a:r>
            <a:endParaRPr lang="en-US" sz="15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CONTESTO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10_diagnostic_context.json: manifest leggero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contesto non duplica tutti i file: indica dove sono e come usarli.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749040" cy="3246120"/>
          </a:xfrm>
          <a:prstGeom prst="rect">
            <a:avLst/>
          </a:prstGeom>
          <a:solidFill>
            <a:srgbClr val="07101F"/>
          </a:solidFill>
          <a:ln w="12700">
            <a:solidFill>
              <a:srgbClr val="2436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 FORMAT]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[BATCH / CIRCUIT]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[USER PROBLEM]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[PIPELINE2 OUTPUT DIR]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[MINI SUMMARY]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[ARTIFACT PATHS]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[IMAGE ACCESS POLICY]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 MODE]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 RULES]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301752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715000" y="1508760"/>
            <a:ext cx="2743200" cy="3246120"/>
          </a:xfrm>
          <a:prstGeom prst="roundRect">
            <a:avLst>
              <a:gd name="adj" fmla="val 2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11_agent_readonly.py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legge il manifest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sceglie gli artefatti utili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carica file originali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costruisce il prompt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chiama il modello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salva la risposta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823960" y="1508760"/>
            <a:ext cx="2514600" cy="3246120"/>
          </a:xfrm>
          <a:prstGeom prst="roundRect">
            <a:avLst>
              <a:gd name="adj" fmla="val 2545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Mini-summary tecnico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i="1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spice_status</a:t>
            </a:r>
            <a:endParaRPr lang="en-US" sz="1550" i="1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i="1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exit_code</a:t>
            </a:r>
            <a:r>
              <a:rPr lang="en-US" sz="15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i="1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elementi</a:t>
            </a:r>
            <a:r>
              <a:rPr lang="en-US" sz="15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emessi/</a:t>
            </a:r>
            <a:r>
              <a:rPr lang="en-US" sz="1550" i="1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saltati</a:t>
            </a:r>
            <a:r>
              <a:rPr lang="en-US" sz="15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count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count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singleton nodes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i="1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presenza</a:t>
            </a:r>
            <a:r>
              <a:rPr lang="en-US" sz="1550" i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di CSV/plot.</a:t>
            </a:r>
            <a:endParaRPr lang="en-US" sz="1550" i="1" dirty="0"/>
          </a:p>
        </p:txBody>
      </p:sp>
      <p:sp>
        <p:nvSpPr>
          <p:cNvPr id="13" name="Text 11"/>
          <p:cNvSpPr/>
          <p:nvPr/>
        </p:nvSpPr>
        <p:spPr>
          <a:xfrm>
            <a:off x="4434840" y="5212080"/>
            <a:ext cx="3291840" cy="310896"/>
          </a:xfrm>
          <a:prstGeom prst="roundRect">
            <a:avLst>
              <a:gd name="adj" fmla="val 20588"/>
            </a:avLst>
          </a:prstGeom>
          <a:solidFill>
            <a:srgbClr val="38BDF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 di verità = file originali 01-08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V1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 versione dell’agente: solo lettura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Obiettivo: spiegare pipeline e ngspice rispetto al problema utente, senza modificare nulla.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438912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490472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utente sceglie batch e circuito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1042416" y="1911096"/>
            <a:ext cx="0" cy="210312"/>
          </a:xfrm>
          <a:prstGeom prst="line">
            <a:avLst/>
          </a:prstGeom>
          <a:noFill/>
          <a:ln w="12700">
            <a:solidFill>
              <a:srgbClr val="7C8B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438912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066544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scrive il problema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42416" y="2487168"/>
            <a:ext cx="0" cy="210312"/>
          </a:xfrm>
          <a:prstGeom prst="line">
            <a:avLst/>
          </a:prstGeom>
          <a:noFill/>
          <a:ln w="12700">
            <a:solidFill>
              <a:srgbClr val="7C8B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22960" y="2660904"/>
            <a:ext cx="438912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2642616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legge il manifest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1042416" y="3063240"/>
            <a:ext cx="0" cy="210312"/>
          </a:xfrm>
          <a:prstGeom prst="line">
            <a:avLst/>
          </a:prstGeom>
          <a:noFill/>
          <a:ln w="12700">
            <a:solidFill>
              <a:srgbClr val="7C8B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22960" y="3236976"/>
            <a:ext cx="438912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218688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carica gli artefatti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42416" y="3639312"/>
            <a:ext cx="0" cy="210312"/>
          </a:xfrm>
          <a:prstGeom prst="line">
            <a:avLst/>
          </a:prstGeom>
          <a:noFill/>
          <a:ln w="12700">
            <a:solidFill>
              <a:srgbClr val="7C8B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22960" y="3813048"/>
            <a:ext cx="438912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794760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analizza graph, node map, valori e SPICE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1042416" y="4215384"/>
            <a:ext cx="0" cy="210312"/>
          </a:xfrm>
          <a:prstGeom prst="line">
            <a:avLst/>
          </a:prstGeom>
          <a:noFill/>
          <a:ln w="12700">
            <a:solidFill>
              <a:srgbClr val="7C8B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822960" y="4389120"/>
            <a:ext cx="438912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370832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diagnosi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1042416" y="4791456"/>
            <a:ext cx="0" cy="210312"/>
          </a:xfrm>
          <a:prstGeom prst="line">
            <a:avLst/>
          </a:prstGeom>
          <a:noFill/>
          <a:ln w="12700">
            <a:solidFill>
              <a:srgbClr val="7C8B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22960" y="4965192"/>
            <a:ext cx="438912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4946904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 output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6035040" y="1828800"/>
            <a:ext cx="5029200" cy="2514600"/>
          </a:xfrm>
          <a:prstGeom prst="roundRect">
            <a:avLst>
              <a:gd name="adj" fmla="val 2545"/>
            </a:avLst>
          </a:prstGeom>
          <a:solidFill>
            <a:srgbClr val="10213A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questa fase lo step 11 può proporre scenari, ma non li applica.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modifica reale avviene solo quando l’utente sceglie esplicitamente uno scenario e 09 passa il JSON tecnico allo step 12.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V1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Cosa può fare e cosa non deve fare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comportamento è limitato per rendere l’esperimento difendibile nella tesi.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 FARE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45720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spiegare stato ngspice, stdout e stderr</a:t>
            </a:r>
          </a:p>
          <a:p>
            <a:pPr marL="0" indent="0">
              <a:buNone/>
            </a:pPr>
            <a:endParaRPr lang="en-US" sz="1710" dirty="0"/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collegare risultati SPICE al sintomo utente</a:t>
            </a:r>
            <a:endParaRPr lang="en-US" sz="1710" dirty="0"/>
          </a:p>
          <a:p>
            <a:pPr marL="0" indent="0">
              <a:buNone/>
            </a:pPr>
            <a:endParaRPr lang="en-US" sz="171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dire quali componenti entrano nella netlist</a:t>
            </a:r>
            <a:endParaRPr lang="en-US" sz="1710" dirty="0"/>
          </a:p>
          <a:p>
            <a:pPr marL="0" indent="0">
              <a:buNone/>
            </a:pPr>
            <a:endParaRPr lang="en-US" sz="171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segnalare componenti saltati o semplificati</a:t>
            </a:r>
            <a:endParaRPr lang="en-US" sz="1710" dirty="0"/>
          </a:p>
          <a:p>
            <a:pPr marL="0" indent="0">
              <a:buNone/>
            </a:pPr>
            <a:endParaRPr lang="en-US" sz="171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separare fatti, simulazione e ipotesi</a:t>
            </a:r>
            <a:endParaRPr lang="en-US" sz="1710" dirty="0"/>
          </a:p>
          <a:p>
            <a:pPr marL="0" indent="0">
              <a:buNone/>
            </a:pPr>
            <a:endParaRPr lang="en-US" sz="171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proporre al massimo scenari candidati</a:t>
            </a:r>
            <a:endParaRPr lang="en-US" sz="1710" dirty="0"/>
          </a:p>
        </p:txBody>
      </p:sp>
      <p:sp>
        <p:nvSpPr>
          <p:cNvPr id="11" name="Text 9"/>
          <p:cNvSpPr/>
          <p:nvPr/>
        </p:nvSpPr>
        <p:spPr>
          <a:xfrm>
            <a:off x="6400800" y="13258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DEVE FARE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45720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modificare netlist o Graph JSON</a:t>
            </a:r>
            <a:endParaRPr lang="en-US" sz="1710" dirty="0"/>
          </a:p>
          <a:p>
            <a:pPr marL="0" indent="0">
              <a:buNone/>
            </a:pPr>
            <a:endParaRPr lang="en-US" sz="171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inventare connessioni mancanti</a:t>
            </a:r>
            <a:endParaRPr lang="en-US" sz="1710" dirty="0"/>
          </a:p>
          <a:p>
            <a:pPr marL="0" indent="0">
              <a:buNone/>
            </a:pPr>
            <a:endParaRPr lang="en-US" sz="171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inventare valori assenti</a:t>
            </a:r>
            <a:endParaRPr lang="en-US" sz="1710" dirty="0"/>
          </a:p>
          <a:p>
            <a:pPr marL="0" indent="0">
              <a:buNone/>
            </a:pPr>
            <a:endParaRPr lang="en-US" sz="171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usare immagine di default</a:t>
            </a:r>
            <a:endParaRPr lang="en-US" sz="1710" dirty="0"/>
          </a:p>
          <a:p>
            <a:pPr marL="0" indent="0">
              <a:buNone/>
            </a:pPr>
            <a:endParaRPr lang="en-US" sz="171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eseguire ngspice direttamente</a:t>
            </a:r>
            <a:endParaRPr lang="en-US" sz="1710" dirty="0"/>
          </a:p>
          <a:p>
            <a:pPr marL="0" indent="0">
              <a:buNone/>
            </a:pPr>
            <a:endParaRPr lang="en-US" sz="171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1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trattare PARTIAL come circuito completo</a:t>
            </a:r>
            <a:endParaRPr lang="en-US" sz="1710" dirty="0"/>
          </a:p>
        </p:txBody>
      </p:sp>
      <p:sp>
        <p:nvSpPr>
          <p:cNvPr id="13" name="Text 11"/>
          <p:cNvSpPr/>
          <p:nvPr/>
        </p:nvSpPr>
        <p:spPr>
          <a:xfrm>
            <a:off x="3794760" y="5623560"/>
            <a:ext cx="4480560" cy="310896"/>
          </a:xfrm>
          <a:prstGeom prst="roundRect">
            <a:avLst>
              <a:gd name="adj" fmla="val 20588"/>
            </a:avLst>
          </a:prstGeom>
          <a:solidFill>
            <a:srgbClr val="22C55E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significa: interpreta, spiega, propone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Contratto di risposta stabile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struttura fissa riduce risposte vaghe e rende più facile valutare l’agente.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Stato simulazione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0" y="2304288"/>
            <a:ext cx="36576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063240" y="18288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Evidenze principali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2304288"/>
            <a:ext cx="365760" cy="0"/>
          </a:xfrm>
          <a:prstGeom prst="line">
            <a:avLst/>
          </a:prstGeom>
          <a:noFill/>
          <a:ln w="2032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49240" y="18288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 sul sintomo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304288"/>
            <a:ext cx="36576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635240" y="18288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Limiti diagnosi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18320" y="2304288"/>
            <a:ext cx="365760" cy="0"/>
          </a:xfrm>
          <a:prstGeom prst="line">
            <a:avLst/>
          </a:prstGeom>
          <a:noFill/>
          <a:ln w="2032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921240" y="18288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proposti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formato obbliga il modello a partire da ciò che è stato davvero simulato, poi a spiegare il sintomo e solo alla fine a proporre scenari.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09360" y="3520440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scenari </a:t>
            </a: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</a:t>
            </a: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restano proposte. </a:t>
            </a:r>
          </a:p>
          <a:p>
            <a:pPr marL="0" indent="0" algn="l">
              <a:buNone/>
            </a:pPr>
            <a:r>
              <a:rPr lang="en-US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Devono</a:t>
            </a: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essere self-contained, ordinati e traducibili in primitive validate dalla pipeline.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Livello di affidabilità: READY, PARTIAL, NOT_READY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stesso sintomo va letto in modo diverso a seconda dello stato del circuito.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3337560" cy="3383280"/>
          </a:xfrm>
          <a:prstGeom prst="roundRect">
            <a:avLst>
              <a:gd name="adj" fmla="val 1918"/>
            </a:avLst>
          </a:prstGeom>
          <a:solidFill>
            <a:srgbClr val="102B22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650" dirty="0"/>
          </a:p>
          <a:p>
            <a:pPr marL="0" indent="0" algn="l">
              <a:buNone/>
            </a:pP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 e modelli sufficienti. Netlist eseguibile. SPICE produce risultati utilizzabili.</a:t>
            </a:r>
            <a:endParaRPr lang="en-US" sz="1650" dirty="0"/>
          </a:p>
          <a:p>
            <a:pPr marL="0" indent="0" algn="l">
              <a:buNone/>
            </a:pP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può usare numeri simulati.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34840" y="1554480"/>
            <a:ext cx="3337560" cy="3383280"/>
          </a:xfrm>
          <a:prstGeom prst="roundRect">
            <a:avLst>
              <a:gd name="adj" fmla="val 1918"/>
            </a:avLst>
          </a:prstGeom>
          <a:solidFill>
            <a:srgbClr val="33270E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1650" dirty="0"/>
          </a:p>
          <a:p>
            <a:pPr marL="0" indent="0" algn="l">
              <a:buNone/>
            </a:pP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 semplificati, saltati o non supportati. La netlist rappresenta solo una parte del circuito.</a:t>
            </a:r>
            <a:endParaRPr lang="en-US" sz="1650" dirty="0"/>
          </a:p>
          <a:p>
            <a:pPr marL="0" indent="0" algn="l">
              <a:buNone/>
            </a:pP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deve essere prudente.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92440" y="1554480"/>
            <a:ext cx="3337560" cy="3383280"/>
          </a:xfrm>
          <a:prstGeom prst="roundRect">
            <a:avLst>
              <a:gd name="adj" fmla="val 1918"/>
            </a:avLst>
          </a:prstGeom>
          <a:solidFill>
            <a:srgbClr val="351420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NOT_READY</a:t>
            </a:r>
            <a:endParaRPr lang="en-US" sz="1650" dirty="0"/>
          </a:p>
          <a:p>
            <a:pPr marL="0" indent="0" algn="l">
              <a:buNone/>
            </a:pP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 insufficienti: terminali scollegati, valori mancanti, modelli assenti, IC complessi o graph non affidabile.</a:t>
            </a:r>
            <a:endParaRPr lang="en-US" sz="1650" dirty="0"/>
          </a:p>
          <a:p>
            <a:pPr marL="0" indent="0" algn="l">
              <a:buNone/>
            </a:pP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 solo preliminare.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97280" y="5486400"/>
            <a:ext cx="9966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ogni risposta: Graph JSON ≠ simulazione ≠ ipotesi. Questi livelli non vanno mai mescolati.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sull’immagine originale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graph-grounded; image-assisted solo come fallback diagnostico.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4206240" cy="2743200"/>
          </a:xfrm>
          <a:prstGeom prst="roundRect">
            <a:avLst>
              <a:gd name="adj" fmla="val 2333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Modalità base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graph-grounded agent</a:t>
            </a:r>
            <a:endParaRPr lang="en-US" sz="1800" b="1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lavora su Graph JSON, node map, valori, netlist e risultati ngspice.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86600" y="1600200"/>
            <a:ext cx="4206240" cy="2743200"/>
          </a:xfrm>
          <a:prstGeom prst="roundRect">
            <a:avLst>
              <a:gd name="adj" fmla="val 2333"/>
            </a:avLst>
          </a:prstGeom>
          <a:solidFill>
            <a:srgbClr val="16182E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image-assisted agent</a:t>
            </a:r>
            <a:endParaRPr lang="en-US" sz="1800" b="1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L’immagine viene usata se gli output strutturati suggeriscono un possibile errore del Graph JSON.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57800" y="2971800"/>
            <a:ext cx="1554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46120" y="4681726"/>
            <a:ext cx="100584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ngspice fallisce con nodi flottanti o matrice singolare utile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terminali importanti scollegati o nodi singleton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componenti critici saltati per topologia o valori mancanti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differenza sospetta tra graph, netlist e risultato SPICE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componenti complessi rappresentati solo parzialmente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Separazione dei ruoli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sicurezza dell’esperimento nasce dal fatto che agent, pipeline e utente non fanno la stessa cosa.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2834640" cy="2194560"/>
          </a:xfrm>
          <a:prstGeom prst="roundRect">
            <a:avLst>
              <a:gd name="adj" fmla="val 2917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spiega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 scenari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40" y="1828800"/>
            <a:ext cx="2834640" cy="2194560"/>
          </a:xfrm>
          <a:prstGeom prst="roundRect">
            <a:avLst>
              <a:gd name="adj" fmla="val 2917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 solo run scenario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riesegue SPICE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458200" y="1828800"/>
            <a:ext cx="2834640" cy="2194560"/>
          </a:xfrm>
          <a:prstGeom prst="roundRect">
            <a:avLst>
              <a:gd name="adj" fmla="val 2917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Utente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 sintomo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sceglie esplicitamente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ferma o continua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794760" y="2926080"/>
            <a:ext cx="6858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7635240" y="2926080"/>
            <a:ext cx="6858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114800" y="5029200"/>
            <a:ext cx="3840480" cy="310896"/>
          </a:xfrm>
          <a:prstGeom prst="roundRect">
            <a:avLst>
              <a:gd name="adj" fmla="val 20588"/>
            </a:avLst>
          </a:prstGeom>
          <a:solidFill>
            <a:srgbClr val="EF444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≠ esecutore libero di netlist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controllato: base run ≠ scenario run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scenario è una modifica simulativa su copie, non una correzione invisibile della pipeline.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1207008" cy="685800"/>
          </a:xfrm>
          <a:prstGeom prst="roundRect">
            <a:avLst>
              <a:gd name="adj" fmla="val 9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Sintomo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1975104" y="1856232"/>
            <a:ext cx="283464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331720" y="1508760"/>
            <a:ext cx="1207008" cy="685800"/>
          </a:xfrm>
          <a:prstGeom prst="roundRect">
            <a:avLst>
              <a:gd name="adj" fmla="val 9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 base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3575304" y="1856232"/>
            <a:ext cx="283464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931920" y="1508760"/>
            <a:ext cx="1207008" cy="685800"/>
          </a:xfrm>
          <a:prstGeom prst="roundRect">
            <a:avLst>
              <a:gd name="adj" fmla="val 9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JSON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175504" y="1856232"/>
            <a:ext cx="283464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532120" y="1508760"/>
            <a:ext cx="1207008" cy="685800"/>
          </a:xfrm>
          <a:prstGeom prst="roundRect">
            <a:avLst>
              <a:gd name="adj" fmla="val 9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Cartella separata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775704" y="1856232"/>
            <a:ext cx="283464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132320" y="1508760"/>
            <a:ext cx="1207008" cy="685800"/>
          </a:xfrm>
          <a:prstGeom prst="roundRect">
            <a:avLst>
              <a:gd name="adj" fmla="val 9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ngspice scenario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375904" y="1856232"/>
            <a:ext cx="283464" cy="0"/>
          </a:xfrm>
          <a:prstGeom prst="line">
            <a:avLst/>
          </a:prstGeom>
          <a:noFill/>
          <a:ln w="12700">
            <a:solidFill>
              <a:srgbClr val="FB71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732520" y="1508760"/>
            <a:ext cx="1207008" cy="685800"/>
          </a:xfrm>
          <a:prstGeom prst="roundRect">
            <a:avLst>
              <a:gd name="adj" fmla="val 9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Confronto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9976104" y="1856232"/>
            <a:ext cx="283464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332720" y="1508760"/>
            <a:ext cx="1207008" cy="685800"/>
          </a:xfrm>
          <a:prstGeom prst="roundRect">
            <a:avLst>
              <a:gd name="adj" fmla="val 9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Nuova diagnosi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68680" y="2834640"/>
            <a:ext cx="4937760" cy="2514600"/>
          </a:xfrm>
          <a:prstGeom prst="rect">
            <a:avLst/>
          </a:prstGeom>
          <a:solidFill>
            <a:srgbClr val="07101F"/>
          </a:solidFill>
          <a:ln w="12700">
            <a:solidFill>
              <a:srgbClr val="2436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outputs/.../&lt;circuit&gt;/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|-- 01_graph.json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|-- 07_netlist.cir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|-- 08_spice_run.json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`-- scenarios/&lt;scenario_id&gt;/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|-- scenario.json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|-- base_snapshot/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|-- run/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`-- scenario_comparison.json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2971800"/>
            <a:ext cx="4526280" cy="2011680"/>
          </a:xfrm>
          <a:prstGeom prst="roundRect">
            <a:avLst>
              <a:gd name="adj" fmla="val 3182"/>
            </a:avLst>
          </a:prstGeom>
          <a:solidFill>
            <a:srgbClr val="101C33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Regola fondamentale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output originali non vengono sovrascritti.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scenario salva cosa ha cambiato e produce un confronto base/scenario</a:t>
            </a: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Primitive implementate nello step 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Poche azioni generali, validate dalla pipeline, coprono molti scenari diagnostici.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12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drive_node_voltage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1444752"/>
            <a:ext cx="3749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aggiunge sorgente di test su nodo esistente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7543800" y="1417320"/>
            <a:ext cx="3611880" cy="566928"/>
          </a:xfrm>
          <a:prstGeom prst="rect">
            <a:avLst/>
          </a:prstGeom>
          <a:solidFill>
            <a:srgbClr val="07101F"/>
          </a:solidFill>
          <a:ln w="12700">
            <a:solidFill>
              <a:srgbClr val="2436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VSCENARIO_N002 N002 0 DC 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2496312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12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change_source_value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523744"/>
            <a:ext cx="3749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 valore di sorgente SPICE già emessa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7543800" y="2496312"/>
            <a:ext cx="3611880" cy="566928"/>
          </a:xfrm>
          <a:prstGeom prst="rect">
            <a:avLst/>
          </a:prstGeom>
          <a:solidFill>
            <a:srgbClr val="07101F"/>
          </a:solidFill>
          <a:ln w="12700">
            <a:solidFill>
              <a:srgbClr val="2436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VVCC → DC 10V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575304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12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change_component_value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3602736"/>
            <a:ext cx="3749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 componente semplice già in netlist</a:t>
            </a:r>
            <a:endParaRPr lang="en-US" sz="1530" dirty="0"/>
          </a:p>
        </p:txBody>
      </p:sp>
      <p:sp>
        <p:nvSpPr>
          <p:cNvPr id="17" name="Text 15"/>
          <p:cNvSpPr/>
          <p:nvPr/>
        </p:nvSpPr>
        <p:spPr>
          <a:xfrm>
            <a:off x="7543800" y="3575304"/>
            <a:ext cx="3611880" cy="566928"/>
          </a:xfrm>
          <a:prstGeom prst="rect">
            <a:avLst/>
          </a:prstGeom>
          <a:solidFill>
            <a:srgbClr val="07101F"/>
          </a:solidFill>
          <a:ln w="12700">
            <a:solidFill>
              <a:srgbClr val="2436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Rresistor22_4 → 33k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654296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12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close_switch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4681728"/>
            <a:ext cx="3749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chiude switch con piccola resistenza nella run scenario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7543800" y="4654296"/>
            <a:ext cx="3611880" cy="566928"/>
          </a:xfrm>
          <a:prstGeom prst="rect">
            <a:avLst/>
          </a:prstGeom>
          <a:solidFill>
            <a:srgbClr val="07101F"/>
          </a:solidFill>
          <a:ln w="12700">
            <a:solidFill>
              <a:srgbClr val="2436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1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RSCENARIO_switch N1 N2 1m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esiti diagnostici sono separati dalle primitive: resolved_candidate, partially_resolved, not_resolved, unknown.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Ciclo iterativo e budget scenari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può continuare a ragionare sui risultati, ma entro limiti espliciti.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2148840" cy="1005840"/>
          </a:xfrm>
          <a:prstGeom prst="roundRect">
            <a:avLst>
              <a:gd name="adj" fmla="val 6364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base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già eseguiti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54680" y="2331720"/>
            <a:ext cx="82296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069080" y="1691640"/>
            <a:ext cx="2743200" cy="1280160"/>
          </a:xfrm>
          <a:prstGeom prst="roundRect">
            <a:avLst>
              <a:gd name="adj" fmla="val 5000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scenario_comparison.json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vs scenario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count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grandezze compare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49440" y="2331720"/>
            <a:ext cx="82296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863840" y="1691640"/>
            <a:ext cx="3017520" cy="1280160"/>
          </a:xfrm>
          <a:prstGeom prst="roundRect">
            <a:avLst>
              <a:gd name="adj" fmla="val 5000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Nuova risposta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risolto?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parziale?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combinare?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fermarsi?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931920"/>
            <a:ext cx="9738360" cy="1508760"/>
          </a:xfrm>
          <a:prstGeom prst="roundRect">
            <a:avLst>
              <a:gd name="adj" fmla="val 4242"/>
            </a:avLst>
          </a:prstGeom>
          <a:solidFill>
            <a:srgbClr val="101C33"/>
          </a:solidFill>
          <a:ln/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attuale</a:t>
            </a:r>
            <a:endParaRPr lang="en-US" b="1" dirty="0"/>
          </a:p>
          <a:p>
            <a:pPr marL="0" indent="0" algn="ctr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5 scenari per circuito.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resta un solo scenario, l’agente deve proporre un solo test finale.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il budget è esaurito, deve dare una conclusione diagnostica.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ESPERIMENTO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Esperimento 1: cosa è stato verificato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web chat è stata usata sul Batch A per testare il ciclo completo agente-scenari.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22960" y="2039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circuiti Batch A citati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08960" y="2039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dettagliati forniti qui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394960" y="2039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primitive scenario implementate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680960" y="2039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max scenari/circuito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880360"/>
            <a:ext cx="10149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apertura web chat per i circuiti, selezione run e </a:t>
            </a:r>
            <a:r>
              <a:rPr lang="en-US" sz="1600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visualizzazione</a:t>
            </a: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artefatti</a:t>
            </a:r>
            <a:endParaRPr lang="en-US" sz="160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risposta agente read-only su sintomo </a:t>
            </a:r>
            <a:r>
              <a:rPr lang="en-US" sz="1600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naturale</a:t>
            </a: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dell’utente</a:t>
            </a:r>
            <a:endParaRPr lang="en-US" sz="160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parsing di frasi come “esegui scenario 1” o “esegui questo scenario”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creazione di scenario run separata e confronto automatico base/scenario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domande successive su scenari già eseguiti e conclusione finale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715000"/>
            <a:ext cx="101498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 a03 è citato nel documento generale come caso topologico/image-assisted; in questo blocco sono dettagliati a01, a02, a04-a10.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ESPERIMENTO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Mappa dei casi sperimentali (1/2)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 semplici, warning numerici e primo amplificatore analogico.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" y="1261872"/>
            <a:ext cx="731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89888" y="1261872"/>
            <a:ext cx="25603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run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261872"/>
            <a:ext cx="2834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chiave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09560" y="1261872"/>
            <a:ext cx="2834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600200"/>
            <a:ext cx="594360" cy="402336"/>
          </a:xfrm>
          <a:prstGeom prst="roundRect">
            <a:avLst>
              <a:gd name="adj" fmla="val 15909"/>
            </a:avLst>
          </a:prstGeom>
          <a:solidFill>
            <a:srgbClr val="22C55E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1591056"/>
            <a:ext cx="2788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pulito; LED attivo, lampada a 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34840" y="1591056"/>
            <a:ext cx="32461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N002 → lamp current &gt; 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09560" y="1591056"/>
            <a:ext cx="3611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lampada non pilotata nella base run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2286000"/>
            <a:ext cx="594360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89888" y="2276856"/>
            <a:ext cx="2788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con warning su N001; no current path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34840" y="2276856"/>
            <a:ext cx="32461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singoli + combinato → parziale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909560" y="2276856"/>
            <a:ext cx="3611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 topologico / graph da verificare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2971800"/>
            <a:ext cx="594360" cy="402336"/>
          </a:xfrm>
          <a:prstGeom prst="roundRect">
            <a:avLst>
              <a:gd name="adj" fmla="val 15909"/>
            </a:avLst>
          </a:prstGeom>
          <a:solidFill>
            <a:srgbClr val="38BDF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89888" y="2962656"/>
            <a:ext cx="2788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pulito + .tran; BJT coerente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34840" y="2962656"/>
            <a:ext cx="32461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 ampiezza ingresso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09560" y="2962656"/>
            <a:ext cx="3611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uscita piccola per ingresso troppo piccolo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594360" cy="402336"/>
          </a:xfrm>
          <a:prstGeom prst="roundRect">
            <a:avLst>
              <a:gd name="adj" fmla="val 15909"/>
            </a:avLst>
          </a:prstGeom>
          <a:solidFill>
            <a:srgbClr val="22C55E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89888" y="3648456"/>
            <a:ext cx="2788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con warning; VMON = 0 V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34840" y="3648456"/>
            <a:ext cx="32461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N003 → VMON sale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09560" y="3648456"/>
            <a:ext cx="3611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rilevamento sano, ingresso non pilotato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4343400"/>
            <a:ext cx="594360" cy="402336"/>
          </a:xfrm>
          <a:prstGeom prst="roundRect">
            <a:avLst>
              <a:gd name="adj" fmla="val 15909"/>
            </a:avLst>
          </a:prstGeom>
          <a:solidFill>
            <a:srgbClr val="A78BF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89888" y="4334256"/>
            <a:ext cx="2788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pulito + .tran; amplificatore VCC/VEE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434840" y="4334256"/>
            <a:ext cx="32461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scenari su ingresso, VCC, base, emettitore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909560" y="4334256"/>
            <a:ext cx="3611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localizzata su base N002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ESPERIMENTO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Mappa dei casi sperimentali (2/2)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Casi con assenza di eccitazione, interazione RC-sorgente e mancato trasferimento di alimentazione.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" y="1261872"/>
            <a:ext cx="731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89888" y="1261872"/>
            <a:ext cx="25603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run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261872"/>
            <a:ext cx="2834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chiave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09560" y="1261872"/>
            <a:ext cx="2834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600200"/>
            <a:ext cx="594360" cy="402336"/>
          </a:xfrm>
          <a:prstGeom prst="roundRect">
            <a:avLst>
              <a:gd name="adj" fmla="val 15909"/>
            </a:avLst>
          </a:prstGeom>
          <a:solidFill>
            <a:srgbClr val="22C55E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1591056"/>
            <a:ext cx="2788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pulito; nessuna vera sorgente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34840" y="1591056"/>
            <a:ext cx="32461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PWR, drive AC_INPUT, close RESET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09560" y="1591056"/>
            <a:ext cx="3611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rami sani; manca eccitazione nella netlist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2377440"/>
            <a:ext cx="594360" cy="402336"/>
          </a:xfrm>
          <a:prstGeom prst="roundRect">
            <a:avLst>
              <a:gd name="adj" fmla="val 15909"/>
            </a:avLst>
          </a:prstGeom>
          <a:solidFill>
            <a:srgbClr val="38BDF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89888" y="2368296"/>
            <a:ext cx="2788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pulito + .tran; LED non lampeggia netto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34840" y="2368296"/>
            <a:ext cx="32461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amplitude, C1, Rbase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909560" y="2368296"/>
            <a:ext cx="3611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interazione sorgente + temporizzazione RC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3154680"/>
            <a:ext cx="594360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89888" y="3145536"/>
            <a:ext cx="2788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con warning N002; rami separati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34840" y="3145536"/>
            <a:ext cx="32461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 diretto; lampada richiede N004 + switch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09560" y="3145536"/>
            <a:ext cx="3611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carichi reattivi, alimentazione non trasferita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594360" cy="402336"/>
          </a:xfrm>
          <a:prstGeom prst="roundRect">
            <a:avLst>
              <a:gd name="adj" fmla="val 15909"/>
            </a:avLst>
          </a:prstGeom>
          <a:solidFill>
            <a:srgbClr val="22C55E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89888" y="3922776"/>
            <a:ext cx="27889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pulito; switch porta N002 a 5V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34840" y="3922776"/>
            <a:ext cx="324612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lampada su N004, LED su N003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09560" y="3922776"/>
            <a:ext cx="3611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carichi sani; feed non arriva a N003/N004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97280" y="5074920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L’esperimento non valuta solo “SPICE success/failure”. Valuta se l’agente sa trasformare il risultato in una spiegazione e in scenari utili.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1 - ramo non pilotato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a01 e a05 mostrano il caso più didattico: il componente non è guasto, manca il pilotaggio.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4800600" cy="3337560"/>
          </a:xfrm>
          <a:prstGeom prst="roundRect">
            <a:avLst>
              <a:gd name="adj" fmla="val 1918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a01</a:t>
            </a:r>
            <a:endParaRPr lang="en-US" sz="1750" dirty="0"/>
          </a:p>
          <a:p>
            <a:pPr marL="0" indent="0" algn="l">
              <a:buNone/>
            </a:pP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Sintomo: lampada spenta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Base: N002=0, N004=0, lamp current=0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drive N002 a 5V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Esito: corrente lampada ≈ 4.76 mA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446520" y="1508760"/>
            <a:ext cx="4800600" cy="3337560"/>
          </a:xfrm>
          <a:prstGeom prst="roundRect">
            <a:avLst>
              <a:gd name="adj" fmla="val 1918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a05</a:t>
            </a:r>
            <a:endParaRPr lang="en-US" sz="1750" dirty="0"/>
          </a:p>
          <a:p>
            <a:pPr marL="0" indent="0" algn="l">
              <a:buNone/>
            </a:pP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Sintomo: VMON legge 0V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Base: nessuna sorgente, N001=0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drive N003 a 5V</a:t>
            </a:r>
            <a:endParaRPr lang="en-US" sz="1750" dirty="0"/>
          </a:p>
          <a:p>
            <a:pPr marL="0" indent="0" algn="l">
              <a:buNone/>
            </a:pPr>
            <a:r>
              <a:rPr lang="en-US" sz="17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Esito: N001 sale a 5V; TEST escluso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05840" y="5440680"/>
            <a:ext cx="101498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 per la tesi: l’agente riconosce un sintomo locale e propone il nodo naturale da pilotare, senza correggere il graph.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2 - scenario elettrico non basta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a02 è utile perché mostra il limite tra diagnosi elettrica e revisione topologica.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3246120" cy="2743200"/>
          </a:xfrm>
          <a:prstGeom prst="roundRect">
            <a:avLst>
              <a:gd name="adj" fmla="val 2333"/>
            </a:avLst>
          </a:prstGeom>
          <a:solidFill>
            <a:srgbClr val="33270E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run</a:t>
            </a:r>
            <a:endParaRPr lang="en-US" sz="1700" b="1" dirty="0"/>
          </a:p>
          <a:p>
            <a:pPr marL="0" indent="0" algn="l">
              <a:buNone/>
            </a:pPr>
            <a:endParaRPr lang="en-US" sz="17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ngspice riesce, ma con warning numerici su N001.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Nessun ramo assorbe corrente: batteria a 5V, ma nessun percorso utile.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80560" y="1600200"/>
            <a:ext cx="3246120" cy="2743200"/>
          </a:xfrm>
          <a:prstGeom prst="roundRect">
            <a:avLst>
              <a:gd name="adj" fmla="val 2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singoli</a:t>
            </a:r>
            <a:endParaRPr lang="en-US" sz="1700" b="1" dirty="0"/>
          </a:p>
          <a:p>
            <a:pPr marL="0" indent="0" algn="l">
              <a:buNone/>
            </a:pPr>
            <a:endParaRPr lang="en-US" sz="17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close_switch → not_resolved</a:t>
            </a:r>
            <a:endParaRPr lang="en-US" sz="17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N004 → partially_resolved</a:t>
            </a:r>
            <a:endParaRPr lang="en-US" sz="17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N003 → partially_resolved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38160" y="1600200"/>
            <a:ext cx="3246120" cy="2743200"/>
          </a:xfrm>
          <a:prstGeom prst="roundRect">
            <a:avLst>
              <a:gd name="adj" fmla="val 2333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composto</a:t>
            </a:r>
            <a:endParaRPr lang="en-US" sz="1700" b="1" dirty="0"/>
          </a:p>
          <a:p>
            <a:pPr marL="0" indent="0" algn="l">
              <a:buNone/>
            </a:pPr>
            <a:endParaRPr lang="en-US" sz="17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N004 + close_switch crea corrente nel ramo resistivo, ma non nella batteria reale.</a:t>
            </a:r>
            <a:endParaRPr lang="en-US" sz="1700" dirty="0"/>
          </a:p>
          <a:p>
            <a:pPr marL="0" indent="0" algn="l">
              <a:buNone/>
            </a:pPr>
            <a:endParaRPr lang="en-US" sz="170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700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</a:t>
            </a: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serve verifica graph/immagine.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5166360"/>
            <a:ext cx="4389120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lezione: not_resolved può essere comunque informativo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3 - circuito sano, sintomo di prestazione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a04 valida il comportamento analogico: non sempre la diagnosi è topologica.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4389120" cy="2286000"/>
          </a:xfrm>
          <a:prstGeom prst="roundRect">
            <a:avLst>
              <a:gd name="adj" fmla="val 2800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run</a:t>
            </a:r>
            <a:endParaRPr lang="en-US" sz="1750" b="1" dirty="0"/>
          </a:p>
          <a:p>
            <a:pPr marL="0" indent="0" algn="l">
              <a:buNone/>
            </a:pPr>
            <a:endParaRPr lang="en-US" sz="17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Amplificatore BJT con 2N2222, .tran, CSV e plot.</a:t>
            </a: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coerente: base ≈ 1.52V, emettitore ≈ 0.877V, collettore ≈ 3.08V.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4389120" cy="2286000"/>
          </a:xfrm>
          <a:prstGeom prst="roundRect">
            <a:avLst>
              <a:gd name="adj" fmla="val 2800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Sintomo</a:t>
            </a:r>
            <a:endParaRPr lang="en-US" sz="1750" b="1" dirty="0"/>
          </a:p>
          <a:p>
            <a:pPr marL="0" indent="0" algn="l">
              <a:buNone/>
            </a:pPr>
            <a:endParaRPr lang="en-US" sz="175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“Uscita troppo debole o quasi nulla”.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riconosce che N006 in DC vale 0V per il condensatore di accoppiamento, non per errore.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4160520"/>
            <a:ext cx="6400800" cy="1234440"/>
          </a:xfrm>
          <a:prstGeom prst="roundRect">
            <a:avLst>
              <a:gd name="adj" fmla="val 5185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50" b="1" dirty="0"/>
          </a:p>
          <a:p>
            <a:pPr marL="0" indent="0" algn="ctr">
              <a:buNone/>
            </a:pPr>
            <a:endParaRPr lang="en-US" sz="1850" dirty="0"/>
          </a:p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Aumentare Vsignal_source23_1 da 10mV a 100mV.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N006: circa 0.092Vpp → 0.943Vpp.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 confermata.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4 - localizzazione progressiva della causa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a06 non si chiude con il primo scenario: il valore è nel ciclo iterativo.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1417320"/>
            <a:ext cx="29718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riduce ingresso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conferma parziale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176272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176272"/>
            <a:ext cx="29718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riduce VVCC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176272"/>
            <a:ext cx="4206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conferma parziale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935224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2935224"/>
            <a:ext cx="29718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forza base N002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32120" y="2935224"/>
            <a:ext cx="4206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domina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694176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694176"/>
            <a:ext cx="29718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emettitore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32120" y="3694176"/>
            <a:ext cx="4206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effetto minore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453128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4453128"/>
            <a:ext cx="29718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blocca base al DC nominale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4453128"/>
            <a:ext cx="4206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uscita quasi nulla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5394960"/>
            <a:ext cx="10058400" cy="777240"/>
          </a:xfrm>
          <a:prstGeom prst="roundRect">
            <a:avLst>
              <a:gd name="adj" fmla="val 8235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 finale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risolto formalmente, ma localizzato con buona forza attorno al nodo base N002 e alla rete che governa polarizzazione/pilotaggio. Il ramo emettitore è secondario.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5 - netlist simulabile ma senza eccitazione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a07 mostra che SPICE success non significa circuito funzionante.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749040" cy="2926080"/>
          </a:xfrm>
          <a:prstGeom prst="roundRect">
            <a:avLst>
              <a:gd name="adj" fmla="val 2188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 base</a:t>
            </a:r>
            <a:endParaRPr lang="en-US" sz="1800" b="1" dirty="0"/>
          </a:p>
          <a:p>
            <a:pPr marL="0" indent="0" algn="l">
              <a:buNone/>
            </a:pPr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netlist non contiene sorgenti SPICE </a:t>
            </a:r>
            <a:r>
              <a:rPr lang="en-US" sz="1800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</a:t>
            </a: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 e voltmetro restano a zero non perché i rami siano guasti, ma perché non sono pilotati.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2834640" cy="2926080"/>
          </a:xfrm>
          <a:prstGeom prst="roundRect">
            <a:avLst>
              <a:gd name="adj" fmla="val 2258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LED</a:t>
            </a:r>
            <a:endParaRPr lang="en-US" sz="1800" b="1" dirty="0"/>
          </a:p>
          <a:p>
            <a:pPr marL="0" indent="0" algn="l">
              <a:buNone/>
            </a:pPr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N002 a 5V → LED conduce, id ≈ 6.3mA.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Ramo LED funzionale.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1508760"/>
            <a:ext cx="2834640" cy="2926080"/>
          </a:xfrm>
          <a:prstGeom prst="roundRect">
            <a:avLst>
              <a:gd name="adj" fmla="val 2258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VAC</a:t>
            </a:r>
            <a:endParaRPr lang="en-US" sz="1800" b="1" dirty="0"/>
          </a:p>
          <a:p>
            <a:pPr marL="0" indent="0" algn="l">
              <a:buNone/>
            </a:pPr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N001 con SIN(0 5 50) → VAC vede segnale ≈ 10Vpp.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Ramo misura funzionale.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chiuso non cambia i sintomi: è un test di esclusione, non la causa principale.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6 - interazione sorgente + temporizzazione RC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a08 è un caso in cui la diagnosi finale non è monocausale.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383280" cy="3657600"/>
          </a:xfrm>
          <a:prstGeom prst="roundRect">
            <a:avLst>
              <a:gd name="adj" fmla="val 1892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3</a:t>
            </a:r>
            <a:endParaRPr lang="en-US" sz="1550" b="1" dirty="0"/>
          </a:p>
          <a:p>
            <a:pPr marL="0" indent="0" algn="l">
              <a:buNone/>
            </a:pPr>
            <a:endParaRPr lang="en-US" sz="155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Ccapacitor4_1: 10u → 1u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N001 vpp: 2.94 → 4.82</a:t>
            </a: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N004 vpp: 2.93 → 3.79</a:t>
            </a: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N003 vpp: 6.44 → 7.23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 rilevante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34840" y="1463040"/>
            <a:ext cx="3383280" cy="3657600"/>
          </a:xfrm>
          <a:prstGeom prst="roundRect">
            <a:avLst>
              <a:gd name="adj" fmla="val 1892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4</a:t>
            </a:r>
            <a:endParaRPr lang="en-US" sz="155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Rresistor22_4: 68k → 33k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N001 quasi invariato</a:t>
            </a: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N004 quasi invariato</a:t>
            </a: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N003 quasi identico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Rbase non dominante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46720" y="1463040"/>
            <a:ext cx="3383280" cy="3657600"/>
          </a:xfrm>
          <a:prstGeom prst="roundRect">
            <a:avLst>
              <a:gd name="adj" fmla="val 1892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1</a:t>
            </a:r>
            <a:endParaRPr lang="en-US" sz="155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PULSE 0-5V → 0-10V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N001 vpp: 2.94 → 5.85</a:t>
            </a: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N004 vpp: 2.93 → 5.69</a:t>
            </a: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N003 vpp: 6.44 → 12.96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Sorgente molto forte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66160" y="5623560"/>
            <a:ext cx="5029200" cy="310896"/>
          </a:xfrm>
          <a:prstGeom prst="roundRect">
            <a:avLst>
              <a:gd name="adj" fmla="val 20588"/>
            </a:avLst>
          </a:prstGeom>
          <a:solidFill>
            <a:srgbClr val="38BDF8"/>
          </a:solidFill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conclusione: non solo RC, ma interazione sorgente + RC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7 - mancato trasferimento verso i carichi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a09 e a10 convergono: i carichi finali reagiscono, ma la base run non li alimenta.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4800600" cy="3886200"/>
          </a:xfrm>
          <a:prstGeom prst="roundRect">
            <a:avLst>
              <a:gd name="adj" fmla="val 1647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a09</a:t>
            </a:r>
            <a:endParaRPr lang="en-US" sz="1720" b="1" dirty="0"/>
          </a:p>
          <a:p>
            <a:pPr marL="0" indent="0" algn="l">
              <a:buNone/>
            </a:pPr>
            <a:endParaRPr lang="en-US" sz="172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2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Batteria + fusibile presenti.</a:t>
            </a:r>
            <a:endParaRPr lang="en-US" sz="172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2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 reagisce quando N005 è alimentato.</a:t>
            </a:r>
            <a:endParaRPr lang="en-US" sz="172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2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Lampada reagisce solo con N004 alimentato + switch chiuso.</a:t>
            </a:r>
            <a:endParaRPr lang="en-US" sz="1720" dirty="0"/>
          </a:p>
          <a:p>
            <a:pPr marL="0" indent="0" algn="l">
              <a:buNone/>
            </a:pPr>
            <a:endParaRPr lang="en-US" sz="1720" dirty="0"/>
          </a:p>
          <a:p>
            <a:pPr marL="0" indent="0" algn="l">
              <a:buNone/>
            </a:pPr>
            <a:r>
              <a:rPr lang="en-US" sz="172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Conclusione: alimentazione non trasferita ai rami finali.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6446520" y="1508760"/>
            <a:ext cx="4800600" cy="3886200"/>
          </a:xfrm>
          <a:prstGeom prst="roundRect">
            <a:avLst>
              <a:gd name="adj" fmla="val 1647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a10</a:t>
            </a:r>
            <a:endParaRPr lang="en-US" sz="1720" b="1" dirty="0"/>
          </a:p>
          <a:p>
            <a:pPr marL="0" indent="0" algn="l">
              <a:buNone/>
            </a:pPr>
            <a:endParaRPr lang="en-US" sz="172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2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Chiudere switch porta N002 a 5V, ma N003/N004 restano inattivi.</a:t>
            </a:r>
            <a:endParaRPr lang="en-US" sz="172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2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Lampada sana su N004.</a:t>
            </a:r>
            <a:endParaRPr lang="en-US" sz="172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2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 sano su N003.</a:t>
            </a:r>
            <a:endParaRPr lang="en-US" sz="1720" dirty="0"/>
          </a:p>
          <a:p>
            <a:pPr marL="0" indent="0" algn="l">
              <a:buNone/>
            </a:pPr>
            <a:endParaRPr lang="en-US" sz="1720" dirty="0"/>
          </a:p>
          <a:p>
            <a:pPr marL="0" indent="0" algn="l">
              <a:buNone/>
            </a:pPr>
            <a:r>
              <a:rPr lang="en-US" sz="172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Conclusione: feed/connector non porta alimentazione ai carichi.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1005840" y="5806440"/>
            <a:ext cx="10149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Formulazione prudente: non “connector fisico guasto”, ma “topologia/netlist attuale non trasferisce alimentazione ai nodi dei carichi”.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VALUTAZIONE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Cosa ha dimostrato bene l’agente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primo esperimento conferma che il flusso è praticabile e spiegabile.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101498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legge correttamente lo stato ngspice: success pulito, success con warning, </a:t>
            </a:r>
            <a:r>
              <a:rPr lang="en-US" sz="1900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900" dirty="0" err="1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topologico</a:t>
            </a:r>
            <a:endParaRPr lang="en-US" sz="190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collega le grandezze SPICE ai nodi reali usando la node map</a:t>
            </a:r>
            <a:endParaRPr lang="en-US" sz="1900" dirty="0"/>
          </a:p>
          <a:p>
            <a:pPr marL="0" indent="0">
              <a:buNone/>
            </a:pPr>
            <a:endParaRPr lang="en-US" sz="190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 inventa sorgenti o collegamenti assenti nei file</a:t>
            </a:r>
            <a:endParaRPr lang="en-US" sz="1900" dirty="0"/>
          </a:p>
          <a:p>
            <a:pPr marL="0" indent="0">
              <a:buNone/>
            </a:pPr>
            <a:endParaRPr lang="en-US" sz="190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sceglie scenari naturali: ingressi, connettori, sorgenti, switch, componenti già emessi</a:t>
            </a:r>
            <a:endParaRPr lang="en-US" sz="1900" dirty="0"/>
          </a:p>
          <a:p>
            <a:pPr marL="0" indent="0">
              <a:buNone/>
            </a:pPr>
            <a:endParaRPr lang="en-US" sz="190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aggiorna la diagnosi dopo i risultati, distinguendo resolved_candidate da partial/not_resolved</a:t>
            </a:r>
            <a:endParaRPr lang="en-US" sz="1900" dirty="0"/>
          </a:p>
          <a:p>
            <a:pPr marL="0" indent="0">
              <a:buNone/>
            </a:pPr>
            <a:endParaRPr lang="en-US" sz="1900" dirty="0">
              <a:solidFill>
                <a:srgbClr val="F4F7F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quando gli scenari elettrici non bastano, riconosce il limite topologico/graph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97280" y="4709160"/>
            <a:ext cx="2377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ramo non pilotato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0" y="4745736"/>
            <a:ext cx="29718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766560" y="4709160"/>
            <a:ext cx="3657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5093208"/>
            <a:ext cx="2377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analogico/localizzato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0" y="5129784"/>
            <a:ext cx="178308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577840" y="5093208"/>
            <a:ext cx="3657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5477256"/>
            <a:ext cx="2377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 topologico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0" y="5513832"/>
            <a:ext cx="59436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389120" y="5477256"/>
            <a:ext cx="3657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VALUTAZIONE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Limiti da dichiarare nella tesi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produce diagnosi motivate, non verità fisiche assolute.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291840" cy="3566160"/>
          </a:xfrm>
          <a:prstGeom prst="roundRect">
            <a:avLst>
              <a:gd name="adj" fmla="val 1944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Dipendenze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qualità Graph JSON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correttezza node map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 disponibili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 SPICE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datasheet/device profile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completezza del sintomo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6280" y="1554480"/>
            <a:ext cx="3291840" cy="3566160"/>
          </a:xfrm>
          <a:prstGeom prst="roundRect">
            <a:avLst>
              <a:gd name="adj" fmla="val 1944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Rischi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troppo fini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conclusioni troppo forti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confusione tra base e scenario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 complessi semplificati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letto come completo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0" y="1554480"/>
            <a:ext cx="3291840" cy="3566160"/>
          </a:xfrm>
          <a:prstGeom prst="roundRect">
            <a:avLst>
              <a:gd name="adj" fmla="val 1944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Mitigazioni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risposta strutturata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fonti originali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primitive validate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cartelle scenario separate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max 5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image-assisted solo se motivato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VALUTAZIONE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Metriche semplici per valutare l’esperimento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 report Batch A si può costruire una tabella sintetica riproducibile.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status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77640" y="1417320"/>
            <a:ext cx="69494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/ warning / failed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Copertura netlist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103120"/>
            <a:ext cx="69494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 emessi, saltati, semplificati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Qualità risposta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77640" y="2788920"/>
            <a:ext cx="69494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evidenze? distingue ipotesi? dichiara limiti?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77640" y="3474720"/>
            <a:ext cx="69494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numero eseguiti, primitive usate, self-contained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77640" y="4160520"/>
            <a:ext cx="69494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resolved, partial, not_resolved, topological limit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4846320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14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Chiusura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77640" y="4846320"/>
            <a:ext cx="69494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risolto, causa localizzata, inconclusivo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5577840"/>
            <a:ext cx="9509760" cy="594360"/>
          </a:xfrm>
          <a:prstGeom prst="roundRect">
            <a:avLst>
              <a:gd name="adj" fmla="val 10769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 della validazione successiva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cambiare prompt circuito per circuito: misurare quanto lo stesso schema generale regge su più casi.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Prossimi passi dopo Esperimento 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 consolidare il ciclo agente-scenari, poi migliorare visualizzazione e automazione.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1280160"/>
            <a:ext cx="411480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252728"/>
            <a:ext cx="5669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congelare report a01-a10 e tabella sintetica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947672"/>
            <a:ext cx="411480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920240"/>
            <a:ext cx="5669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definire metriche di valutazione per la tesi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615184"/>
            <a:ext cx="411480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87752"/>
            <a:ext cx="5669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estendere test a nuovi circuiti simulabili e topologici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282696"/>
            <a:ext cx="411480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255264"/>
            <a:ext cx="5669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migliorare pannelli web più usati: netlist, log, scenario comparison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3950208"/>
            <a:ext cx="411480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922776"/>
            <a:ext cx="5669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valutare modalità semi-automatica multi-scenario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411480" cy="38404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590288"/>
            <a:ext cx="5669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sviluppare Animated SPICE Viewer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89520" y="4160520"/>
            <a:ext cx="3429000" cy="1234440"/>
          </a:xfrm>
          <a:prstGeom prst="roundRect">
            <a:avLst>
              <a:gd name="adj" fmla="val 5185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 futuro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immagine originale + overlay con nodi, tensioni, correnti e rami attivi, senza sostituire ngspice.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710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6684264"/>
            <a:ext cx="5669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SINTESI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1475720" y="6656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C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Sintesi finale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8412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8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prima versione è già una base solida per una sezione di tesi e una demo.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2377440" cy="1463040"/>
          </a:xfrm>
          <a:prstGeom prst="roundRect">
            <a:avLst>
              <a:gd name="adj" fmla="val 4375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2300" dirty="0"/>
          </a:p>
          <a:p>
            <a:pPr marL="0" indent="0" algn="ctr">
              <a:buNone/>
            </a:pP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fatti strutturati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3429000" y="2560320"/>
            <a:ext cx="8229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2377440" cy="1463040"/>
          </a:xfrm>
          <a:prstGeom prst="roundRect">
            <a:avLst>
              <a:gd name="adj" fmla="val 4375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ngspice</a:t>
            </a:r>
            <a:endParaRPr lang="en-US" sz="2300" dirty="0"/>
          </a:p>
          <a:p>
            <a:pPr marL="0" indent="0" algn="ctr">
              <a:buNone/>
            </a:pP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numericamente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995160" y="2560320"/>
            <a:ext cx="8229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001000" y="1828800"/>
            <a:ext cx="3108960" cy="1463040"/>
          </a:xfrm>
          <a:prstGeom prst="roundRect">
            <a:avLst>
              <a:gd name="adj" fmla="val 4375"/>
            </a:avLst>
          </a:prstGeom>
          <a:solidFill>
            <a:srgbClr val="10213A"/>
          </a:solidFill>
          <a:ln/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2300" dirty="0"/>
          </a:p>
          <a:p>
            <a:pPr marL="0" indent="0" algn="ctr">
              <a:buNone/>
            </a:pP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spiega, dialoga, propone scenari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188720" y="4251960"/>
            <a:ext cx="9784080" cy="1188720"/>
          </a:xfrm>
          <a:prstGeom prst="roundRect">
            <a:avLst>
              <a:gd name="adj" fmla="val 5385"/>
            </a:avLst>
          </a:prstGeom>
          <a:solidFill>
            <a:srgbClr val="101C33"/>
          </a:solidFill>
          <a:ln/>
        </p:spPr>
        <p:txBody>
          <a:bodyPr wrap="square" lIns="889" tIns="889" rIns="889" bIns="889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difendibile: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chat diagnostica grounded su Graph JSON, node map, valori, netlist, risultati SPICE e scenari controllati, consapevole dei propri limiti.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3103</Words>
  <Application>Microsoft Office PowerPoint</Application>
  <PresentationFormat>Widescreen</PresentationFormat>
  <Paragraphs>689</Paragraphs>
  <Slides>30</Slides>
  <Notes>30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Esperimento 1 - Agente diagnostico</dc:title>
  <dc:subject>Esperimento 1 - Agente diagnostico Pipeline 2.0</dc:subject>
  <dc:creator>OpenAI</dc:creator>
  <cp:lastModifiedBy>Marco Profilo</cp:lastModifiedBy>
  <cp:revision>2</cp:revision>
  <dcterms:created xsi:type="dcterms:W3CDTF">2026-07-02T14:35:25Z</dcterms:created>
  <dcterms:modified xsi:type="dcterms:W3CDTF">2026-07-02T15:17:45Z</dcterms:modified>
</cp:coreProperties>
</file>