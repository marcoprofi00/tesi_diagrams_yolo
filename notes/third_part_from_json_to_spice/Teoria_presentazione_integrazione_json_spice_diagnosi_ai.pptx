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976852" y="617220"/>
            <a:ext cx="2575068" cy="533154"/>
          </a:xfrm>
          <a:prstGeom prst="roundRect">
            <a:avLst/>
          </a:prstGeom>
          <a:solidFill>
            <a:srgbClr val="0F766E"/>
          </a:solidFill>
          <a:ln w="12700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976852" y="1943100"/>
            <a:ext cx="2631112" cy="868926"/>
          </a:xfrm>
          <a:prstGeom prst="roundRect">
            <a:avLst/>
          </a:prstGeom>
          <a:solidFill>
            <a:srgbClr val="2563EB"/>
          </a:solidFill>
          <a:ln w="12700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8868697" y="3650226"/>
            <a:ext cx="2727468" cy="868926"/>
          </a:xfrm>
          <a:prstGeom prst="roundRect">
            <a:avLst/>
          </a:prstGeom>
          <a:solidFill>
            <a:srgbClr val="F59E0B"/>
          </a:solidFill>
          <a:ln w="12700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868696" y="5143500"/>
            <a:ext cx="2683223" cy="1097280"/>
          </a:xfrm>
          <a:prstGeom prst="roundRect">
            <a:avLst/>
          </a:prstGeom>
          <a:solidFill>
            <a:srgbClr val="7C3AED"/>
          </a:solidFill>
          <a:ln w="12700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676656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ptos Display"/>
              </a:rPr>
              <a:t>Integrazione JSON → SPICE → diagnosi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743200"/>
            <a:ext cx="6285271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lang="it-IT" sz="2300" dirty="0">
                <a:solidFill>
                  <a:srgbClr val="FFFFFF"/>
                </a:solidFill>
                <a:latin typeface="Aptos"/>
              </a:rPr>
              <a:t>Dal </a:t>
            </a:r>
            <a:r>
              <a:rPr lang="it-IT" sz="2300" dirty="0" err="1">
                <a:solidFill>
                  <a:srgbClr val="FFFFFF"/>
                </a:solidFill>
                <a:latin typeface="Aptos"/>
              </a:rPr>
              <a:t>graph</a:t>
            </a:r>
            <a:r>
              <a:rPr lang="it-IT" sz="2300" dirty="0">
                <a:solidFill>
                  <a:srgbClr val="FFFFFF"/>
                </a:solidFill>
                <a:latin typeface="Aptos"/>
              </a:rPr>
              <a:t> JSON prodotto dalla pipeline attuale alla simulazione SPICE e al contesto diagnostico per un agente AI.</a:t>
            </a:r>
            <a:endParaRPr sz="2300" b="0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13232" y="4709160"/>
            <a:ext cx="1508760" cy="32004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4777740"/>
            <a:ext cx="1435607" cy="18774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Aptos"/>
              </a:rPr>
              <a:t>graph JSON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50591" y="4709160"/>
            <a:ext cx="1508760" cy="3200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87168" y="4777740"/>
            <a:ext cx="1435607" cy="18774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/>
            <a:r>
              <a:rPr lang="it-IT" sz="1100" b="1" i="0" dirty="0" err="1">
                <a:solidFill>
                  <a:srgbClr val="FFFFFF"/>
                </a:solidFill>
                <a:latin typeface="Aptos"/>
              </a:rPr>
              <a:t>Node</a:t>
            </a:r>
            <a:r>
              <a:rPr lang="it-IT" sz="1100" b="1" i="0" dirty="0">
                <a:solidFill>
                  <a:srgbClr val="FFFFFF"/>
                </a:solidFill>
                <a:latin typeface="Aptos"/>
              </a:rPr>
              <a:t> </a:t>
            </a:r>
            <a:r>
              <a:rPr lang="it-IT" sz="1100" b="1" i="0" dirty="0" err="1">
                <a:solidFill>
                  <a:srgbClr val="FFFFFF"/>
                </a:solidFill>
                <a:latin typeface="Aptos"/>
              </a:rPr>
              <a:t>map</a:t>
            </a:r>
            <a:endParaRPr sz="110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187952" y="4709160"/>
            <a:ext cx="1508760" cy="320040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24528" y="4777740"/>
            <a:ext cx="1435607" cy="18774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/>
            <a:r>
              <a:rPr lang="it-IT" sz="1100" b="1" i="0" dirty="0" err="1">
                <a:solidFill>
                  <a:srgbClr val="FFFFFF"/>
                </a:solidFill>
                <a:latin typeface="Aptos"/>
              </a:rPr>
              <a:t>Values</a:t>
            </a:r>
            <a:r>
              <a:rPr lang="it-IT" sz="1100" b="1" dirty="0" err="1">
                <a:solidFill>
                  <a:srgbClr val="FFFFFF"/>
                </a:solidFill>
                <a:latin typeface="Aptos"/>
              </a:rPr>
              <a:t>.</a:t>
            </a:r>
            <a:r>
              <a:rPr lang="it-IT" sz="1100" b="1" i="0" dirty="0" err="1">
                <a:solidFill>
                  <a:srgbClr val="FFFFFF"/>
                </a:solidFill>
                <a:latin typeface="Aptos"/>
              </a:rPr>
              <a:t>yaml</a:t>
            </a:r>
            <a:endParaRPr sz="110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13232" y="5166360"/>
            <a:ext cx="1508760" cy="32004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9808" y="5234940"/>
            <a:ext cx="1435607" cy="18774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/>
            <a:r>
              <a:rPr lang="it-IT" sz="1100" b="1" i="0" dirty="0">
                <a:solidFill>
                  <a:srgbClr val="FFFFFF"/>
                </a:solidFill>
                <a:latin typeface="Aptos"/>
              </a:rPr>
              <a:t>Component rules</a:t>
            </a:r>
            <a:endParaRPr sz="110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450591" y="5166360"/>
            <a:ext cx="1508760" cy="320040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487168" y="5234940"/>
            <a:ext cx="1435607" cy="18774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/>
            <a:r>
              <a:rPr lang="it-IT" sz="1100" b="1" i="0" dirty="0" err="1">
                <a:solidFill>
                  <a:srgbClr val="FFFFFF"/>
                </a:solidFill>
                <a:latin typeface="Aptos"/>
              </a:rPr>
              <a:t>ngspice</a:t>
            </a:r>
            <a:endParaRPr sz="110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187952" y="5166360"/>
            <a:ext cx="1508760" cy="320040"/>
          </a:xfrm>
          <a:prstGeom prst="round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24528" y="5234940"/>
            <a:ext cx="1435607" cy="18774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/>
            <a:r>
              <a:rPr lang="it-IT" sz="1100" b="1" i="0" dirty="0">
                <a:solidFill>
                  <a:srgbClr val="FFFFFF"/>
                </a:solidFill>
                <a:latin typeface="Aptos"/>
              </a:rPr>
              <a:t>AI Agent</a:t>
            </a:r>
            <a:endParaRPr sz="110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6263640"/>
            <a:ext cx="4572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Aptos"/>
              </a:rPr>
              <a:t>Documento di progetto / base per stesura e presentazione finale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96926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0B1F33"/>
                </a:solidFill>
                <a:latin typeface="Aptos Display"/>
              </a:rPr>
              <a:t>Obiettivo della proposta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713232"/>
            <a:ext cx="9784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0" i="0">
                <a:solidFill>
                  <a:srgbClr val="0F766E"/>
                </a:solidFill>
                <a:latin typeface="Aptos"/>
              </a:rPr>
              <a:t>Estendere la pipeline senza sostituirla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292608"/>
            <a:ext cx="1691640" cy="32004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40112" y="345040"/>
            <a:ext cx="1627632" cy="1877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Aptos"/>
              </a:rPr>
              <a:t>01 / Visione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34440"/>
            <a:ext cx="3566160" cy="42519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35608"/>
            <a:ext cx="3273552" cy="2677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 i="0" dirty="0">
                <a:solidFill>
                  <a:srgbClr val="0B1F33"/>
                </a:solidFill>
                <a:latin typeface="Aptos"/>
              </a:rPr>
              <a:t>Punto di </a:t>
            </a:r>
            <a:r>
              <a:rPr sz="1500" b="1" i="0" dirty="0" err="1">
                <a:solidFill>
                  <a:srgbClr val="0B1F33"/>
                </a:solidFill>
                <a:latin typeface="Aptos"/>
              </a:rPr>
              <a:t>partenza</a:t>
            </a:r>
            <a:endParaRPr sz="1500" b="1" i="0" dirty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3232" y="1691640"/>
            <a:ext cx="3273552" cy="270843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>
                <a:solidFill>
                  <a:srgbClr val="0F172A"/>
                </a:solidFill>
                <a:latin typeface="Aptos"/>
              </a:rPr>
              <a:t>Pipeline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attuale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: </a:t>
            </a: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 err="1">
                <a:solidFill>
                  <a:srgbClr val="0F172A"/>
                </a:solidFill>
                <a:latin typeface="Aptos"/>
              </a:rPr>
              <a:t>immagine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→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rilevamento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→ graph JSON.</a:t>
            </a: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>
                <a:solidFill>
                  <a:srgbClr val="0F172A"/>
                </a:solidFill>
                <a:latin typeface="Aptos"/>
              </a:rPr>
              <a:t>Il JSON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descrive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componenti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,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terminali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,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collegamenti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e warning.</a:t>
            </a: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>
                <a:solidFill>
                  <a:srgbClr val="0F172A"/>
                </a:solidFill>
                <a:latin typeface="Aptos"/>
              </a:rPr>
              <a:t>Oggi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viene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usato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come input per GPT con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sintomo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e datasheet.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234440"/>
            <a:ext cx="3566160" cy="42519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1414469"/>
            <a:ext cx="3273552" cy="2677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 i="0" dirty="0">
                <a:solidFill>
                  <a:srgbClr val="0B1F33"/>
                </a:solidFill>
                <a:latin typeface="Aptos"/>
              </a:rPr>
              <a:t>Nuovo </a:t>
            </a:r>
            <a:r>
              <a:rPr sz="1500" b="1" i="0" dirty="0" err="1">
                <a:solidFill>
                  <a:srgbClr val="0B1F33"/>
                </a:solidFill>
                <a:latin typeface="Aptos"/>
              </a:rPr>
              <a:t>strato</a:t>
            </a:r>
            <a:r>
              <a:rPr sz="1500" b="1" i="0" dirty="0">
                <a:solidFill>
                  <a:srgbClr val="0B1F33"/>
                </a:solidFill>
                <a:latin typeface="Aptos"/>
              </a:rPr>
              <a:t> </a:t>
            </a:r>
            <a:r>
              <a:rPr sz="1500" b="1" i="0" dirty="0" err="1">
                <a:solidFill>
                  <a:srgbClr val="0B1F33"/>
                </a:solidFill>
                <a:latin typeface="Aptos"/>
              </a:rPr>
              <a:t>elettrico</a:t>
            </a:r>
            <a:endParaRPr sz="1500" b="1" i="0" dirty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07992" y="1691640"/>
            <a:ext cx="3273552" cy="2426305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>
                <a:solidFill>
                  <a:srgbClr val="0F172A"/>
                </a:solidFill>
                <a:latin typeface="Aptos"/>
              </a:rPr>
              <a:t>Dal graph JSON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si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ricostruiscono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nodi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elettrici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.</a:t>
            </a: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>
                <a:solidFill>
                  <a:srgbClr val="0F172A"/>
                </a:solidFill>
                <a:latin typeface="Aptos"/>
              </a:rPr>
              <a:t>I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valori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mancanti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vengono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inseriti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in YAML.</a:t>
            </a: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>
                <a:solidFill>
                  <a:srgbClr val="0F172A"/>
                </a:solidFill>
                <a:latin typeface="Aptos"/>
              </a:rPr>
              <a:t>Quando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possibile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si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genera ed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esegue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una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netlist SPICE.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234440"/>
            <a:ext cx="3520440" cy="42519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98764" y="1413092"/>
            <a:ext cx="3227832" cy="2677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 i="0" dirty="0" err="1">
                <a:solidFill>
                  <a:srgbClr val="0B1F33"/>
                </a:solidFill>
                <a:latin typeface="Aptos"/>
              </a:rPr>
              <a:t>Risultato</a:t>
            </a:r>
            <a:r>
              <a:rPr sz="1500" b="1" i="0" dirty="0">
                <a:solidFill>
                  <a:srgbClr val="0B1F33"/>
                </a:solidFill>
                <a:latin typeface="Aptos"/>
              </a:rPr>
              <a:t> </a:t>
            </a:r>
            <a:r>
              <a:rPr sz="1500" b="1" i="0" dirty="0" err="1">
                <a:solidFill>
                  <a:srgbClr val="0B1F33"/>
                </a:solidFill>
                <a:latin typeface="Aptos"/>
              </a:rPr>
              <a:t>atteso</a:t>
            </a:r>
            <a:endParaRPr sz="1500" b="1" i="0" dirty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02752" y="1691640"/>
            <a:ext cx="3227832" cy="2426305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lang="it-IT" sz="1500" dirty="0">
                <a:latin typeface="Aptos" panose="020B0004020202020204" pitchFamily="34" charset="0"/>
              </a:rPr>
              <a:t>Risultati SPICE e file intermedi strutturati.</a:t>
            </a: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 err="1">
                <a:solidFill>
                  <a:srgbClr val="0F172A"/>
                </a:solidFill>
                <a:latin typeface="Aptos"/>
              </a:rPr>
              <a:t>Contesto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diagnostico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lang="it-IT" sz="1500" b="0" dirty="0">
                <a:solidFill>
                  <a:srgbClr val="0F172A"/>
                </a:solidFill>
                <a:latin typeface="Aptos"/>
              </a:rPr>
              <a:t>per un agente AI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.</a:t>
            </a: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lang="it-IT" sz="1500" b="0" dirty="0">
                <a:solidFill>
                  <a:srgbClr val="0F172A"/>
                </a:solidFill>
                <a:latin typeface="Aptos"/>
              </a:rPr>
              <a:t>Possibilità di proporre scenari correttivi e controllati</a:t>
            </a:r>
            <a:endParaRPr sz="1500" b="0" dirty="0">
              <a:solidFill>
                <a:srgbClr val="0F172A"/>
              </a:solidFill>
              <a:latin typeface="Apto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CBD5E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6583680"/>
            <a:ext cx="5486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Aptos"/>
              </a:rPr>
              <a:t>Integrazione JSON → SPICE → diagnosi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583680"/>
            <a:ext cx="6400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96926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0B1F33"/>
                </a:solidFill>
                <a:latin typeface="Aptos Display"/>
              </a:rPr>
              <a:t>Messaggio chiave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713232"/>
            <a:ext cx="9784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0" i="0" dirty="0">
                <a:solidFill>
                  <a:srgbClr val="0F766E"/>
                </a:solidFill>
                <a:latin typeface="Aptos"/>
              </a:rPr>
              <a:t>Non </a:t>
            </a:r>
            <a:r>
              <a:rPr sz="1250" b="0" i="0" dirty="0" err="1">
                <a:solidFill>
                  <a:srgbClr val="0F766E"/>
                </a:solidFill>
                <a:latin typeface="Aptos"/>
              </a:rPr>
              <a:t>simulazione</a:t>
            </a:r>
            <a:r>
              <a:rPr sz="1250" b="0" i="0" dirty="0">
                <a:solidFill>
                  <a:srgbClr val="0F766E"/>
                </a:solidFill>
                <a:latin typeface="Aptos"/>
              </a:rPr>
              <a:t> </a:t>
            </a:r>
            <a:r>
              <a:rPr sz="1250" b="0" i="0" dirty="0" err="1">
                <a:solidFill>
                  <a:srgbClr val="0F766E"/>
                </a:solidFill>
                <a:latin typeface="Aptos"/>
              </a:rPr>
              <a:t>perfetta</a:t>
            </a:r>
            <a:r>
              <a:rPr sz="1250" b="0" i="0" dirty="0">
                <a:solidFill>
                  <a:srgbClr val="0F766E"/>
                </a:solidFill>
                <a:latin typeface="Aptos"/>
              </a:rPr>
              <a:t>, ma pipeline </a:t>
            </a:r>
            <a:r>
              <a:rPr sz="1250" b="0" i="0" dirty="0" err="1">
                <a:solidFill>
                  <a:srgbClr val="0F766E"/>
                </a:solidFill>
                <a:latin typeface="Aptos"/>
              </a:rPr>
              <a:t>controllabile</a:t>
            </a:r>
            <a:endParaRPr sz="1250" b="0" i="0" dirty="0">
              <a:solidFill>
                <a:srgbClr val="0F766E"/>
              </a:solidFill>
              <a:latin typeface="Apto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0012680" y="292608"/>
            <a:ext cx="1691640" cy="32004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40112" y="345040"/>
            <a:ext cx="1627632" cy="1877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Aptos"/>
              </a:rPr>
              <a:t>01 / Visione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107899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600" b="1" i="0" dirty="0" err="1">
                <a:solidFill>
                  <a:srgbClr val="0B1F33"/>
                </a:solidFill>
                <a:latin typeface="Aptos Display"/>
              </a:rPr>
              <a:t>L’obiettivo</a:t>
            </a:r>
            <a:r>
              <a:rPr sz="2600" b="1" i="0" dirty="0">
                <a:solidFill>
                  <a:srgbClr val="0B1F33"/>
                </a:solidFill>
                <a:latin typeface="Aptos Display"/>
              </a:rPr>
              <a:t> non è </a:t>
            </a:r>
            <a:r>
              <a:rPr sz="2600" b="1" i="0" dirty="0" err="1">
                <a:solidFill>
                  <a:srgbClr val="0B1F33"/>
                </a:solidFill>
                <a:latin typeface="Aptos Display"/>
              </a:rPr>
              <a:t>trasformare</a:t>
            </a:r>
            <a:r>
              <a:rPr sz="2600" b="1" i="0" dirty="0">
                <a:solidFill>
                  <a:srgbClr val="0B1F33"/>
                </a:solidFill>
                <a:latin typeface="Aptos Display"/>
              </a:rPr>
              <a:t> ogni </a:t>
            </a:r>
            <a:r>
              <a:rPr sz="2600" b="1" i="0" dirty="0" err="1">
                <a:solidFill>
                  <a:srgbClr val="0B1F33"/>
                </a:solidFill>
                <a:latin typeface="Aptos Display"/>
              </a:rPr>
              <a:t>immagine</a:t>
            </a:r>
            <a:r>
              <a:rPr sz="2600" b="1" i="0" dirty="0">
                <a:solidFill>
                  <a:srgbClr val="0B1F33"/>
                </a:solidFill>
                <a:latin typeface="Aptos Display"/>
              </a:rPr>
              <a:t> in </a:t>
            </a:r>
            <a:r>
              <a:rPr sz="2600" b="1" i="0" dirty="0" err="1">
                <a:solidFill>
                  <a:srgbClr val="0B1F33"/>
                </a:solidFill>
                <a:latin typeface="Aptos Display"/>
              </a:rPr>
              <a:t>una</a:t>
            </a:r>
            <a:r>
              <a:rPr sz="2600" b="1" i="0" dirty="0">
                <a:solidFill>
                  <a:srgbClr val="0B1F33"/>
                </a:solidFill>
                <a:latin typeface="Aptos Display"/>
              </a:rPr>
              <a:t> </a:t>
            </a:r>
            <a:r>
              <a:rPr sz="2600" b="1" i="0" dirty="0" err="1">
                <a:solidFill>
                  <a:srgbClr val="0B1F33"/>
                </a:solidFill>
                <a:latin typeface="Aptos Display"/>
              </a:rPr>
              <a:t>simulazione</a:t>
            </a:r>
            <a:r>
              <a:rPr sz="2600" b="1" i="0" dirty="0">
                <a:solidFill>
                  <a:srgbClr val="0B1F33"/>
                </a:solidFill>
                <a:latin typeface="Aptos Display"/>
              </a:rPr>
              <a:t> </a:t>
            </a:r>
            <a:r>
              <a:rPr sz="2600" b="1" i="0" dirty="0" err="1">
                <a:solidFill>
                  <a:srgbClr val="0B1F33"/>
                </a:solidFill>
                <a:latin typeface="Aptos Display"/>
              </a:rPr>
              <a:t>perfetta</a:t>
            </a:r>
            <a:r>
              <a:rPr sz="2600" b="1" i="0" dirty="0">
                <a:solidFill>
                  <a:srgbClr val="0B1F33"/>
                </a:solidFill>
                <a:latin typeface="Aptos Display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2487168"/>
            <a:ext cx="10058400" cy="146304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16151" y="2596896"/>
            <a:ext cx="9765792" cy="2985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 i="0" dirty="0" err="1">
                <a:solidFill>
                  <a:srgbClr val="0F766E"/>
                </a:solidFill>
                <a:latin typeface="Aptos"/>
              </a:rPr>
              <a:t>Obiettivo</a:t>
            </a:r>
            <a:r>
              <a:rPr sz="1700" b="1" i="0" dirty="0">
                <a:solidFill>
                  <a:srgbClr val="0F766E"/>
                </a:solidFill>
                <a:latin typeface="Aptos"/>
              </a:rPr>
              <a:t> </a:t>
            </a:r>
            <a:r>
              <a:rPr sz="1700" b="1" i="0" dirty="0" err="1">
                <a:solidFill>
                  <a:srgbClr val="0F766E"/>
                </a:solidFill>
                <a:latin typeface="Aptos"/>
              </a:rPr>
              <a:t>realistico</a:t>
            </a:r>
            <a:endParaRPr sz="1700" b="1" i="0" dirty="0">
              <a:solidFill>
                <a:srgbClr val="0F766E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16151" y="2944368"/>
            <a:ext cx="9765792" cy="8961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0" i="0" dirty="0" err="1">
                <a:solidFill>
                  <a:srgbClr val="0F172A"/>
                </a:solidFill>
                <a:latin typeface="Aptos"/>
              </a:rPr>
              <a:t>Usare</a:t>
            </a:r>
            <a:r>
              <a:rPr sz="1700" b="0" i="0" dirty="0">
                <a:solidFill>
                  <a:srgbClr val="0F172A"/>
                </a:solidFill>
                <a:latin typeface="Aptos"/>
              </a:rPr>
              <a:t> il graph JSON come </a:t>
            </a:r>
            <a:r>
              <a:rPr sz="1700" b="0" i="0" dirty="0" err="1">
                <a:solidFill>
                  <a:srgbClr val="0F172A"/>
                </a:solidFill>
                <a:latin typeface="Aptos"/>
              </a:rPr>
              <a:t>rappresentazione</a:t>
            </a:r>
            <a:r>
              <a:rPr sz="1700" b="0" i="0" dirty="0">
                <a:solidFill>
                  <a:srgbClr val="0F172A"/>
                </a:solidFill>
                <a:latin typeface="Aptos"/>
              </a:rPr>
              <a:t> intermedia </a:t>
            </a:r>
            <a:r>
              <a:rPr sz="1700" b="0" i="0" dirty="0" err="1">
                <a:solidFill>
                  <a:srgbClr val="0F172A"/>
                </a:solidFill>
                <a:latin typeface="Aptos"/>
              </a:rPr>
              <a:t>tra</a:t>
            </a:r>
            <a:r>
              <a:rPr sz="1700" b="0" i="0" dirty="0">
                <a:solidFill>
                  <a:srgbClr val="0F172A"/>
                </a:solidFill>
                <a:latin typeface="Aptos"/>
              </a:rPr>
              <a:t> computer vision, </a:t>
            </a:r>
            <a:r>
              <a:rPr sz="1700" b="0" i="0" dirty="0" err="1">
                <a:solidFill>
                  <a:srgbClr val="0F172A"/>
                </a:solidFill>
                <a:latin typeface="Aptos"/>
              </a:rPr>
              <a:t>analisi</a:t>
            </a:r>
            <a:r>
              <a:rPr sz="17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700" b="0" i="0" dirty="0" err="1">
                <a:solidFill>
                  <a:srgbClr val="0F172A"/>
                </a:solidFill>
                <a:latin typeface="Aptos"/>
              </a:rPr>
              <a:t>elettrica</a:t>
            </a:r>
            <a:r>
              <a:rPr sz="1700" b="0" i="0" dirty="0">
                <a:solidFill>
                  <a:srgbClr val="0F172A"/>
                </a:solidFill>
                <a:latin typeface="Aptos"/>
              </a:rPr>
              <a:t>, SPICE e </a:t>
            </a:r>
            <a:r>
              <a:rPr sz="1700" b="0" i="0" dirty="0" err="1">
                <a:solidFill>
                  <a:srgbClr val="0F172A"/>
                </a:solidFill>
                <a:latin typeface="Aptos"/>
              </a:rPr>
              <a:t>diagnosi</a:t>
            </a:r>
            <a:r>
              <a:rPr sz="1700" b="0" i="0" dirty="0">
                <a:solidFill>
                  <a:srgbClr val="0F172A"/>
                </a:solidFill>
                <a:latin typeface="Aptos"/>
              </a:rPr>
              <a:t> AI.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343400"/>
            <a:ext cx="10058400" cy="94384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400"/>
              </a:spcAft>
            </a:pPr>
            <a:r>
              <a:rPr sz="1600" b="0" dirty="0">
                <a:solidFill>
                  <a:srgbClr val="0F172A"/>
                </a:solidFill>
                <a:latin typeface="Aptos"/>
              </a:rPr>
              <a:t>La pipeline </a:t>
            </a:r>
            <a:r>
              <a:rPr sz="1600" b="0" dirty="0" err="1">
                <a:solidFill>
                  <a:srgbClr val="0F172A"/>
                </a:solidFill>
                <a:latin typeface="Aptos"/>
              </a:rPr>
              <a:t>deve</a:t>
            </a:r>
            <a:r>
              <a:rPr sz="16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Aptos"/>
              </a:rPr>
              <a:t>funzionare</a:t>
            </a:r>
            <a:r>
              <a:rPr sz="1600" b="0" dirty="0">
                <a:solidFill>
                  <a:srgbClr val="0F172A"/>
                </a:solidFill>
                <a:latin typeface="Aptos"/>
              </a:rPr>
              <a:t> per </a:t>
            </a:r>
            <a:r>
              <a:rPr sz="1600" b="0" dirty="0" err="1">
                <a:solidFill>
                  <a:srgbClr val="0F172A"/>
                </a:solidFill>
                <a:latin typeface="Aptos"/>
              </a:rPr>
              <a:t>qualsiasi</a:t>
            </a:r>
            <a:r>
              <a:rPr sz="16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Aptos"/>
              </a:rPr>
              <a:t>circuito</a:t>
            </a:r>
            <a:r>
              <a:rPr sz="16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Aptos"/>
              </a:rPr>
              <a:t>inviato</a:t>
            </a:r>
            <a:r>
              <a:rPr sz="1600" b="0" dirty="0">
                <a:solidFill>
                  <a:srgbClr val="0F172A"/>
                </a:solidFill>
                <a:latin typeface="Aptos"/>
              </a:rPr>
              <a:t>, ma il </a:t>
            </a:r>
            <a:r>
              <a:rPr sz="1600" b="0" dirty="0" err="1">
                <a:solidFill>
                  <a:srgbClr val="0F172A"/>
                </a:solidFill>
                <a:latin typeface="Aptos"/>
              </a:rPr>
              <a:t>livello</a:t>
            </a:r>
            <a:r>
              <a:rPr sz="1600" b="0" dirty="0">
                <a:solidFill>
                  <a:srgbClr val="0F172A"/>
                </a:solidFill>
                <a:latin typeface="Aptos"/>
              </a:rPr>
              <a:t> di </a:t>
            </a:r>
            <a:r>
              <a:rPr sz="1600" b="0" dirty="0" err="1">
                <a:solidFill>
                  <a:srgbClr val="0F172A"/>
                </a:solidFill>
                <a:latin typeface="Aptos"/>
              </a:rPr>
              <a:t>analisi</a:t>
            </a:r>
            <a:r>
              <a:rPr sz="16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Aptos"/>
              </a:rPr>
              <a:t>può</a:t>
            </a:r>
            <a:r>
              <a:rPr sz="16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Aptos"/>
              </a:rPr>
              <a:t>cambiare</a:t>
            </a:r>
            <a:r>
              <a:rPr sz="1600" b="0" dirty="0">
                <a:solidFill>
                  <a:srgbClr val="0F172A"/>
                </a:solidFill>
                <a:latin typeface="Aptos"/>
              </a:rPr>
              <a:t>:</a:t>
            </a:r>
          </a:p>
          <a:p>
            <a:pPr>
              <a:spcAft>
                <a:spcPts val="400"/>
              </a:spcAft>
            </a:pPr>
            <a:r>
              <a:rPr lang="it-IT" b="1" dirty="0">
                <a:solidFill>
                  <a:srgbClr val="0B1F33"/>
                </a:solidFill>
                <a:latin typeface="Aptos"/>
              </a:rPr>
              <a:t>simulazione completa → simulazione semplificata → simulazione parziale → contesto diagnostico senza simulazione</a:t>
            </a:r>
            <a:endParaRPr sz="1800" b="1" dirty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CBD5E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6583680"/>
            <a:ext cx="5486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Aptos"/>
              </a:rPr>
              <a:t>Integrazione JSON → SPICE → diagnosi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583680"/>
            <a:ext cx="6400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96926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0B1F33"/>
                </a:solidFill>
                <a:latin typeface="Aptos Display"/>
              </a:rPr>
              <a:t>Pipeline attuale e proposta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713232"/>
            <a:ext cx="9784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0" i="0" dirty="0">
                <a:solidFill>
                  <a:srgbClr val="0F766E"/>
                </a:solidFill>
                <a:latin typeface="Aptos"/>
              </a:rPr>
              <a:t>La </a:t>
            </a:r>
            <a:r>
              <a:rPr sz="1250" b="0" i="0" dirty="0" err="1">
                <a:solidFill>
                  <a:srgbClr val="0F766E"/>
                </a:solidFill>
                <a:latin typeface="Aptos"/>
              </a:rPr>
              <a:t>nuova</a:t>
            </a:r>
            <a:r>
              <a:rPr sz="1250" b="0" i="0" dirty="0">
                <a:solidFill>
                  <a:srgbClr val="0F766E"/>
                </a:solidFill>
                <a:latin typeface="Aptos"/>
              </a:rPr>
              <a:t> </a:t>
            </a:r>
            <a:r>
              <a:rPr sz="1250" b="0" i="0" dirty="0" err="1">
                <a:solidFill>
                  <a:srgbClr val="0F766E"/>
                </a:solidFill>
                <a:latin typeface="Aptos"/>
              </a:rPr>
              <a:t>parte</a:t>
            </a:r>
            <a:r>
              <a:rPr sz="1250" b="0" i="0" dirty="0">
                <a:solidFill>
                  <a:srgbClr val="0F766E"/>
                </a:solidFill>
                <a:latin typeface="Aptos"/>
              </a:rPr>
              <a:t> </a:t>
            </a:r>
            <a:r>
              <a:rPr sz="1250" b="0" i="0" dirty="0" err="1">
                <a:solidFill>
                  <a:srgbClr val="0F766E"/>
                </a:solidFill>
                <a:latin typeface="Aptos"/>
              </a:rPr>
              <a:t>parte</a:t>
            </a:r>
            <a:r>
              <a:rPr sz="1250" b="0" i="0" dirty="0">
                <a:solidFill>
                  <a:srgbClr val="0F766E"/>
                </a:solidFill>
                <a:latin typeface="Aptos"/>
              </a:rPr>
              <a:t> dal graph JSON, non </a:t>
            </a:r>
            <a:r>
              <a:rPr sz="1250" b="0" i="0" dirty="0" err="1">
                <a:solidFill>
                  <a:srgbClr val="0F766E"/>
                </a:solidFill>
                <a:latin typeface="Aptos"/>
              </a:rPr>
              <a:t>dall’immagine</a:t>
            </a:r>
            <a:endParaRPr sz="1250" b="0" i="0" dirty="0">
              <a:solidFill>
                <a:srgbClr val="0F766E"/>
              </a:solidFill>
              <a:latin typeface="Apto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0012680" y="292608"/>
            <a:ext cx="1691640" cy="32004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40112" y="345040"/>
            <a:ext cx="1627632" cy="1877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Aptos"/>
              </a:rPr>
              <a:t>02 / </a:t>
            </a:r>
            <a:r>
              <a:rPr sz="1100" b="1" i="0" dirty="0" err="1">
                <a:solidFill>
                  <a:srgbClr val="FFFFFF"/>
                </a:solidFill>
                <a:latin typeface="Aptos"/>
              </a:rPr>
              <a:t>Architettura</a:t>
            </a:r>
            <a:endParaRPr sz="110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1143000"/>
            <a:ext cx="53035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6132" y="1271016"/>
            <a:ext cx="5010912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r>
              <a:rPr sz="1600" b="1" i="0" dirty="0">
                <a:solidFill>
                  <a:srgbClr val="0B1F33"/>
                </a:solidFill>
                <a:latin typeface="Aptos"/>
              </a:rPr>
              <a:t>Pipeline </a:t>
            </a:r>
            <a:r>
              <a:rPr sz="1600" b="1" i="0" dirty="0" err="1">
                <a:solidFill>
                  <a:srgbClr val="0B1F33"/>
                </a:solidFill>
                <a:latin typeface="Aptos"/>
              </a:rPr>
              <a:t>attuale</a:t>
            </a:r>
            <a:endParaRPr sz="1600" b="1" i="0" dirty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051560" y="1691640"/>
            <a:ext cx="4297680" cy="39319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16151" y="1801368"/>
            <a:ext cx="4005072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 i="0" dirty="0" err="1">
                <a:solidFill>
                  <a:srgbClr val="0B1F33"/>
                </a:solidFill>
                <a:latin typeface="Aptos"/>
              </a:rPr>
              <a:t>Immagine</a:t>
            </a:r>
            <a:r>
              <a:rPr sz="1200" b="1" i="0" dirty="0">
                <a:solidFill>
                  <a:srgbClr val="0B1F33"/>
                </a:solidFill>
                <a:latin typeface="Aptos"/>
              </a:rPr>
              <a:t> </a:t>
            </a:r>
            <a:r>
              <a:rPr sz="1200" b="1" i="0" dirty="0" err="1">
                <a:solidFill>
                  <a:srgbClr val="0B1F33"/>
                </a:solidFill>
                <a:latin typeface="Aptos"/>
              </a:rPr>
              <a:t>circuito</a:t>
            </a:r>
            <a:endParaRPr sz="1200" b="1" i="0" dirty="0">
              <a:solidFill>
                <a:srgbClr val="0B1F33"/>
              </a:solidFill>
              <a:latin typeface="Aptos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3200400" y="2084832"/>
            <a:ext cx="0" cy="265176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051560" y="2377440"/>
            <a:ext cx="4297680" cy="39319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16151" y="2487168"/>
            <a:ext cx="4005072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 i="0" dirty="0">
                <a:solidFill>
                  <a:srgbClr val="0B1F33"/>
                </a:solidFill>
                <a:latin typeface="Aptos"/>
              </a:rPr>
              <a:t>Script 01–06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00400" y="2770632"/>
            <a:ext cx="0" cy="265176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51560" y="3063240"/>
            <a:ext cx="4297680" cy="39319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16151" y="3172968"/>
            <a:ext cx="4005072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 i="0" dirty="0">
                <a:solidFill>
                  <a:srgbClr val="0B1F33"/>
                </a:solidFill>
                <a:latin typeface="Aptos"/>
              </a:rPr>
              <a:t>Graph JSON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200400" y="3456432"/>
            <a:ext cx="0" cy="265176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51560" y="3749039"/>
            <a:ext cx="4297680" cy="39319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1216151" y="3858768"/>
            <a:ext cx="4005072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 i="0" dirty="0">
                <a:solidFill>
                  <a:srgbClr val="0B1F33"/>
                </a:solidFill>
                <a:latin typeface="Aptos"/>
              </a:rPr>
              <a:t>Prompt GPT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200400" y="4142231"/>
            <a:ext cx="0" cy="265176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051560" y="4434840"/>
            <a:ext cx="4297680" cy="39319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16151" y="4544568"/>
            <a:ext cx="4005072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 i="0" dirty="0" err="1">
                <a:solidFill>
                  <a:srgbClr val="0B1F33"/>
                </a:solidFill>
                <a:latin typeface="Aptos"/>
              </a:rPr>
              <a:t>Diagnosi</a:t>
            </a:r>
            <a:r>
              <a:rPr sz="1200" b="1" i="0" dirty="0">
                <a:solidFill>
                  <a:srgbClr val="0B1F33"/>
                </a:solidFill>
                <a:latin typeface="Aptos"/>
              </a:rPr>
              <a:t> </a:t>
            </a:r>
            <a:r>
              <a:rPr sz="1200" b="1" i="0" dirty="0" err="1">
                <a:solidFill>
                  <a:srgbClr val="0B1F33"/>
                </a:solidFill>
                <a:latin typeface="Aptos"/>
              </a:rPr>
              <a:t>topologica</a:t>
            </a:r>
            <a:endParaRPr sz="1200" b="1" i="0" dirty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364224" y="1052150"/>
            <a:ext cx="5303520" cy="5001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1" dirty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62572" y="1271016"/>
            <a:ext cx="5010912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 i="0" dirty="0">
                <a:solidFill>
                  <a:srgbClr val="0B1F33"/>
                </a:solidFill>
                <a:latin typeface="Aptos"/>
              </a:rPr>
              <a:t>Pipeline </a:t>
            </a:r>
            <a:r>
              <a:rPr sz="1600" b="1" i="0" dirty="0" err="1">
                <a:solidFill>
                  <a:srgbClr val="0B1F33"/>
                </a:solidFill>
                <a:latin typeface="Aptos"/>
              </a:rPr>
              <a:t>estesa</a:t>
            </a:r>
            <a:endParaRPr sz="1600" b="1" i="0" dirty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858000" y="1600200"/>
            <a:ext cx="4297680" cy="347472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022592" y="1709928"/>
            <a:ext cx="4005072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 i="0" dirty="0">
                <a:solidFill>
                  <a:srgbClr val="0B1F33"/>
                </a:solidFill>
                <a:latin typeface="Aptos"/>
              </a:rPr>
              <a:t>Graph JSON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006840" y="1947672"/>
            <a:ext cx="0" cy="173736"/>
          </a:xfrm>
          <a:prstGeom prst="line">
            <a:avLst/>
          </a:prstGeom>
          <a:ln w="1905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858000" y="2167128"/>
            <a:ext cx="4297680" cy="347472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022592" y="2276856"/>
            <a:ext cx="4005072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lang="it-IT" sz="1200" b="1" i="0" dirty="0" err="1">
                <a:solidFill>
                  <a:srgbClr val="0B1F33"/>
                </a:solidFill>
                <a:latin typeface="Aptos"/>
              </a:rPr>
              <a:t>Normalization</a:t>
            </a:r>
            <a:r>
              <a:rPr lang="it-IT" sz="1200" b="1" i="0" dirty="0">
                <a:solidFill>
                  <a:srgbClr val="0B1F33"/>
                </a:solidFill>
                <a:latin typeface="Aptos"/>
              </a:rPr>
              <a:t> + </a:t>
            </a:r>
            <a:r>
              <a:rPr lang="it-IT" sz="1200" b="1" i="0" dirty="0" err="1">
                <a:solidFill>
                  <a:srgbClr val="0B1F33"/>
                </a:solidFill>
                <a:latin typeface="Aptos"/>
              </a:rPr>
              <a:t>nod</a:t>
            </a:r>
            <a:r>
              <a:rPr lang="it-IT" sz="1200" b="1" dirty="0" err="1">
                <a:solidFill>
                  <a:srgbClr val="0B1F33"/>
                </a:solidFill>
                <a:latin typeface="Aptos"/>
              </a:rPr>
              <a:t>e</a:t>
            </a:r>
            <a:r>
              <a:rPr lang="it-IT" sz="1200" b="1" dirty="0">
                <a:solidFill>
                  <a:srgbClr val="0B1F33"/>
                </a:solidFill>
                <a:latin typeface="Aptos"/>
              </a:rPr>
              <a:t> </a:t>
            </a:r>
            <a:r>
              <a:rPr lang="it-IT" sz="1200" b="1" dirty="0" err="1">
                <a:solidFill>
                  <a:srgbClr val="0B1F33"/>
                </a:solidFill>
                <a:latin typeface="Aptos"/>
              </a:rPr>
              <a:t>map</a:t>
            </a:r>
            <a:endParaRPr sz="1200" b="1" i="0" dirty="0">
              <a:solidFill>
                <a:srgbClr val="0B1F33"/>
              </a:solidFill>
              <a:latin typeface="Aptos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9006840" y="2514600"/>
            <a:ext cx="0" cy="173736"/>
          </a:xfrm>
          <a:prstGeom prst="line">
            <a:avLst/>
          </a:prstGeom>
          <a:ln w="1905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858000" y="2734056"/>
            <a:ext cx="4297680" cy="347472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022592" y="2843784"/>
            <a:ext cx="4005072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lang="it-IT" sz="1200" b="1" i="0" dirty="0">
                <a:solidFill>
                  <a:srgbClr val="0B1F33"/>
                </a:solidFill>
                <a:latin typeface="Aptos"/>
              </a:rPr>
              <a:t>Manual / OCR </a:t>
            </a:r>
            <a:r>
              <a:rPr lang="it-IT" sz="1200" b="1" i="0" dirty="0" err="1">
                <a:solidFill>
                  <a:srgbClr val="0B1F33"/>
                </a:solidFill>
                <a:latin typeface="Aptos"/>
              </a:rPr>
              <a:t>values</a:t>
            </a:r>
            <a:endParaRPr sz="1200" b="1" i="0" dirty="0">
              <a:solidFill>
                <a:srgbClr val="0B1F33"/>
              </a:solidFill>
              <a:latin typeface="Aptos"/>
            </a:endParaRPr>
          </a:p>
        </p:txBody>
      </p:sp>
      <p:cxnSp>
        <p:nvCxnSpPr>
          <p:cNvPr id="34" name="Connector 33"/>
          <p:cNvCxnSpPr/>
          <p:nvPr/>
        </p:nvCxnSpPr>
        <p:spPr>
          <a:xfrm>
            <a:off x="9006840" y="3081528"/>
            <a:ext cx="0" cy="173736"/>
          </a:xfrm>
          <a:prstGeom prst="line">
            <a:avLst/>
          </a:prstGeom>
          <a:ln w="1905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858000" y="3300984"/>
            <a:ext cx="4297680" cy="347472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022592" y="3410712"/>
            <a:ext cx="4005072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lang="it-IT" sz="1200" b="1" i="0" dirty="0">
                <a:solidFill>
                  <a:srgbClr val="0B1F33"/>
                </a:solidFill>
                <a:latin typeface="Aptos"/>
              </a:rPr>
              <a:t>Component rules</a:t>
            </a:r>
            <a:endParaRPr sz="1200" b="1" i="0" dirty="0">
              <a:solidFill>
                <a:srgbClr val="0B1F33"/>
              </a:solidFill>
              <a:latin typeface="Aptos"/>
            </a:endParaRPr>
          </a:p>
        </p:txBody>
      </p:sp>
      <p:cxnSp>
        <p:nvCxnSpPr>
          <p:cNvPr id="37" name="Connector 36"/>
          <p:cNvCxnSpPr/>
          <p:nvPr/>
        </p:nvCxnSpPr>
        <p:spPr>
          <a:xfrm>
            <a:off x="9006840" y="3648456"/>
            <a:ext cx="0" cy="173735"/>
          </a:xfrm>
          <a:prstGeom prst="line">
            <a:avLst/>
          </a:prstGeom>
          <a:ln w="1905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6858000" y="3867912"/>
            <a:ext cx="4297680" cy="347472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022592" y="3977640"/>
            <a:ext cx="4005072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lang="it-IT" sz="1200" b="1" i="0" dirty="0">
                <a:solidFill>
                  <a:srgbClr val="0B1F33"/>
                </a:solidFill>
                <a:latin typeface="Aptos"/>
              </a:rPr>
              <a:t>SPICE </a:t>
            </a:r>
            <a:r>
              <a:rPr lang="it-IT" sz="1200" b="1" i="0" dirty="0" err="1">
                <a:solidFill>
                  <a:srgbClr val="0B1F33"/>
                </a:solidFill>
                <a:latin typeface="Aptos"/>
              </a:rPr>
              <a:t>netlist</a:t>
            </a:r>
            <a:endParaRPr sz="1200" b="1" i="0" dirty="0">
              <a:solidFill>
                <a:srgbClr val="0B1F33"/>
              </a:solidFill>
              <a:latin typeface="Aptos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9006840" y="4215384"/>
            <a:ext cx="0" cy="173736"/>
          </a:xfrm>
          <a:prstGeom prst="line">
            <a:avLst/>
          </a:prstGeom>
          <a:ln w="1905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6858000" y="4434840"/>
            <a:ext cx="4297680" cy="347472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022592" y="4544568"/>
            <a:ext cx="4005072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lang="it-IT" sz="1200" b="1" i="0" dirty="0" err="1">
                <a:solidFill>
                  <a:srgbClr val="0B1F33"/>
                </a:solidFill>
                <a:latin typeface="Aptos"/>
              </a:rPr>
              <a:t>Ngspice</a:t>
            </a:r>
            <a:r>
              <a:rPr lang="it-IT" sz="1200" b="1" i="0" dirty="0">
                <a:solidFill>
                  <a:srgbClr val="0B1F33"/>
                </a:solidFill>
                <a:latin typeface="Aptos"/>
              </a:rPr>
              <a:t> </a:t>
            </a:r>
            <a:r>
              <a:rPr lang="it-IT" sz="1200" b="1" i="0" dirty="0" err="1">
                <a:solidFill>
                  <a:srgbClr val="0B1F33"/>
                </a:solidFill>
                <a:latin typeface="Aptos"/>
              </a:rPr>
              <a:t>execution</a:t>
            </a:r>
            <a:endParaRPr sz="1200" b="1" i="0" dirty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CBD5E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57200" y="6583680"/>
            <a:ext cx="5486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Aptos"/>
              </a:rPr>
              <a:t>Integrazione JSON → SPICE → diagnosi AI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64240" y="6583680"/>
            <a:ext cx="6400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  <a:latin typeface="Aptos"/>
              </a:rPr>
              <a:t>4</a:t>
            </a:r>
          </a:p>
        </p:txBody>
      </p:sp>
      <p:sp>
        <p:nvSpPr>
          <p:cNvPr id="24" name="Rounded Rectangle 40">
            <a:extLst>
              <a:ext uri="{FF2B5EF4-FFF2-40B4-BE49-F238E27FC236}">
                <a16:creationId xmlns:a16="http://schemas.microsoft.com/office/drawing/2014/main" id="{FBA9CCE0-3A5C-AC4F-1AE0-BDC5B0C72B07}"/>
              </a:ext>
            </a:extLst>
          </p:cNvPr>
          <p:cNvSpPr/>
          <p:nvPr/>
        </p:nvSpPr>
        <p:spPr>
          <a:xfrm>
            <a:off x="6882384" y="4974336"/>
            <a:ext cx="4297680" cy="347472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1">
            <a:extLst>
              <a:ext uri="{FF2B5EF4-FFF2-40B4-BE49-F238E27FC236}">
                <a16:creationId xmlns:a16="http://schemas.microsoft.com/office/drawing/2014/main" id="{090619F5-8416-F35F-4B63-98E8E3349555}"/>
              </a:ext>
            </a:extLst>
          </p:cNvPr>
          <p:cNvSpPr txBox="1"/>
          <p:nvPr/>
        </p:nvSpPr>
        <p:spPr>
          <a:xfrm>
            <a:off x="7046976" y="5084064"/>
            <a:ext cx="4005072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lang="it-IT" sz="1200" b="1" i="0" dirty="0">
                <a:solidFill>
                  <a:srgbClr val="0B1F33"/>
                </a:solidFill>
                <a:latin typeface="Aptos"/>
              </a:rPr>
              <a:t>SPICE </a:t>
            </a:r>
            <a:r>
              <a:rPr lang="it-IT" sz="1200" b="1" i="0" dirty="0" err="1">
                <a:solidFill>
                  <a:srgbClr val="0B1F33"/>
                </a:solidFill>
                <a:latin typeface="Aptos"/>
              </a:rPr>
              <a:t>results</a:t>
            </a:r>
            <a:endParaRPr sz="1200" b="1" i="0" dirty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47" name="Rounded Rectangle 40">
            <a:extLst>
              <a:ext uri="{FF2B5EF4-FFF2-40B4-BE49-F238E27FC236}">
                <a16:creationId xmlns:a16="http://schemas.microsoft.com/office/drawing/2014/main" id="{A784CBC2-D9E0-5514-6E7E-68A12A203482}"/>
              </a:ext>
            </a:extLst>
          </p:cNvPr>
          <p:cNvSpPr/>
          <p:nvPr/>
        </p:nvSpPr>
        <p:spPr>
          <a:xfrm>
            <a:off x="6900672" y="5522976"/>
            <a:ext cx="4297680" cy="347472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1">
            <a:extLst>
              <a:ext uri="{FF2B5EF4-FFF2-40B4-BE49-F238E27FC236}">
                <a16:creationId xmlns:a16="http://schemas.microsoft.com/office/drawing/2014/main" id="{9BE9B003-7382-5F65-CBE5-3D4D477D5CB3}"/>
              </a:ext>
            </a:extLst>
          </p:cNvPr>
          <p:cNvSpPr txBox="1"/>
          <p:nvPr/>
        </p:nvSpPr>
        <p:spPr>
          <a:xfrm>
            <a:off x="7065264" y="5632704"/>
            <a:ext cx="4005072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lang="it-IT" sz="1200" b="1" i="0" dirty="0">
                <a:solidFill>
                  <a:srgbClr val="0B1F33"/>
                </a:solidFill>
                <a:latin typeface="Aptos"/>
              </a:rPr>
              <a:t>AI </a:t>
            </a:r>
            <a:r>
              <a:rPr lang="it-IT" sz="1200" b="1" i="0" dirty="0" err="1">
                <a:solidFill>
                  <a:srgbClr val="0B1F33"/>
                </a:solidFill>
                <a:latin typeface="Aptos"/>
              </a:rPr>
              <a:t>diagnostic</a:t>
            </a:r>
            <a:r>
              <a:rPr lang="it-IT" sz="1200" b="1" i="0" dirty="0">
                <a:solidFill>
                  <a:srgbClr val="0B1F33"/>
                </a:solidFill>
                <a:latin typeface="Aptos"/>
              </a:rPr>
              <a:t> agent</a:t>
            </a:r>
            <a:endParaRPr sz="1200" b="1" i="0" dirty="0">
              <a:solidFill>
                <a:srgbClr val="0B1F33"/>
              </a:solidFill>
              <a:latin typeface="Aptos"/>
            </a:endParaRPr>
          </a:p>
        </p:txBody>
      </p:sp>
      <p:cxnSp>
        <p:nvCxnSpPr>
          <p:cNvPr id="52" name="Connector 39">
            <a:extLst>
              <a:ext uri="{FF2B5EF4-FFF2-40B4-BE49-F238E27FC236}">
                <a16:creationId xmlns:a16="http://schemas.microsoft.com/office/drawing/2014/main" id="{6E2E8B39-2DB4-D265-7C91-F530D2E5FC1D}"/>
              </a:ext>
            </a:extLst>
          </p:cNvPr>
          <p:cNvCxnSpPr/>
          <p:nvPr/>
        </p:nvCxnSpPr>
        <p:spPr>
          <a:xfrm>
            <a:off x="9025128" y="4800600"/>
            <a:ext cx="0" cy="173736"/>
          </a:xfrm>
          <a:prstGeom prst="line">
            <a:avLst/>
          </a:prstGeom>
          <a:ln w="1905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39">
            <a:extLst>
              <a:ext uri="{FF2B5EF4-FFF2-40B4-BE49-F238E27FC236}">
                <a16:creationId xmlns:a16="http://schemas.microsoft.com/office/drawing/2014/main" id="{3CB020CD-0945-C962-7FBA-7CB50E2603F7}"/>
              </a:ext>
            </a:extLst>
          </p:cNvPr>
          <p:cNvCxnSpPr/>
          <p:nvPr/>
        </p:nvCxnSpPr>
        <p:spPr>
          <a:xfrm>
            <a:off x="9069471" y="5321808"/>
            <a:ext cx="0" cy="173736"/>
          </a:xfrm>
          <a:prstGeom prst="line">
            <a:avLst/>
          </a:prstGeom>
          <a:ln w="1905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CasellaDiTesto 54">
            <a:extLst>
              <a:ext uri="{FF2B5EF4-FFF2-40B4-BE49-F238E27FC236}">
                <a16:creationId xmlns:a16="http://schemas.microsoft.com/office/drawing/2014/main" id="{CFDD7092-7BAC-597C-F32A-536D18B197B7}"/>
              </a:ext>
            </a:extLst>
          </p:cNvPr>
          <p:cNvSpPr txBox="1"/>
          <p:nvPr/>
        </p:nvSpPr>
        <p:spPr>
          <a:xfrm>
            <a:off x="6095847" y="6128082"/>
            <a:ext cx="61500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dirty="0"/>
              <a:t>The agent </a:t>
            </a:r>
            <a:r>
              <a:rPr lang="it-IT" sz="1200" dirty="0" err="1"/>
              <a:t>is</a:t>
            </a:r>
            <a:r>
              <a:rPr lang="it-IT" sz="1200" dirty="0"/>
              <a:t> </a:t>
            </a:r>
            <a:r>
              <a:rPr lang="it-IT" sz="1200" dirty="0" err="1"/>
              <a:t>activated</a:t>
            </a:r>
            <a:r>
              <a:rPr lang="it-IT" sz="1200" dirty="0"/>
              <a:t> after SPICE </a:t>
            </a:r>
            <a:r>
              <a:rPr lang="it-IT" sz="1200" dirty="0" err="1"/>
              <a:t>execution</a:t>
            </a:r>
            <a:r>
              <a:rPr lang="it-IT" sz="1200" dirty="0"/>
              <a:t> and </a:t>
            </a:r>
            <a:r>
              <a:rPr lang="it-IT" sz="1200" dirty="0" err="1"/>
              <a:t>receives</a:t>
            </a:r>
            <a:r>
              <a:rPr lang="it-IT" sz="1200" dirty="0"/>
              <a:t> the </a:t>
            </a:r>
            <a:r>
              <a:rPr lang="it-IT" sz="1200" dirty="0" err="1"/>
              <a:t>circuit</a:t>
            </a:r>
            <a:r>
              <a:rPr lang="it-IT" sz="1200" dirty="0"/>
              <a:t> </a:t>
            </a:r>
            <a:r>
              <a:rPr lang="it-IT" sz="1200" dirty="0" err="1"/>
              <a:t>problem</a:t>
            </a:r>
            <a:r>
              <a:rPr lang="it-IT" sz="1200" dirty="0"/>
              <a:t>, </a:t>
            </a:r>
            <a:r>
              <a:rPr lang="it-IT" sz="1200" dirty="0" err="1"/>
              <a:t>graph</a:t>
            </a:r>
            <a:r>
              <a:rPr lang="it-IT" sz="1200" dirty="0"/>
              <a:t> data, </a:t>
            </a:r>
            <a:r>
              <a:rPr lang="it-IT" sz="1200" dirty="0" err="1"/>
              <a:t>netlist</a:t>
            </a:r>
            <a:r>
              <a:rPr lang="it-IT" sz="1200" dirty="0"/>
              <a:t> and </a:t>
            </a:r>
            <a:r>
              <a:rPr lang="it-IT" sz="1200" dirty="0" err="1"/>
              <a:t>ngspice</a:t>
            </a:r>
            <a:r>
              <a:rPr lang="it-IT" sz="1200" dirty="0"/>
              <a:t> output.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96926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0B1F33"/>
                </a:solidFill>
                <a:latin typeface="Aptos Display"/>
              </a:rPr>
              <a:t>Perché partire dal graph JSON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713232"/>
            <a:ext cx="9784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0" i="0">
                <a:solidFill>
                  <a:srgbClr val="0F766E"/>
                </a:solidFill>
                <a:latin typeface="Aptos"/>
              </a:rPr>
              <a:t>È il ponte tra immagine, SPICE e diagnosi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292608"/>
            <a:ext cx="1691640" cy="32004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40112" y="345040"/>
            <a:ext cx="1627632" cy="1877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Aptos"/>
              </a:rPr>
              <a:t>02 / </a:t>
            </a:r>
            <a:r>
              <a:rPr sz="1100" b="1" i="0" dirty="0" err="1">
                <a:solidFill>
                  <a:srgbClr val="FFFFFF"/>
                </a:solidFill>
                <a:latin typeface="Aptos"/>
              </a:rPr>
              <a:t>Architettura</a:t>
            </a:r>
            <a:endParaRPr sz="110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85800" y="1143000"/>
            <a:ext cx="320040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252728"/>
            <a:ext cx="2907792" cy="3139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b="1" i="0" dirty="0" err="1">
                <a:solidFill>
                  <a:srgbClr val="0B1F33"/>
                </a:solidFill>
                <a:latin typeface="Aptos"/>
              </a:rPr>
              <a:t>Immagine</a:t>
            </a:r>
            <a:endParaRPr b="1" i="0" dirty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50392" y="1600200"/>
            <a:ext cx="2907792" cy="2298065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400"/>
              </a:spcAft>
            </a:pPr>
            <a:endParaRPr lang="it-IT" sz="150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>
                <a:solidFill>
                  <a:srgbClr val="0F172A"/>
                </a:solidFill>
                <a:latin typeface="Aptos"/>
              </a:rPr>
              <a:t>Input della pipeline di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visione</a:t>
            </a:r>
            <a:endParaRPr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>
                <a:solidFill>
                  <a:srgbClr val="0F172A"/>
                </a:solidFill>
                <a:latin typeface="Aptos"/>
              </a:rPr>
              <a:t>Utile per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controllo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umano</a:t>
            </a:r>
            <a:endParaRPr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>
                <a:solidFill>
                  <a:srgbClr val="0F172A"/>
                </a:solidFill>
                <a:latin typeface="Aptos"/>
              </a:rPr>
              <a:t>Futuro OCR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dei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valori</a:t>
            </a:r>
            <a:endParaRPr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>
                <a:solidFill>
                  <a:srgbClr val="0F172A"/>
                </a:solidFill>
                <a:latin typeface="Aptos"/>
              </a:rPr>
              <a:t>Overlay di warning e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risultati</a:t>
            </a:r>
            <a:endParaRPr sz="1500" b="0" dirty="0">
              <a:solidFill>
                <a:srgbClr val="0F172A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434840" y="1097280"/>
            <a:ext cx="3200400" cy="438912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45152" y="1252728"/>
            <a:ext cx="2907792" cy="3139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b="1" i="0" dirty="0">
                <a:solidFill>
                  <a:srgbClr val="0B1F33"/>
                </a:solidFill>
                <a:latin typeface="Aptos"/>
              </a:rPr>
              <a:t>Graph 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1600200"/>
            <a:ext cx="2907792" cy="2298065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 err="1">
                <a:solidFill>
                  <a:srgbClr val="0F172A"/>
                </a:solidFill>
                <a:latin typeface="Aptos"/>
              </a:rPr>
              <a:t>Rappresentazione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strutturata</a:t>
            </a:r>
            <a:endParaRPr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 err="1">
                <a:solidFill>
                  <a:srgbClr val="0F172A"/>
                </a:solidFill>
                <a:latin typeface="Aptos"/>
              </a:rPr>
              <a:t>Componenti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e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terminali</a:t>
            </a:r>
            <a:endParaRPr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 err="1">
                <a:solidFill>
                  <a:srgbClr val="0F172A"/>
                </a:solidFill>
                <a:latin typeface="Aptos"/>
              </a:rPr>
              <a:t>Grafo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dei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collegamenti</a:t>
            </a:r>
            <a:endParaRPr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>
                <a:solidFill>
                  <a:srgbClr val="0F172A"/>
                </a:solidFill>
                <a:latin typeface="Aptos"/>
              </a:rPr>
              <a:t>Warning e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stati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riconosciuti</a:t>
            </a:r>
            <a:endParaRPr sz="1500" b="0" dirty="0">
              <a:solidFill>
                <a:srgbClr val="0F172A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275320" y="1143000"/>
            <a:ext cx="320040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39912" y="1252728"/>
            <a:ext cx="2907792" cy="3139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b="1" i="0" dirty="0">
                <a:solidFill>
                  <a:srgbClr val="0B1F33"/>
                </a:solidFill>
                <a:latin typeface="Aptos"/>
              </a:rPr>
              <a:t>SPICE / GPT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9912" y="1600200"/>
            <a:ext cx="2907792" cy="3211135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>
                <a:solidFill>
                  <a:srgbClr val="0F172A"/>
                </a:solidFill>
                <a:latin typeface="Aptos"/>
              </a:rPr>
              <a:t>SPICE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richiede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1" dirty="0">
                <a:solidFill>
                  <a:srgbClr val="0F172A"/>
                </a:solidFill>
                <a:latin typeface="Aptos"/>
              </a:rPr>
              <a:t>nodi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e </a:t>
            </a:r>
            <a:r>
              <a:rPr sz="1500" b="1" dirty="0" err="1">
                <a:solidFill>
                  <a:srgbClr val="0F172A"/>
                </a:solidFill>
                <a:latin typeface="Aptos"/>
              </a:rPr>
              <a:t>valori</a:t>
            </a:r>
            <a:r>
              <a:rPr lang="it-IT" sz="1500" b="1" dirty="0">
                <a:solidFill>
                  <a:srgbClr val="0F172A"/>
                </a:solidFill>
                <a:latin typeface="Aptos"/>
              </a:rPr>
              <a:t> </a:t>
            </a:r>
            <a:r>
              <a:rPr lang="it-IT" sz="1500" dirty="0">
                <a:solidFill>
                  <a:srgbClr val="0F172A"/>
                </a:solidFill>
                <a:latin typeface="Aptos"/>
              </a:rPr>
              <a:t>e </a:t>
            </a:r>
            <a:r>
              <a:rPr lang="it-IT" sz="1500" b="1" dirty="0">
                <a:solidFill>
                  <a:srgbClr val="0F172A"/>
                </a:solidFill>
                <a:latin typeface="Aptos"/>
              </a:rPr>
              <a:t>modelli</a:t>
            </a:r>
            <a:endParaRPr sz="1500" b="1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r>
              <a:rPr lang="it-IT" sz="1500" dirty="0" err="1">
                <a:latin typeface="Aptos" panose="020B0004020202020204" pitchFamily="34" charset="0"/>
              </a:rPr>
              <a:t>ngspice</a:t>
            </a:r>
            <a:r>
              <a:rPr lang="it-IT" sz="1500" dirty="0">
                <a:latin typeface="Aptos" panose="020B0004020202020204" pitchFamily="34" charset="0"/>
              </a:rPr>
              <a:t> produce </a:t>
            </a:r>
            <a:r>
              <a:rPr lang="it-IT" sz="1500" dirty="0" err="1">
                <a:latin typeface="Aptos" panose="020B0004020202020204" pitchFamily="34" charset="0"/>
              </a:rPr>
              <a:t>stdout</a:t>
            </a:r>
            <a:r>
              <a:rPr lang="it-IT" sz="1500" dirty="0">
                <a:latin typeface="Aptos" panose="020B0004020202020204" pitchFamily="34" charset="0"/>
              </a:rPr>
              <a:t>/</a:t>
            </a:r>
            <a:r>
              <a:rPr lang="it-IT" sz="1500" dirty="0" err="1">
                <a:latin typeface="Aptos" panose="020B0004020202020204" pitchFamily="34" charset="0"/>
              </a:rPr>
              <a:t>stderr</a:t>
            </a:r>
            <a:r>
              <a:rPr lang="it-IT" sz="1500" dirty="0">
                <a:latin typeface="Aptos" panose="020B0004020202020204" pitchFamily="34" charset="0"/>
              </a:rPr>
              <a:t> e risultati numerici</a:t>
            </a: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r>
              <a:rPr lang="it-IT" sz="1500" dirty="0">
                <a:latin typeface="Aptos" panose="020B0004020202020204" pitchFamily="34" charset="0"/>
              </a:rPr>
              <a:t>GPT riceve evidenze strutturate dopo la simulazione</a:t>
            </a: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r>
              <a:rPr lang="it-IT" sz="1500" dirty="0">
                <a:latin typeface="Aptos" panose="020B0004020202020204" pitchFamily="34" charset="0"/>
              </a:rPr>
              <a:t>Diagnosi più controllata e confrontabile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886200" y="3291840"/>
            <a:ext cx="548640" cy="0"/>
          </a:xfrm>
          <a:prstGeom prst="line">
            <a:avLst/>
          </a:prstGeom>
          <a:ln w="254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680960" y="3291840"/>
            <a:ext cx="548640" cy="0"/>
          </a:xfrm>
          <a:prstGeom prst="line">
            <a:avLst/>
          </a:prstGeom>
          <a:ln w="254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CBD5E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6583680"/>
            <a:ext cx="5486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Aptos"/>
              </a:rPr>
              <a:t>Integrazione JSON → SPICE → diagnosi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583680"/>
            <a:ext cx="6400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96926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0B1F33"/>
                </a:solidFill>
                <a:latin typeface="Aptos Display"/>
              </a:rPr>
              <a:t>Input della nuova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713232"/>
            <a:ext cx="9784080" cy="28469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0" i="0" dirty="0">
                <a:solidFill>
                  <a:srgbClr val="0F766E"/>
                </a:solidFill>
                <a:latin typeface="Aptos"/>
              </a:rPr>
              <a:t>Il JSON </a:t>
            </a:r>
            <a:r>
              <a:rPr lang="it-IT" sz="1250" b="0" i="0" dirty="0">
                <a:solidFill>
                  <a:srgbClr val="0F766E"/>
                </a:solidFill>
                <a:latin typeface="Aptos"/>
              </a:rPr>
              <a:t>è il punto di partenza, ma viene arricchito con valori, profili e conoscenza elettrica</a:t>
            </a:r>
            <a:endParaRPr sz="1250" b="0" i="0" dirty="0">
              <a:solidFill>
                <a:srgbClr val="0F766E"/>
              </a:solidFill>
              <a:latin typeface="Apto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0012680" y="292608"/>
            <a:ext cx="1691640" cy="32004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40112" y="345040"/>
            <a:ext cx="1627632" cy="1877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Aptos"/>
              </a:rPr>
              <a:t>02 / </a:t>
            </a:r>
            <a:r>
              <a:rPr sz="1100" b="1" i="0" dirty="0" err="1">
                <a:solidFill>
                  <a:srgbClr val="FFFFFF"/>
                </a:solidFill>
                <a:latin typeface="Aptos"/>
              </a:rPr>
              <a:t>Architettura</a:t>
            </a:r>
            <a:endParaRPr sz="110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1097280"/>
            <a:ext cx="50749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114977"/>
            <a:ext cx="73152" cy="9601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1" y="1207007"/>
            <a:ext cx="4782312" cy="2985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 i="0" dirty="0" err="1">
                <a:solidFill>
                  <a:srgbClr val="2563EB"/>
                </a:solidFill>
                <a:latin typeface="Aptos"/>
              </a:rPr>
              <a:t>graph.json</a:t>
            </a:r>
            <a:endParaRPr sz="1700" b="1" i="0" dirty="0">
              <a:solidFill>
                <a:srgbClr val="2563EB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04671" y="1554479"/>
            <a:ext cx="4782312" cy="4370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 dirty="0">
                <a:solidFill>
                  <a:srgbClr val="0F172A"/>
                </a:solidFill>
                <a:latin typeface="Aptos"/>
              </a:rPr>
              <a:t>Output della pipeline 01–06: </a:t>
            </a:r>
            <a:r>
              <a:rPr sz="1300" b="0" i="0" dirty="0" err="1">
                <a:solidFill>
                  <a:srgbClr val="0F172A"/>
                </a:solidFill>
                <a:latin typeface="Aptos"/>
              </a:rPr>
              <a:t>componenti</a:t>
            </a:r>
            <a:r>
              <a:rPr sz="1300" b="0" i="0" dirty="0">
                <a:solidFill>
                  <a:srgbClr val="0F172A"/>
                </a:solidFill>
                <a:latin typeface="Aptos"/>
              </a:rPr>
              <a:t>, </a:t>
            </a:r>
            <a:r>
              <a:rPr sz="1300" b="0" i="0" dirty="0" err="1">
                <a:solidFill>
                  <a:srgbClr val="0F172A"/>
                </a:solidFill>
                <a:latin typeface="Aptos"/>
              </a:rPr>
              <a:t>terminali</a:t>
            </a:r>
            <a:r>
              <a:rPr sz="1300" b="0" i="0" dirty="0">
                <a:solidFill>
                  <a:srgbClr val="0F172A"/>
                </a:solidFill>
                <a:latin typeface="Aptos"/>
              </a:rPr>
              <a:t>, </a:t>
            </a:r>
            <a:r>
              <a:rPr sz="1300" b="0" i="0" dirty="0" err="1">
                <a:solidFill>
                  <a:srgbClr val="0F172A"/>
                </a:solidFill>
                <a:latin typeface="Aptos"/>
              </a:rPr>
              <a:t>collegamenti</a:t>
            </a:r>
            <a:r>
              <a:rPr sz="1300" b="0" i="0" dirty="0">
                <a:solidFill>
                  <a:srgbClr val="0F172A"/>
                </a:solidFill>
                <a:latin typeface="Aptos"/>
              </a:rPr>
              <a:t>, </a:t>
            </a:r>
            <a:r>
              <a:rPr sz="1300" b="0" i="0" dirty="0" err="1">
                <a:solidFill>
                  <a:srgbClr val="0F172A"/>
                </a:solidFill>
                <a:latin typeface="Aptos"/>
              </a:rPr>
              <a:t>stati</a:t>
            </a:r>
            <a:r>
              <a:rPr sz="1300" b="0" i="0" dirty="0">
                <a:solidFill>
                  <a:srgbClr val="0F172A"/>
                </a:solidFill>
                <a:latin typeface="Aptos"/>
              </a:rPr>
              <a:t>, warning.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097280"/>
            <a:ext cx="50749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097280"/>
            <a:ext cx="73152" cy="96012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28232" y="1207007"/>
            <a:ext cx="4782312" cy="2985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 i="0" dirty="0" err="1">
                <a:solidFill>
                  <a:srgbClr val="0F766E"/>
                </a:solidFill>
                <a:latin typeface="Aptos"/>
              </a:rPr>
              <a:t>values.yaml</a:t>
            </a:r>
            <a:endParaRPr sz="1700" b="1" i="0" dirty="0">
              <a:solidFill>
                <a:srgbClr val="0F766E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28232" y="1554479"/>
            <a:ext cx="4782312" cy="4370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 dirty="0">
                <a:solidFill>
                  <a:srgbClr val="0F172A"/>
                </a:solidFill>
                <a:latin typeface="Aptos"/>
              </a:rPr>
              <a:t>Valori, </a:t>
            </a:r>
            <a:r>
              <a:rPr sz="1300" b="0" i="0" dirty="0" err="1">
                <a:solidFill>
                  <a:srgbClr val="0F172A"/>
                </a:solidFill>
                <a:latin typeface="Aptos"/>
              </a:rPr>
              <a:t>sorgenti</a:t>
            </a:r>
            <a:r>
              <a:rPr sz="1300" b="0" i="0" dirty="0">
                <a:solidFill>
                  <a:srgbClr val="0F172A"/>
                </a:solidFill>
                <a:latin typeface="Aptos"/>
              </a:rPr>
              <a:t>, </a:t>
            </a:r>
            <a:r>
              <a:rPr sz="1300" b="0" i="0" dirty="0" err="1">
                <a:solidFill>
                  <a:srgbClr val="0F172A"/>
                </a:solidFill>
                <a:latin typeface="Aptos"/>
              </a:rPr>
              <a:t>modelli</a:t>
            </a:r>
            <a:r>
              <a:rPr sz="1300" b="0" i="0" dirty="0">
                <a:solidFill>
                  <a:srgbClr val="0F172A"/>
                </a:solidFill>
                <a:latin typeface="Aptos"/>
              </a:rPr>
              <a:t>, </a:t>
            </a:r>
            <a:r>
              <a:rPr sz="1300" b="0" i="0" dirty="0" err="1">
                <a:solidFill>
                  <a:srgbClr val="0F172A"/>
                </a:solidFill>
                <a:latin typeface="Aptos"/>
              </a:rPr>
              <a:t>stati</a:t>
            </a:r>
            <a:r>
              <a:rPr sz="1300" b="0" i="0" dirty="0">
                <a:solidFill>
                  <a:srgbClr val="0F172A"/>
                </a:solidFill>
                <a:latin typeface="Aptos"/>
              </a:rPr>
              <a:t> switch e nodi </a:t>
            </a:r>
            <a:r>
              <a:rPr sz="1300" b="0" i="0" dirty="0" err="1">
                <a:solidFill>
                  <a:srgbClr val="0F172A"/>
                </a:solidFill>
                <a:latin typeface="Aptos"/>
              </a:rPr>
              <a:t>manuali</a:t>
            </a:r>
            <a:r>
              <a:rPr sz="1300" b="0" i="0" dirty="0">
                <a:solidFill>
                  <a:srgbClr val="0F172A"/>
                </a:solidFill>
                <a:latin typeface="Aptos"/>
              </a:rPr>
              <a:t> non </a:t>
            </a:r>
            <a:r>
              <a:rPr sz="1300" b="0" i="0" dirty="0" err="1">
                <a:solidFill>
                  <a:srgbClr val="0F172A"/>
                </a:solidFill>
                <a:latin typeface="Aptos"/>
              </a:rPr>
              <a:t>riconosciuti</a:t>
            </a:r>
            <a:r>
              <a:rPr sz="1300" b="0" i="0" dirty="0">
                <a:solidFill>
                  <a:srgbClr val="0F172A"/>
                </a:solidFill>
                <a:latin typeface="Aptos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423160"/>
            <a:ext cx="50749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8309" y="2400300"/>
            <a:ext cx="73152" cy="9601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1" y="2532888"/>
            <a:ext cx="4782312" cy="2985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 i="0" dirty="0" err="1">
                <a:solidFill>
                  <a:srgbClr val="F59E0B"/>
                </a:solidFill>
                <a:latin typeface="Aptos"/>
              </a:rPr>
              <a:t>device_profiles.yaml</a:t>
            </a:r>
            <a:endParaRPr sz="1700" b="1" i="0" dirty="0">
              <a:solidFill>
                <a:srgbClr val="F59E0B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04671" y="2880360"/>
            <a:ext cx="4782312" cy="4370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 dirty="0" err="1">
                <a:solidFill>
                  <a:srgbClr val="0F172A"/>
                </a:solidFill>
                <a:latin typeface="Aptos"/>
              </a:rPr>
              <a:t>Profili</a:t>
            </a:r>
            <a:r>
              <a:rPr sz="1300" b="0" i="0" dirty="0">
                <a:solidFill>
                  <a:srgbClr val="0F172A"/>
                </a:solidFill>
                <a:latin typeface="Aptos"/>
              </a:rPr>
              <a:t> IC: pin </a:t>
            </a:r>
            <a:r>
              <a:rPr sz="1300" b="0" i="0" dirty="0" err="1">
                <a:solidFill>
                  <a:srgbClr val="0F172A"/>
                </a:solidFill>
                <a:latin typeface="Aptos"/>
              </a:rPr>
              <a:t>alimentazione</a:t>
            </a:r>
            <a:r>
              <a:rPr sz="1300" b="0" i="0" dirty="0">
                <a:solidFill>
                  <a:srgbClr val="0F172A"/>
                </a:solidFill>
                <a:latin typeface="Aptos"/>
              </a:rPr>
              <a:t>, GND, reset, clock, enable, </a:t>
            </a:r>
            <a:r>
              <a:rPr sz="1300" b="0" i="0" dirty="0" err="1">
                <a:solidFill>
                  <a:srgbClr val="0F172A"/>
                </a:solidFill>
                <a:latin typeface="Aptos"/>
              </a:rPr>
              <a:t>ingressi</a:t>
            </a:r>
            <a:r>
              <a:rPr sz="1300" b="0" i="0" dirty="0">
                <a:solidFill>
                  <a:srgbClr val="0F172A"/>
                </a:solidFill>
                <a:latin typeface="Aptos"/>
              </a:rPr>
              <a:t> e </a:t>
            </a:r>
            <a:r>
              <a:rPr sz="1300" b="0" i="0" dirty="0" err="1">
                <a:solidFill>
                  <a:srgbClr val="0F172A"/>
                </a:solidFill>
                <a:latin typeface="Aptos"/>
              </a:rPr>
              <a:t>uscite</a:t>
            </a:r>
            <a:r>
              <a:rPr sz="1300" b="0" i="0" dirty="0">
                <a:solidFill>
                  <a:srgbClr val="0F172A"/>
                </a:solidFill>
                <a:latin typeface="Aptos"/>
              </a:rPr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423160"/>
            <a:ext cx="50749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63640" y="2459736"/>
            <a:ext cx="73152" cy="96012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28232" y="2532888"/>
            <a:ext cx="4782312" cy="2985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 i="0" dirty="0">
                <a:solidFill>
                  <a:srgbClr val="7C3AED"/>
                </a:solidFill>
                <a:latin typeface="Aptos"/>
              </a:rPr>
              <a:t>datasheet_extract.txt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2880360"/>
            <a:ext cx="4782312" cy="4370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 dirty="0" err="1">
                <a:solidFill>
                  <a:srgbClr val="0F172A"/>
                </a:solidFill>
                <a:latin typeface="Aptos"/>
              </a:rPr>
              <a:t>Estratti</a:t>
            </a:r>
            <a:r>
              <a:rPr sz="1300" b="0" i="0" dirty="0">
                <a:solidFill>
                  <a:srgbClr val="0F172A"/>
                </a:solidFill>
                <a:latin typeface="Aptos"/>
              </a:rPr>
              <a:t> datasheet per </a:t>
            </a:r>
            <a:r>
              <a:rPr sz="1300" b="0" i="0" dirty="0" err="1">
                <a:solidFill>
                  <a:srgbClr val="0F172A"/>
                </a:solidFill>
                <a:latin typeface="Aptos"/>
              </a:rPr>
              <a:t>controlli</a:t>
            </a:r>
            <a:r>
              <a:rPr sz="1300" b="0" i="0" dirty="0">
                <a:solidFill>
                  <a:srgbClr val="0F172A"/>
                </a:solidFill>
                <a:latin typeface="Aptos"/>
              </a:rPr>
              <a:t> pin-aware e </a:t>
            </a:r>
            <a:r>
              <a:rPr sz="1300" b="0" i="0" dirty="0" err="1">
                <a:solidFill>
                  <a:srgbClr val="0F172A"/>
                </a:solidFill>
                <a:latin typeface="Aptos"/>
              </a:rPr>
              <a:t>vincoli</a:t>
            </a:r>
            <a:r>
              <a:rPr sz="13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300" b="0" i="0" dirty="0" err="1">
                <a:solidFill>
                  <a:srgbClr val="0F172A"/>
                </a:solidFill>
                <a:latin typeface="Aptos"/>
              </a:rPr>
              <a:t>minimi</a:t>
            </a:r>
            <a:r>
              <a:rPr sz="1300" b="0" i="0" dirty="0">
                <a:solidFill>
                  <a:srgbClr val="0F172A"/>
                </a:solidFill>
                <a:latin typeface="Aptos"/>
              </a:rPr>
              <a:t> di </a:t>
            </a:r>
            <a:r>
              <a:rPr sz="1300" b="0" i="0" dirty="0" err="1">
                <a:solidFill>
                  <a:srgbClr val="0F172A"/>
                </a:solidFill>
                <a:latin typeface="Aptos"/>
              </a:rPr>
              <a:t>funzionamento</a:t>
            </a:r>
            <a:r>
              <a:rPr sz="1300" b="0" i="0" dirty="0">
                <a:solidFill>
                  <a:srgbClr val="0F172A"/>
                </a:solidFill>
                <a:latin typeface="Aptos"/>
              </a:rPr>
              <a:t>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749039"/>
            <a:ext cx="106984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8309" y="3749039"/>
            <a:ext cx="73152" cy="960120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4671" y="3858768"/>
            <a:ext cx="10405872" cy="2985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 i="0" dirty="0" err="1">
                <a:solidFill>
                  <a:srgbClr val="64748B"/>
                </a:solidFill>
                <a:latin typeface="Aptos"/>
              </a:rPr>
              <a:t>immagine</a:t>
            </a:r>
            <a:r>
              <a:rPr sz="1700" b="1" i="0" dirty="0">
                <a:solidFill>
                  <a:srgbClr val="64748B"/>
                </a:solidFill>
                <a:latin typeface="Aptos"/>
              </a:rPr>
              <a:t> </a:t>
            </a:r>
            <a:r>
              <a:rPr sz="1700" b="1" i="0" dirty="0" err="1">
                <a:solidFill>
                  <a:srgbClr val="64748B"/>
                </a:solidFill>
                <a:latin typeface="Aptos"/>
              </a:rPr>
              <a:t>originale</a:t>
            </a:r>
            <a:endParaRPr sz="1700" b="1" i="0" dirty="0">
              <a:solidFill>
                <a:srgbClr val="64748B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04671" y="4206240"/>
            <a:ext cx="10405872" cy="2369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 dirty="0" err="1">
                <a:solidFill>
                  <a:srgbClr val="0F172A"/>
                </a:solidFill>
                <a:latin typeface="Aptos"/>
              </a:rPr>
              <a:t>Supporto</a:t>
            </a:r>
            <a:r>
              <a:rPr sz="1300" b="0" i="0" dirty="0">
                <a:solidFill>
                  <a:srgbClr val="0F172A"/>
                </a:solidFill>
                <a:latin typeface="Aptos"/>
              </a:rPr>
              <a:t> per </a:t>
            </a:r>
            <a:r>
              <a:rPr sz="1300" b="0" i="0" dirty="0" err="1">
                <a:solidFill>
                  <a:srgbClr val="0F172A"/>
                </a:solidFill>
                <a:latin typeface="Aptos"/>
              </a:rPr>
              <a:t>verifica</a:t>
            </a:r>
            <a:r>
              <a:rPr sz="13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300" b="0" i="0" dirty="0" err="1">
                <a:solidFill>
                  <a:srgbClr val="0F172A"/>
                </a:solidFill>
                <a:latin typeface="Aptos"/>
              </a:rPr>
              <a:t>umana</a:t>
            </a:r>
            <a:r>
              <a:rPr sz="1300" b="0" i="0" dirty="0">
                <a:solidFill>
                  <a:srgbClr val="0F172A"/>
                </a:solidFill>
                <a:latin typeface="Aptos"/>
              </a:rPr>
              <a:t>, </a:t>
            </a:r>
            <a:r>
              <a:rPr sz="1300" b="0" i="0" dirty="0" err="1">
                <a:solidFill>
                  <a:srgbClr val="0F172A"/>
                </a:solidFill>
                <a:latin typeface="Aptos"/>
              </a:rPr>
              <a:t>visualizzazione</a:t>
            </a:r>
            <a:r>
              <a:rPr sz="1300" b="0" i="0" dirty="0">
                <a:solidFill>
                  <a:srgbClr val="0F172A"/>
                </a:solidFill>
                <a:latin typeface="Aptos"/>
              </a:rPr>
              <a:t> e </a:t>
            </a:r>
            <a:r>
              <a:rPr sz="1300" b="0" i="0" dirty="0" err="1">
                <a:solidFill>
                  <a:srgbClr val="0F172A"/>
                </a:solidFill>
                <a:latin typeface="Aptos"/>
              </a:rPr>
              <a:t>futuro</a:t>
            </a:r>
            <a:r>
              <a:rPr sz="1300" b="0" i="0" dirty="0">
                <a:solidFill>
                  <a:srgbClr val="0F172A"/>
                </a:solidFill>
                <a:latin typeface="Aptos"/>
              </a:rPr>
              <a:t> OCR </a:t>
            </a:r>
            <a:r>
              <a:rPr sz="1300" b="0" i="0" dirty="0" err="1">
                <a:solidFill>
                  <a:srgbClr val="0F172A"/>
                </a:solidFill>
                <a:latin typeface="Aptos"/>
              </a:rPr>
              <a:t>dei</a:t>
            </a:r>
            <a:r>
              <a:rPr sz="13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300" b="0" i="0" dirty="0" err="1">
                <a:solidFill>
                  <a:srgbClr val="0F172A"/>
                </a:solidFill>
                <a:latin typeface="Aptos"/>
              </a:rPr>
              <a:t>valori</a:t>
            </a:r>
            <a:r>
              <a:rPr sz="1300" b="0" i="0" dirty="0">
                <a:solidFill>
                  <a:srgbClr val="0F172A"/>
                </a:solidFill>
                <a:latin typeface="Aptos"/>
              </a:rPr>
              <a:t>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CBD5E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6583680"/>
            <a:ext cx="5486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Aptos"/>
              </a:rPr>
              <a:t>Integrazione JSON → SPICE → diagnosi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583680"/>
            <a:ext cx="6400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96926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0B1F33"/>
                </a:solidFill>
                <a:latin typeface="Aptos Display"/>
              </a:rPr>
              <a:t>Il ruolo di values.yaml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713232"/>
            <a:ext cx="9784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0" i="0">
                <a:solidFill>
                  <a:srgbClr val="0F766E"/>
                </a:solidFill>
                <a:latin typeface="Aptos"/>
              </a:rPr>
              <a:t>Valori elettrici, nodi manuali e assunzioni dichiarate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292608"/>
            <a:ext cx="1691640" cy="32004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40112" y="345040"/>
            <a:ext cx="1627632" cy="1877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Aptos"/>
              </a:rPr>
              <a:t>02 / </a:t>
            </a:r>
            <a:r>
              <a:rPr sz="1100" b="1" i="0" dirty="0" err="1">
                <a:solidFill>
                  <a:srgbClr val="FFFFFF"/>
                </a:solidFill>
                <a:latin typeface="Aptos"/>
              </a:rPr>
              <a:t>Architettura</a:t>
            </a:r>
            <a:endParaRPr sz="110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1051560"/>
            <a:ext cx="5486400" cy="50292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1" y="1161288"/>
            <a:ext cx="5193792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600" b="1" i="0" dirty="0" err="1">
                <a:solidFill>
                  <a:srgbClr val="14B8A6"/>
                </a:solidFill>
                <a:latin typeface="Aptos"/>
              </a:rPr>
              <a:t>Esempio</a:t>
            </a:r>
            <a:r>
              <a:rPr sz="1500" b="1" i="0" dirty="0">
                <a:solidFill>
                  <a:srgbClr val="14B8A6"/>
                </a:solidFill>
                <a:latin typeface="Aptos"/>
              </a:rPr>
              <a:t> YAML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27632"/>
            <a:ext cx="4983480" cy="41605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0" i="0" dirty="0">
                <a:solidFill>
                  <a:srgbClr val="FFFFFF"/>
                </a:solidFill>
                <a:latin typeface="Consolas"/>
              </a:rPr>
              <a:t>A10:</a:t>
            </a:r>
            <a:br>
              <a:rPr dirty="0"/>
            </a:br>
            <a:r>
              <a:rPr sz="1300" b="0" i="0" dirty="0">
                <a:solidFill>
                  <a:srgbClr val="FFFFFF"/>
                </a:solidFill>
                <a:latin typeface="Consolas"/>
              </a:rPr>
              <a:t>  supplies:</a:t>
            </a:r>
            <a:br>
              <a:rPr dirty="0"/>
            </a:br>
            <a:r>
              <a:rPr sz="1300" b="0" i="0" dirty="0">
                <a:solidFill>
                  <a:srgbClr val="FFFFFF"/>
                </a:solidFill>
                <a:latin typeface="Consolas"/>
              </a:rPr>
              <a:t>    VCC_5V: { value: 5, unit: V }</a:t>
            </a:r>
            <a:br>
              <a:rPr dirty="0"/>
            </a:br>
            <a:br>
              <a:rPr dirty="0"/>
            </a:br>
            <a:r>
              <a:rPr sz="1300" b="0" i="0" dirty="0">
                <a:solidFill>
                  <a:srgbClr val="FFFFFF"/>
                </a:solidFill>
                <a:latin typeface="Consolas"/>
              </a:rPr>
              <a:t>  components:</a:t>
            </a:r>
            <a:br>
              <a:rPr dirty="0"/>
            </a:br>
            <a:r>
              <a:rPr sz="1300" b="0" i="0" dirty="0">
                <a:solidFill>
                  <a:srgbClr val="FFFFFF"/>
                </a:solidFill>
                <a:latin typeface="Consolas"/>
              </a:rPr>
              <a:t>    resistor22.1: { value: 330, unit: ohm, source: 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image_label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 }</a:t>
            </a:r>
            <a:br>
              <a:rPr dirty="0"/>
            </a:br>
            <a:r>
              <a:rPr sz="1300" b="0" i="0" dirty="0">
                <a:solidFill>
                  <a:srgbClr val="FFFFFF"/>
                </a:solidFill>
                <a:latin typeface="Consolas"/>
              </a:rPr>
              <a:t>    lamp13.1:    { value: 250, unit: ohm, source: 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manual_assumption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 }</a:t>
            </a:r>
            <a:br>
              <a:rPr dirty="0"/>
            </a:br>
            <a:r>
              <a:rPr sz="1300" b="0" i="0" dirty="0">
                <a:solidFill>
                  <a:srgbClr val="FFFFFF"/>
                </a:solidFill>
                <a:latin typeface="Consolas"/>
              </a:rPr>
              <a:t>    led12.1:     { model: LED_RED }</a:t>
            </a:r>
            <a:br>
              <a:rPr dirty="0"/>
            </a:br>
            <a:br>
              <a:rPr dirty="0"/>
            </a:br>
            <a:r>
              <a:rPr sz="1300" b="0" i="0" dirty="0">
                <a:solidFill>
                  <a:srgbClr val="FFFFFF"/>
                </a:solidFill>
                <a:latin typeface="Consolas"/>
              </a:rPr>
              <a:t>  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manual_nodes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:</a:t>
            </a:r>
            <a:br>
              <a:rPr dirty="0"/>
            </a:br>
            <a:r>
              <a:rPr sz="1300" b="0" i="0" dirty="0">
                <a:solidFill>
                  <a:srgbClr val="FFFFFF"/>
                </a:solidFill>
                <a:latin typeface="Consolas"/>
              </a:rPr>
              <a:t>    connector5.1_pin1: VCC_5V</a:t>
            </a:r>
            <a:br>
              <a:rPr dirty="0"/>
            </a:br>
            <a:r>
              <a:rPr sz="1300" b="0" i="0" dirty="0">
                <a:solidFill>
                  <a:srgbClr val="FFFFFF"/>
                </a:solidFill>
                <a:latin typeface="Consolas"/>
              </a:rPr>
              <a:t>    connector5.1_pin4: GND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1051560"/>
            <a:ext cx="5074920" cy="118872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11112" y="1161288"/>
            <a:ext cx="4782312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 i="0" dirty="0" err="1">
                <a:solidFill>
                  <a:srgbClr val="0F766E"/>
                </a:solidFill>
                <a:latin typeface="Aptos"/>
              </a:rPr>
              <a:t>Perché</a:t>
            </a:r>
            <a:r>
              <a:rPr sz="1500" b="1" i="0" dirty="0">
                <a:solidFill>
                  <a:srgbClr val="0F766E"/>
                </a:solidFill>
                <a:latin typeface="Aptos"/>
              </a:rPr>
              <a:t> è </a:t>
            </a:r>
            <a:r>
              <a:rPr sz="1500" b="1" i="0" dirty="0" err="1">
                <a:solidFill>
                  <a:srgbClr val="0F766E"/>
                </a:solidFill>
                <a:latin typeface="Aptos"/>
              </a:rPr>
              <a:t>importante</a:t>
            </a:r>
            <a:endParaRPr sz="1500" b="1" i="0" dirty="0">
              <a:solidFill>
                <a:srgbClr val="0F766E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611112" y="1508760"/>
            <a:ext cx="4782312" cy="4678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 i="0" dirty="0" err="1">
                <a:solidFill>
                  <a:srgbClr val="0F172A"/>
                </a:solidFill>
                <a:latin typeface="Aptos"/>
              </a:rPr>
              <a:t>Permette</a:t>
            </a:r>
            <a:r>
              <a:rPr sz="1400" b="0" i="0" dirty="0">
                <a:solidFill>
                  <a:srgbClr val="0F172A"/>
                </a:solidFill>
                <a:latin typeface="Aptos"/>
              </a:rPr>
              <a:t> di </a:t>
            </a:r>
            <a:r>
              <a:rPr sz="1400" b="0" i="0" dirty="0" err="1">
                <a:solidFill>
                  <a:srgbClr val="0F172A"/>
                </a:solidFill>
                <a:latin typeface="Aptos"/>
              </a:rPr>
              <a:t>separare</a:t>
            </a:r>
            <a:r>
              <a:rPr sz="1400" b="0" i="0" dirty="0">
                <a:solidFill>
                  <a:srgbClr val="0F172A"/>
                </a:solidFill>
                <a:latin typeface="Aptos"/>
              </a:rPr>
              <a:t> il </a:t>
            </a:r>
            <a:r>
              <a:rPr sz="1400" b="0" i="0" dirty="0" err="1">
                <a:solidFill>
                  <a:srgbClr val="0F172A"/>
                </a:solidFill>
                <a:latin typeface="Aptos"/>
              </a:rPr>
              <a:t>problema</a:t>
            </a:r>
            <a:r>
              <a:rPr sz="14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0F172A"/>
                </a:solidFill>
                <a:latin typeface="Aptos"/>
              </a:rPr>
              <a:t>topologico</a:t>
            </a:r>
            <a:r>
              <a:rPr sz="1400" b="0" i="0" dirty="0">
                <a:solidFill>
                  <a:srgbClr val="0F172A"/>
                </a:solidFill>
                <a:latin typeface="Aptos"/>
              </a:rPr>
              <a:t> dal </a:t>
            </a:r>
            <a:r>
              <a:rPr sz="1400" b="0" i="0" dirty="0" err="1">
                <a:solidFill>
                  <a:srgbClr val="0F172A"/>
                </a:solidFill>
                <a:latin typeface="Aptos"/>
              </a:rPr>
              <a:t>problema</a:t>
            </a:r>
            <a:r>
              <a:rPr sz="1400" b="0" i="0" dirty="0">
                <a:solidFill>
                  <a:srgbClr val="0F172A"/>
                </a:solidFill>
                <a:latin typeface="Aptos"/>
              </a:rPr>
              <a:t> OCR/</a:t>
            </a:r>
            <a:r>
              <a:rPr sz="1400" b="0" i="0" dirty="0" err="1">
                <a:solidFill>
                  <a:srgbClr val="0F172A"/>
                </a:solidFill>
                <a:latin typeface="Aptos"/>
              </a:rPr>
              <a:t>valori</a:t>
            </a:r>
            <a:r>
              <a:rPr sz="1400" b="0" i="0" dirty="0">
                <a:solidFill>
                  <a:srgbClr val="0F172A"/>
                </a:solidFill>
                <a:latin typeface="Aptos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2514600"/>
            <a:ext cx="5074920" cy="11887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11112" y="2624328"/>
            <a:ext cx="4782312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 i="0" dirty="0">
                <a:solidFill>
                  <a:srgbClr val="2563EB"/>
                </a:solidFill>
                <a:latin typeface="Aptos"/>
              </a:rPr>
              <a:t>Nodi </a:t>
            </a:r>
            <a:r>
              <a:rPr sz="1600" b="1" i="0" dirty="0" err="1">
                <a:solidFill>
                  <a:srgbClr val="2563EB"/>
                </a:solidFill>
                <a:latin typeface="Aptos"/>
              </a:rPr>
              <a:t>manuali</a:t>
            </a:r>
            <a:endParaRPr sz="1600" b="1" i="0" dirty="0">
              <a:solidFill>
                <a:srgbClr val="2563EB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11112" y="2971800"/>
            <a:ext cx="4782312" cy="4678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 i="0" dirty="0" err="1">
                <a:solidFill>
                  <a:srgbClr val="0F172A"/>
                </a:solidFill>
                <a:latin typeface="Aptos"/>
              </a:rPr>
              <a:t>Gestisce</a:t>
            </a:r>
            <a:r>
              <a:rPr sz="1400" b="0" i="0" dirty="0">
                <a:solidFill>
                  <a:srgbClr val="0F172A"/>
                </a:solidFill>
                <a:latin typeface="Aptos"/>
              </a:rPr>
              <a:t> label non </a:t>
            </a:r>
            <a:r>
              <a:rPr sz="1400" b="0" i="0" dirty="0" err="1">
                <a:solidFill>
                  <a:srgbClr val="0F172A"/>
                </a:solidFill>
                <a:latin typeface="Aptos"/>
              </a:rPr>
              <a:t>rilevate</a:t>
            </a:r>
            <a:r>
              <a:rPr sz="14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0F172A"/>
                </a:solidFill>
                <a:latin typeface="Aptos"/>
              </a:rPr>
              <a:t>nel</a:t>
            </a:r>
            <a:r>
              <a:rPr sz="1400" b="0" i="0" dirty="0">
                <a:solidFill>
                  <a:srgbClr val="0F172A"/>
                </a:solidFill>
                <a:latin typeface="Aptos"/>
              </a:rPr>
              <a:t> JSON: VDD, VCC,</a:t>
            </a:r>
            <a:r>
              <a:rPr lang="it-IT" sz="14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0F172A"/>
                </a:solidFill>
                <a:latin typeface="Aptos"/>
              </a:rPr>
              <a:t>terminali</a:t>
            </a:r>
            <a:r>
              <a:rPr sz="14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0F172A"/>
                </a:solidFill>
                <a:latin typeface="Aptos"/>
              </a:rPr>
              <a:t>esterni</a:t>
            </a:r>
            <a:r>
              <a:rPr sz="1400" b="0" i="0" dirty="0">
                <a:solidFill>
                  <a:srgbClr val="0F172A"/>
                </a:solidFill>
                <a:latin typeface="Aptos"/>
              </a:rPr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3977639"/>
            <a:ext cx="5074920" cy="11887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11112" y="4087368"/>
            <a:ext cx="4782312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 i="0" dirty="0" err="1">
                <a:solidFill>
                  <a:srgbClr val="F59E0B"/>
                </a:solidFill>
                <a:latin typeface="Aptos"/>
              </a:rPr>
              <a:t>Tracciabilità</a:t>
            </a:r>
            <a:endParaRPr sz="1600" b="1" i="0" dirty="0">
              <a:solidFill>
                <a:srgbClr val="F59E0B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611112" y="4434840"/>
            <a:ext cx="4782312" cy="4678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 i="0" dirty="0">
                <a:solidFill>
                  <a:srgbClr val="0F172A"/>
                </a:solidFill>
                <a:latin typeface="Aptos"/>
              </a:rPr>
              <a:t>Ogni </a:t>
            </a:r>
            <a:r>
              <a:rPr sz="1400" b="0" i="0" dirty="0" err="1">
                <a:solidFill>
                  <a:srgbClr val="0F172A"/>
                </a:solidFill>
                <a:latin typeface="Aptos"/>
              </a:rPr>
              <a:t>valore</a:t>
            </a:r>
            <a:r>
              <a:rPr sz="14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0F172A"/>
                </a:solidFill>
                <a:latin typeface="Aptos"/>
              </a:rPr>
              <a:t>può</a:t>
            </a:r>
            <a:r>
              <a:rPr sz="14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0F172A"/>
                </a:solidFill>
                <a:latin typeface="Aptos"/>
              </a:rPr>
              <a:t>essere</a:t>
            </a:r>
            <a:r>
              <a:rPr sz="14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0F172A"/>
                </a:solidFill>
                <a:latin typeface="Aptos"/>
              </a:rPr>
              <a:t>etichettato</a:t>
            </a:r>
            <a:r>
              <a:rPr sz="1400" b="0" i="0" dirty="0">
                <a:solidFill>
                  <a:srgbClr val="0F172A"/>
                </a:solidFill>
                <a:latin typeface="Aptos"/>
              </a:rPr>
              <a:t> come </a:t>
            </a:r>
            <a:r>
              <a:rPr sz="1400" b="0" i="0" dirty="0" err="1">
                <a:solidFill>
                  <a:srgbClr val="0F172A"/>
                </a:solidFill>
                <a:latin typeface="Aptos"/>
              </a:rPr>
              <a:t>ricavato</a:t>
            </a:r>
            <a:r>
              <a:rPr sz="14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0F172A"/>
                </a:solidFill>
                <a:latin typeface="Aptos"/>
              </a:rPr>
              <a:t>dallo</a:t>
            </a:r>
            <a:r>
              <a:rPr sz="1400" b="0" i="0" dirty="0">
                <a:solidFill>
                  <a:srgbClr val="0F172A"/>
                </a:solidFill>
                <a:latin typeface="Aptos"/>
              </a:rPr>
              <a:t> schema o </a:t>
            </a:r>
            <a:r>
              <a:rPr sz="1400" b="0" i="0" dirty="0" err="1">
                <a:solidFill>
                  <a:srgbClr val="0F172A"/>
                </a:solidFill>
                <a:latin typeface="Aptos"/>
              </a:rPr>
              <a:t>assunto</a:t>
            </a:r>
            <a:r>
              <a:rPr sz="14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0F172A"/>
                </a:solidFill>
                <a:latin typeface="Aptos"/>
              </a:rPr>
              <a:t>manualmente</a:t>
            </a:r>
            <a:r>
              <a:rPr sz="1400" b="0" i="0" dirty="0">
                <a:solidFill>
                  <a:srgbClr val="0F172A"/>
                </a:solidFill>
                <a:latin typeface="Aptos"/>
              </a:rPr>
              <a:t>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CBD5E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6583680"/>
            <a:ext cx="5486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Aptos"/>
              </a:rPr>
              <a:t>Integrazione JSON → SPICE → diagnosi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583680"/>
            <a:ext cx="6400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96926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0B1F33"/>
                </a:solidFill>
                <a:latin typeface="Aptos Display"/>
              </a:rPr>
              <a:t>Output prodotti per ogni circuito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713232"/>
            <a:ext cx="9784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0" i="0">
                <a:solidFill>
                  <a:srgbClr val="0F766E"/>
                </a:solidFill>
                <a:latin typeface="Aptos"/>
              </a:rPr>
              <a:t>La pipeline produce sempre un risultato, anche se SPICE non gira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292608"/>
            <a:ext cx="1691640" cy="32004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40112" y="345040"/>
            <a:ext cx="1627632" cy="1877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Aptos"/>
              </a:rPr>
              <a:t>02 / </a:t>
            </a:r>
            <a:r>
              <a:rPr sz="1100" b="1" i="0" dirty="0" err="1">
                <a:solidFill>
                  <a:srgbClr val="FFFFFF"/>
                </a:solidFill>
                <a:latin typeface="Aptos"/>
              </a:rPr>
              <a:t>Architettura</a:t>
            </a:r>
            <a:endParaRPr sz="110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93776" y="1773936"/>
            <a:ext cx="3474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93776" y="1773936"/>
            <a:ext cx="73152" cy="96012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1883664"/>
            <a:ext cx="3182112" cy="2677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 i="0" dirty="0" err="1">
                <a:solidFill>
                  <a:srgbClr val="0F766E"/>
                </a:solidFill>
                <a:latin typeface="Aptos"/>
              </a:rPr>
              <a:t>node_map.json</a:t>
            </a:r>
            <a:endParaRPr sz="1500" b="1" i="0" dirty="0">
              <a:solidFill>
                <a:srgbClr val="0F766E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8368" y="2231136"/>
            <a:ext cx="3182112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 dirty="0">
                <a:solidFill>
                  <a:srgbClr val="0F172A"/>
                </a:solidFill>
                <a:latin typeface="Aptos"/>
              </a:rPr>
              <a:t>nodi </a:t>
            </a:r>
            <a:r>
              <a:rPr sz="1200" b="0" i="0" dirty="0" err="1">
                <a:solidFill>
                  <a:srgbClr val="0F172A"/>
                </a:solidFill>
                <a:latin typeface="Aptos"/>
              </a:rPr>
              <a:t>elettrici</a:t>
            </a:r>
            <a:r>
              <a:rPr sz="12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200" b="0" i="0" dirty="0" err="1">
                <a:solidFill>
                  <a:srgbClr val="0F172A"/>
                </a:solidFill>
                <a:latin typeface="Aptos"/>
              </a:rPr>
              <a:t>ricostruiti</a:t>
            </a:r>
            <a:endParaRPr sz="1200" b="0" i="0" dirty="0">
              <a:solidFill>
                <a:srgbClr val="0F172A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379976" y="1773936"/>
            <a:ext cx="3474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79976" y="1773936"/>
            <a:ext cx="73152" cy="9601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44568" y="1883664"/>
            <a:ext cx="3182112" cy="2677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lang="it-IT" sz="1500" b="1" i="0" dirty="0" err="1">
                <a:solidFill>
                  <a:srgbClr val="2563EB"/>
                </a:solidFill>
                <a:latin typeface="Aptos"/>
              </a:rPr>
              <a:t>Values_bound</a:t>
            </a:r>
            <a:r>
              <a:rPr sz="1500" b="1" i="0" dirty="0">
                <a:solidFill>
                  <a:srgbClr val="2563EB"/>
                </a:solidFill>
                <a:latin typeface="Aptos"/>
              </a:rPr>
              <a:t>.</a:t>
            </a:r>
            <a:r>
              <a:rPr sz="1500" b="1" i="0" dirty="0" err="1">
                <a:solidFill>
                  <a:srgbClr val="2563EB"/>
                </a:solidFill>
                <a:latin typeface="Aptos"/>
              </a:rPr>
              <a:t>json</a:t>
            </a:r>
            <a:endParaRPr sz="1500" b="1" i="0" dirty="0">
              <a:solidFill>
                <a:srgbClr val="2563EB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44568" y="2231136"/>
            <a:ext cx="3182112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 dirty="0" err="1">
                <a:solidFill>
                  <a:srgbClr val="0F172A"/>
                </a:solidFill>
                <a:latin typeface="Aptos"/>
              </a:rPr>
              <a:t>conversione</a:t>
            </a:r>
            <a:r>
              <a:rPr sz="1200" b="0" i="0" dirty="0">
                <a:solidFill>
                  <a:srgbClr val="0F172A"/>
                </a:solidFill>
                <a:latin typeface="Aptos"/>
              </a:rPr>
              <a:t> e </a:t>
            </a:r>
            <a:r>
              <a:rPr sz="1200" b="0" i="0" dirty="0" err="1">
                <a:solidFill>
                  <a:srgbClr val="0F172A"/>
                </a:solidFill>
                <a:latin typeface="Aptos"/>
              </a:rPr>
              <a:t>semplificazioni</a:t>
            </a:r>
            <a:endParaRPr sz="1200" b="0" i="0" dirty="0">
              <a:solidFill>
                <a:srgbClr val="0F172A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266175" y="1773936"/>
            <a:ext cx="3474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66175" y="1773936"/>
            <a:ext cx="73152" cy="9601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30767" y="1883664"/>
            <a:ext cx="3182112" cy="2677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 i="0" dirty="0" err="1">
                <a:solidFill>
                  <a:srgbClr val="F59E0B"/>
                </a:solidFill>
                <a:latin typeface="Aptos"/>
              </a:rPr>
              <a:t>missing_parameters.json</a:t>
            </a:r>
            <a:endParaRPr sz="1500" b="1" i="0" dirty="0">
              <a:solidFill>
                <a:srgbClr val="F59E0B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430767" y="2231136"/>
            <a:ext cx="3182112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 dirty="0" err="1">
                <a:solidFill>
                  <a:srgbClr val="0F172A"/>
                </a:solidFill>
                <a:latin typeface="Aptos"/>
              </a:rPr>
              <a:t>valori</a:t>
            </a:r>
            <a:r>
              <a:rPr sz="1200" b="0" i="0" dirty="0">
                <a:solidFill>
                  <a:srgbClr val="0F172A"/>
                </a:solidFill>
                <a:latin typeface="Aptos"/>
              </a:rPr>
              <a:t> e </a:t>
            </a:r>
            <a:r>
              <a:rPr sz="1200" b="0" i="0" dirty="0" err="1">
                <a:solidFill>
                  <a:srgbClr val="0F172A"/>
                </a:solidFill>
                <a:latin typeface="Aptos"/>
              </a:rPr>
              <a:t>modelli</a:t>
            </a:r>
            <a:r>
              <a:rPr sz="12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200" b="0" i="0" dirty="0" err="1">
                <a:solidFill>
                  <a:srgbClr val="0F172A"/>
                </a:solidFill>
                <a:latin typeface="Aptos"/>
              </a:rPr>
              <a:t>mancanti</a:t>
            </a:r>
            <a:endParaRPr sz="1200" b="0" i="0" dirty="0">
              <a:solidFill>
                <a:srgbClr val="0F172A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93776" y="3099816"/>
            <a:ext cx="3474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93776" y="3099816"/>
            <a:ext cx="73152" cy="96012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" y="3209544"/>
            <a:ext cx="3182112" cy="2677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 i="0" dirty="0" err="1">
                <a:solidFill>
                  <a:srgbClr val="7C3AED"/>
                </a:solidFill>
                <a:latin typeface="Aptos"/>
              </a:rPr>
              <a:t>spice_netlist.cir</a:t>
            </a:r>
            <a:endParaRPr sz="1500" b="1" i="0" dirty="0">
              <a:solidFill>
                <a:srgbClr val="7C3AED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58368" y="3557016"/>
            <a:ext cx="3182112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 dirty="0">
                <a:solidFill>
                  <a:srgbClr val="0F172A"/>
                </a:solidFill>
                <a:latin typeface="Aptos"/>
              </a:rPr>
              <a:t>netlist completa o </a:t>
            </a:r>
            <a:r>
              <a:rPr sz="1200" b="0" i="0" dirty="0" err="1">
                <a:solidFill>
                  <a:srgbClr val="0F172A"/>
                </a:solidFill>
                <a:latin typeface="Aptos"/>
              </a:rPr>
              <a:t>parziale</a:t>
            </a:r>
            <a:endParaRPr sz="1200" b="0" i="0" dirty="0">
              <a:solidFill>
                <a:srgbClr val="0F172A"/>
              </a:solidFill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379976" y="3099816"/>
            <a:ext cx="3474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79976" y="3099816"/>
            <a:ext cx="73152" cy="96012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44568" y="3209544"/>
            <a:ext cx="3182112" cy="2677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 i="0" dirty="0" err="1">
                <a:solidFill>
                  <a:srgbClr val="16A34A"/>
                </a:solidFill>
                <a:latin typeface="Aptos"/>
              </a:rPr>
              <a:t>spice_results.json</a:t>
            </a:r>
            <a:endParaRPr sz="1500" b="1" i="0" dirty="0">
              <a:solidFill>
                <a:srgbClr val="16A34A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44568" y="3557016"/>
            <a:ext cx="3182112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 dirty="0" err="1">
                <a:solidFill>
                  <a:srgbClr val="0F172A"/>
                </a:solidFill>
                <a:latin typeface="Aptos"/>
              </a:rPr>
              <a:t>esito</a:t>
            </a:r>
            <a:r>
              <a:rPr sz="1200" b="0" i="0" dirty="0">
                <a:solidFill>
                  <a:srgbClr val="0F172A"/>
                </a:solidFill>
                <a:latin typeface="Aptos"/>
              </a:rPr>
              <a:t> .op / .</a:t>
            </a:r>
            <a:r>
              <a:rPr sz="1200" b="0" i="0" dirty="0" err="1">
                <a:solidFill>
                  <a:srgbClr val="0F172A"/>
                </a:solidFill>
                <a:latin typeface="Aptos"/>
              </a:rPr>
              <a:t>tran</a:t>
            </a:r>
            <a:r>
              <a:rPr sz="1200" b="0" i="0" dirty="0">
                <a:solidFill>
                  <a:srgbClr val="0F172A"/>
                </a:solidFill>
                <a:latin typeface="Aptos"/>
              </a:rPr>
              <a:t> / .measure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66175" y="3099816"/>
            <a:ext cx="3474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266175" y="3099816"/>
            <a:ext cx="73152" cy="96012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30767" y="3209544"/>
            <a:ext cx="3182112" cy="2677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 i="0" dirty="0" err="1">
                <a:solidFill>
                  <a:srgbClr val="DC2626"/>
                </a:solidFill>
                <a:latin typeface="Aptos"/>
              </a:rPr>
              <a:t>electrical_check_report.json</a:t>
            </a:r>
            <a:endParaRPr sz="1500" b="1" i="0" dirty="0">
              <a:solidFill>
                <a:srgbClr val="DC2626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430767" y="3557016"/>
            <a:ext cx="3182112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 dirty="0" err="1">
                <a:solidFill>
                  <a:srgbClr val="0F172A"/>
                </a:solidFill>
                <a:latin typeface="Aptos"/>
              </a:rPr>
              <a:t>controlli</a:t>
            </a:r>
            <a:r>
              <a:rPr sz="12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200" b="0" i="0" dirty="0" err="1">
                <a:solidFill>
                  <a:srgbClr val="0F172A"/>
                </a:solidFill>
                <a:latin typeface="Aptos"/>
              </a:rPr>
              <a:t>elettrici</a:t>
            </a:r>
            <a:r>
              <a:rPr sz="12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200" b="0" i="0" dirty="0" err="1">
                <a:solidFill>
                  <a:srgbClr val="0F172A"/>
                </a:solidFill>
                <a:latin typeface="Aptos"/>
              </a:rPr>
              <a:t>automatici</a:t>
            </a:r>
            <a:endParaRPr sz="1200" b="0" i="0" dirty="0">
              <a:solidFill>
                <a:srgbClr val="0F172A"/>
              </a:solidFill>
              <a:latin typeface="Aptos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493776" y="4425696"/>
            <a:ext cx="3474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93776" y="4425696"/>
            <a:ext cx="73152" cy="960120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8368" y="4535424"/>
            <a:ext cx="3182112" cy="2677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lang="it-IT" sz="1500" b="1" dirty="0">
                <a:solidFill>
                  <a:srgbClr val="64748B"/>
                </a:solidFill>
                <a:latin typeface="Aptos"/>
              </a:rPr>
              <a:t>r</a:t>
            </a:r>
            <a:r>
              <a:rPr lang="it-IT" sz="1500" b="1" i="0" dirty="0">
                <a:solidFill>
                  <a:srgbClr val="64748B"/>
                </a:solidFill>
                <a:latin typeface="Aptos"/>
              </a:rPr>
              <a:t>eport.md</a:t>
            </a:r>
            <a:endParaRPr sz="1500" b="1" i="0" dirty="0">
              <a:solidFill>
                <a:srgbClr val="64748B"/>
              </a:solidFill>
              <a:latin typeface="Apto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58368" y="4882896"/>
            <a:ext cx="3182112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 dirty="0" err="1">
                <a:solidFill>
                  <a:srgbClr val="0F172A"/>
                </a:solidFill>
                <a:latin typeface="Aptos"/>
              </a:rPr>
              <a:t>visualizzazione</a:t>
            </a:r>
            <a:r>
              <a:rPr sz="12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200" b="0" i="0" dirty="0" err="1">
                <a:solidFill>
                  <a:srgbClr val="0F172A"/>
                </a:solidFill>
                <a:latin typeface="Aptos"/>
              </a:rPr>
              <a:t>topologica</a:t>
            </a:r>
            <a:endParaRPr sz="1200" b="0" i="0" dirty="0">
              <a:solidFill>
                <a:srgbClr val="0F172A"/>
              </a:solidFill>
              <a:latin typeface="Aptos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4379976" y="4425696"/>
            <a:ext cx="3474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379976" y="4425696"/>
            <a:ext cx="73152" cy="96012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44568" y="4535424"/>
            <a:ext cx="3182112" cy="2677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lang="it-IT" sz="1500" b="1" dirty="0" err="1">
                <a:solidFill>
                  <a:srgbClr val="0F766E"/>
                </a:solidFill>
                <a:latin typeface="Aptos"/>
              </a:rPr>
              <a:t>d</a:t>
            </a:r>
            <a:r>
              <a:rPr lang="it-IT" sz="1500" b="1" i="0" dirty="0" err="1">
                <a:solidFill>
                  <a:srgbClr val="0F766E"/>
                </a:solidFill>
                <a:latin typeface="Aptos"/>
              </a:rPr>
              <a:t>iagnostic_context.json</a:t>
            </a:r>
            <a:endParaRPr sz="1500" b="1" i="0" dirty="0">
              <a:solidFill>
                <a:srgbClr val="0F766E"/>
              </a:solidFill>
              <a:latin typeface="Apto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544568" y="4882896"/>
            <a:ext cx="3182112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 dirty="0" err="1">
                <a:solidFill>
                  <a:srgbClr val="0F172A"/>
                </a:solidFill>
                <a:latin typeface="Aptos"/>
              </a:rPr>
              <a:t>contesto</a:t>
            </a:r>
            <a:r>
              <a:rPr sz="1200" b="0" i="0" dirty="0">
                <a:solidFill>
                  <a:srgbClr val="0F172A"/>
                </a:solidFill>
                <a:latin typeface="Aptos"/>
              </a:rPr>
              <a:t> GPT </a:t>
            </a:r>
            <a:r>
              <a:rPr sz="1200" b="0" i="0" dirty="0" err="1">
                <a:solidFill>
                  <a:srgbClr val="0F172A"/>
                </a:solidFill>
                <a:latin typeface="Aptos"/>
              </a:rPr>
              <a:t>strutturato</a:t>
            </a:r>
            <a:endParaRPr sz="1200" b="0" i="0" dirty="0">
              <a:solidFill>
                <a:srgbClr val="0F172A"/>
              </a:solidFill>
              <a:latin typeface="Aptos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8266175" y="4425696"/>
            <a:ext cx="3474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266175" y="4425696"/>
            <a:ext cx="73152" cy="9601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430767" y="4535424"/>
            <a:ext cx="3182112" cy="2677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lang="it-IT" sz="1500" b="1" dirty="0" err="1">
                <a:solidFill>
                  <a:srgbClr val="2563EB"/>
                </a:solidFill>
                <a:latin typeface="Aptos"/>
              </a:rPr>
              <a:t>a</a:t>
            </a:r>
            <a:r>
              <a:rPr lang="it-IT" sz="1500" b="1" i="0" dirty="0" err="1">
                <a:solidFill>
                  <a:srgbClr val="2563EB"/>
                </a:solidFill>
                <a:latin typeface="Aptos"/>
              </a:rPr>
              <a:t>gent_response.json</a:t>
            </a:r>
            <a:endParaRPr sz="1500" b="1" i="0" dirty="0">
              <a:solidFill>
                <a:srgbClr val="2563EB"/>
              </a:solidFill>
              <a:latin typeface="Apto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430767" y="4882896"/>
            <a:ext cx="3182112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 dirty="0" err="1">
                <a:solidFill>
                  <a:srgbClr val="0F172A"/>
                </a:solidFill>
                <a:latin typeface="Aptos"/>
              </a:rPr>
              <a:t>risposta</a:t>
            </a:r>
            <a:r>
              <a:rPr sz="1200" b="0" i="0" dirty="0">
                <a:solidFill>
                  <a:srgbClr val="0F172A"/>
                </a:solidFill>
                <a:latin typeface="Aptos"/>
              </a:rPr>
              <a:t> finale </a:t>
            </a:r>
            <a:r>
              <a:rPr lang="it-IT" sz="1200" b="0" i="0" dirty="0">
                <a:solidFill>
                  <a:srgbClr val="0F172A"/>
                </a:solidFill>
                <a:latin typeface="Aptos"/>
              </a:rPr>
              <a:t>o </a:t>
            </a:r>
            <a:r>
              <a:rPr sz="1200" b="0" i="0" dirty="0" err="1">
                <a:solidFill>
                  <a:srgbClr val="0F172A"/>
                </a:solidFill>
                <a:latin typeface="Aptos"/>
              </a:rPr>
              <a:t>agente</a:t>
            </a:r>
            <a:r>
              <a:rPr sz="1200" b="0" i="0" dirty="0">
                <a:solidFill>
                  <a:srgbClr val="0F172A"/>
                </a:solidFill>
                <a:latin typeface="Aptos"/>
              </a:rPr>
              <a:t>/GPT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CBD5E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57200" y="6583680"/>
            <a:ext cx="5486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Aptos"/>
              </a:rPr>
              <a:t>Integrazione JSON → SPICE → diagnosi AI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64240" y="6583680"/>
            <a:ext cx="6400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96926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 dirty="0">
                <a:solidFill>
                  <a:srgbClr val="0B1F33"/>
                </a:solidFill>
                <a:latin typeface="Aptos Display"/>
              </a:rPr>
              <a:t>Stati della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713232"/>
            <a:ext cx="9784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0" i="0" dirty="0">
                <a:solidFill>
                  <a:srgbClr val="0F766E"/>
                </a:solidFill>
                <a:latin typeface="Aptos"/>
              </a:rPr>
              <a:t>Non tutti </a:t>
            </a:r>
            <a:r>
              <a:rPr sz="1250" b="0" i="0" dirty="0" err="1">
                <a:solidFill>
                  <a:srgbClr val="0F766E"/>
                </a:solidFill>
                <a:latin typeface="Aptos"/>
              </a:rPr>
              <a:t>i</a:t>
            </a:r>
            <a:r>
              <a:rPr sz="1250" b="0" i="0" dirty="0">
                <a:solidFill>
                  <a:srgbClr val="0F766E"/>
                </a:solidFill>
                <a:latin typeface="Aptos"/>
              </a:rPr>
              <a:t> </a:t>
            </a:r>
            <a:r>
              <a:rPr sz="1250" b="0" i="0" dirty="0" err="1">
                <a:solidFill>
                  <a:srgbClr val="0F766E"/>
                </a:solidFill>
                <a:latin typeface="Aptos"/>
              </a:rPr>
              <a:t>circuiti</a:t>
            </a:r>
            <a:r>
              <a:rPr sz="1250" b="0" i="0" dirty="0">
                <a:solidFill>
                  <a:srgbClr val="0F766E"/>
                </a:solidFill>
                <a:latin typeface="Aptos"/>
              </a:rPr>
              <a:t> </a:t>
            </a:r>
            <a:r>
              <a:rPr sz="1250" b="0" i="0" dirty="0" err="1">
                <a:solidFill>
                  <a:srgbClr val="0F766E"/>
                </a:solidFill>
                <a:latin typeface="Aptos"/>
              </a:rPr>
              <a:t>devono</a:t>
            </a:r>
            <a:r>
              <a:rPr sz="1250" b="0" i="0" dirty="0">
                <a:solidFill>
                  <a:srgbClr val="0F766E"/>
                </a:solidFill>
                <a:latin typeface="Aptos"/>
              </a:rPr>
              <a:t> </a:t>
            </a:r>
            <a:r>
              <a:rPr sz="1250" b="0" i="0" dirty="0" err="1">
                <a:solidFill>
                  <a:srgbClr val="0F766E"/>
                </a:solidFill>
                <a:latin typeface="Aptos"/>
              </a:rPr>
              <a:t>essere</a:t>
            </a:r>
            <a:r>
              <a:rPr sz="1250" b="0" i="0" dirty="0">
                <a:solidFill>
                  <a:srgbClr val="0F766E"/>
                </a:solidFill>
                <a:latin typeface="Aptos"/>
              </a:rPr>
              <a:t> </a:t>
            </a:r>
            <a:r>
              <a:rPr sz="1250" b="0" i="0" dirty="0" err="1">
                <a:solidFill>
                  <a:srgbClr val="0F766E"/>
                </a:solidFill>
                <a:latin typeface="Aptos"/>
              </a:rPr>
              <a:t>simulabili</a:t>
            </a:r>
            <a:r>
              <a:rPr sz="1250" b="0" i="0" dirty="0">
                <a:solidFill>
                  <a:srgbClr val="0F766E"/>
                </a:solidFill>
                <a:latin typeface="Aptos"/>
              </a:rPr>
              <a:t> </a:t>
            </a:r>
            <a:r>
              <a:rPr sz="1250" b="0" i="0" dirty="0" err="1">
                <a:solidFill>
                  <a:srgbClr val="0F766E"/>
                </a:solidFill>
                <a:latin typeface="Aptos"/>
              </a:rPr>
              <a:t>allo</a:t>
            </a:r>
            <a:r>
              <a:rPr sz="1250" b="0" i="0" dirty="0">
                <a:solidFill>
                  <a:srgbClr val="0F766E"/>
                </a:solidFill>
                <a:latin typeface="Aptos"/>
              </a:rPr>
              <a:t> </a:t>
            </a:r>
            <a:r>
              <a:rPr sz="1250" b="0" i="0" dirty="0" err="1">
                <a:solidFill>
                  <a:srgbClr val="0F766E"/>
                </a:solidFill>
                <a:latin typeface="Aptos"/>
              </a:rPr>
              <a:t>stesso</a:t>
            </a:r>
            <a:r>
              <a:rPr sz="1250" b="0" i="0" dirty="0">
                <a:solidFill>
                  <a:srgbClr val="0F766E"/>
                </a:solidFill>
                <a:latin typeface="Aptos"/>
              </a:rPr>
              <a:t> </a:t>
            </a:r>
            <a:r>
              <a:rPr sz="1250" b="0" i="0" dirty="0" err="1">
                <a:solidFill>
                  <a:srgbClr val="0F766E"/>
                </a:solidFill>
                <a:latin typeface="Aptos"/>
              </a:rPr>
              <a:t>livello</a:t>
            </a:r>
            <a:endParaRPr sz="1250" b="0" i="0" dirty="0">
              <a:solidFill>
                <a:srgbClr val="0F766E"/>
              </a:solidFill>
              <a:latin typeface="Apto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0012680" y="292608"/>
            <a:ext cx="1691640" cy="32004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40112" y="345040"/>
            <a:ext cx="1627632" cy="1877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lang="it-IT" sz="1100" b="1" i="0" dirty="0">
                <a:solidFill>
                  <a:srgbClr val="FFFFFF"/>
                </a:solidFill>
                <a:latin typeface="Aptos"/>
              </a:rPr>
              <a:t>02 / Architettura</a:t>
            </a:r>
            <a:endParaRPr sz="110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383280" cy="2212706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527048"/>
            <a:ext cx="3090672" cy="2677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 i="0" dirty="0">
                <a:solidFill>
                  <a:srgbClr val="0F766E"/>
                </a:solidFill>
                <a:latin typeface="Aptos"/>
              </a:rPr>
              <a:t>READY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3090672" cy="96026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endParaRPr lang="it-IT" sz="1500" b="0" i="0" dirty="0">
              <a:solidFill>
                <a:srgbClr val="0F172A"/>
              </a:solidFill>
              <a:latin typeface="Aptos"/>
            </a:endParaRPr>
          </a:p>
          <a:p>
            <a:pPr algn="l"/>
            <a:r>
              <a:rPr sz="1500" b="0" i="0" dirty="0">
                <a:solidFill>
                  <a:srgbClr val="0F172A"/>
                </a:solidFill>
                <a:latin typeface="Aptos"/>
              </a:rPr>
              <a:t>Valori e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modelli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sufficienti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: netlist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eseguibile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e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simulazione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SPICE completa o quasi completa.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383280" cy="226757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9431" y="1527048"/>
            <a:ext cx="3090672" cy="2677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 i="0" dirty="0">
                <a:solidFill>
                  <a:srgbClr val="F59E0B"/>
                </a:solidFill>
                <a:latin typeface="Aptos"/>
              </a:rPr>
              <a:t>PARTIAL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1" y="1874519"/>
            <a:ext cx="3090672" cy="96026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endParaRPr lang="it-IT" sz="1500" b="0" i="0" dirty="0">
              <a:solidFill>
                <a:srgbClr val="0F172A"/>
              </a:solidFill>
              <a:latin typeface="Aptos"/>
            </a:endParaRPr>
          </a:p>
          <a:p>
            <a:pPr algn="l"/>
            <a:r>
              <a:rPr sz="1500" b="0" i="0" dirty="0">
                <a:solidFill>
                  <a:srgbClr val="0F172A"/>
                </a:solidFill>
                <a:latin typeface="Aptos"/>
              </a:rPr>
              <a:t>Manca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qualcosa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: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si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produce netlist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parziale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, report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elettrico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e warning sui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limiti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417320"/>
            <a:ext cx="3383280" cy="226757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02752" y="1527048"/>
            <a:ext cx="3090672" cy="2677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 i="0" dirty="0">
                <a:solidFill>
                  <a:srgbClr val="DC2626"/>
                </a:solidFill>
                <a:latin typeface="Aptos"/>
              </a:rPr>
              <a:t>NOT_READY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1874519"/>
            <a:ext cx="3090672" cy="72943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endParaRPr lang="it-IT" sz="1500" b="0" i="0" dirty="0">
              <a:solidFill>
                <a:srgbClr val="0F172A"/>
              </a:solidFill>
              <a:latin typeface="Aptos"/>
            </a:endParaRPr>
          </a:p>
          <a:p>
            <a:pPr algn="l"/>
            <a:r>
              <a:rPr sz="1500" b="0" i="0" dirty="0">
                <a:solidFill>
                  <a:srgbClr val="0F172A"/>
                </a:solidFill>
                <a:latin typeface="Aptos"/>
              </a:rPr>
              <a:t>Dati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insufficienti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: niente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simulazione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utile, ma report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che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spiega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il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motivo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4786813"/>
            <a:ext cx="10241280" cy="6463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 i="0" dirty="0" err="1">
                <a:solidFill>
                  <a:srgbClr val="0B1F33"/>
                </a:solidFill>
                <a:latin typeface="Aptos"/>
              </a:rPr>
              <a:t>Regola</a:t>
            </a:r>
            <a:r>
              <a:rPr sz="1800" b="1" i="0" dirty="0">
                <a:solidFill>
                  <a:srgbClr val="0B1F33"/>
                </a:solidFill>
                <a:latin typeface="Aptos"/>
              </a:rPr>
              <a:t>: </a:t>
            </a:r>
            <a:r>
              <a:rPr lang="it-IT" b="1" dirty="0">
                <a:solidFill>
                  <a:srgbClr val="0B1F33"/>
                </a:solidFill>
                <a:latin typeface="Aptos"/>
              </a:rPr>
              <a:t>Tutti i circuiti attraversano la stessa pipeline, ma non tutti raggiungono lo stesso livello di simulazione</a:t>
            </a:r>
            <a:r>
              <a:rPr sz="1800" b="1" i="0" dirty="0">
                <a:solidFill>
                  <a:srgbClr val="0B1F33"/>
                </a:solidFill>
                <a:latin typeface="Aptos"/>
              </a:rPr>
              <a:t>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CBD5E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6583680"/>
            <a:ext cx="5486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Aptos"/>
              </a:rPr>
              <a:t>Integrazione JSON → SPICE → diagnosi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583680"/>
            <a:ext cx="6400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96926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 dirty="0">
                <a:solidFill>
                  <a:srgbClr val="0B1F33"/>
                </a:solidFill>
                <a:latin typeface="Aptos Display"/>
              </a:rPr>
              <a:t>Moduli </a:t>
            </a:r>
            <a:r>
              <a:rPr sz="2800" b="1" i="0" dirty="0" err="1">
                <a:solidFill>
                  <a:srgbClr val="0B1F33"/>
                </a:solidFill>
                <a:latin typeface="Aptos Display"/>
              </a:rPr>
              <a:t>principali</a:t>
            </a:r>
            <a:r>
              <a:rPr sz="2800" b="1" i="0" dirty="0">
                <a:solidFill>
                  <a:srgbClr val="0B1F33"/>
                </a:solidFill>
                <a:latin typeface="Aptos Display"/>
              </a:rPr>
              <a:t> da </a:t>
            </a:r>
            <a:r>
              <a:rPr sz="2800" b="1" i="0" dirty="0" err="1">
                <a:solidFill>
                  <a:srgbClr val="0B1F33"/>
                </a:solidFill>
                <a:latin typeface="Aptos Display"/>
              </a:rPr>
              <a:t>sviluppare</a:t>
            </a:r>
            <a:endParaRPr sz="2800" b="1" i="0" dirty="0">
              <a:solidFill>
                <a:srgbClr val="0B1F33"/>
              </a:solidFill>
              <a:latin typeface="Aptos Display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75488" y="713232"/>
            <a:ext cx="9784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0" i="0">
                <a:solidFill>
                  <a:srgbClr val="0F766E"/>
                </a:solidFill>
                <a:latin typeface="Aptos"/>
              </a:rPr>
              <a:t>Architettura semplice, modulare e controllabile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292608"/>
            <a:ext cx="1691640" cy="32004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40112" y="345040"/>
            <a:ext cx="1627632" cy="1877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Aptos"/>
              </a:rPr>
              <a:t>03 / Moduli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34439"/>
            <a:ext cx="2560320" cy="144475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85800" y="1399032"/>
            <a:ext cx="411480" cy="41148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490472"/>
            <a:ext cx="4114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435608"/>
            <a:ext cx="1645920" cy="480131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500" b="1" i="0" dirty="0" err="1">
                <a:solidFill>
                  <a:srgbClr val="0B1F33"/>
                </a:solidFill>
                <a:latin typeface="Aptos"/>
              </a:rPr>
              <a:t>Normalizzatore</a:t>
            </a:r>
            <a:r>
              <a:rPr sz="1500" b="1" i="0" dirty="0">
                <a:solidFill>
                  <a:srgbClr val="0B1F33"/>
                </a:solidFill>
                <a:latin typeface="Aptos"/>
              </a:rPr>
              <a:t> JSON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08960" y="1947672"/>
            <a:ext cx="292608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456432" y="1234440"/>
            <a:ext cx="25603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593592" y="1399032"/>
            <a:ext cx="411480" cy="411480"/>
          </a:xfrm>
          <a:prstGeom prst="ellipse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93592" y="1490472"/>
            <a:ext cx="4114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42232" y="1435608"/>
            <a:ext cx="1645920" cy="249299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lang="it-IT" sz="1500" b="1" i="0" dirty="0">
                <a:solidFill>
                  <a:srgbClr val="0B1F33"/>
                </a:solidFill>
                <a:latin typeface="Aptos"/>
              </a:rPr>
              <a:t>Ricostruzione nodi</a:t>
            </a:r>
            <a:endParaRPr sz="1500" b="1" i="0" dirty="0">
              <a:solidFill>
                <a:srgbClr val="0B1F33"/>
              </a:solidFill>
              <a:latin typeface="Aptos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6016752" y="1947672"/>
            <a:ext cx="292608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364224" y="1234440"/>
            <a:ext cx="25603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501384" y="1399032"/>
            <a:ext cx="411480" cy="41148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01384" y="1490472"/>
            <a:ext cx="4114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0024" y="1435608"/>
            <a:ext cx="1645920" cy="249299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lang="it-IT" sz="1500" b="1" i="0" dirty="0">
                <a:solidFill>
                  <a:srgbClr val="0B1F33"/>
                </a:solidFill>
                <a:latin typeface="Aptos"/>
              </a:rPr>
              <a:t>Binding valori</a:t>
            </a:r>
            <a:endParaRPr sz="1500" b="1" i="0" dirty="0">
              <a:solidFill>
                <a:srgbClr val="0B1F33"/>
              </a:solidFill>
              <a:latin typeface="Aptos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8924544" y="1947672"/>
            <a:ext cx="292608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272016" y="1234440"/>
            <a:ext cx="25603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409176" y="1399032"/>
            <a:ext cx="411480" cy="41148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409176" y="1490472"/>
            <a:ext cx="4114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57816" y="1435608"/>
            <a:ext cx="1746504" cy="249299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lang="it-IT" sz="1500" b="1" i="0" dirty="0">
                <a:solidFill>
                  <a:srgbClr val="0B1F33"/>
                </a:solidFill>
                <a:latin typeface="Aptos"/>
              </a:rPr>
              <a:t>Regole componenti</a:t>
            </a:r>
            <a:endParaRPr sz="1500" b="1" i="0" dirty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548640" y="3115318"/>
            <a:ext cx="25603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85800" y="3279910"/>
            <a:ext cx="411480" cy="411480"/>
          </a:xfrm>
          <a:prstGeom prst="ellipse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5800" y="3371350"/>
            <a:ext cx="4114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3316486"/>
            <a:ext cx="1645920" cy="480131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lang="it-IT" sz="1500" b="1" i="0" dirty="0">
                <a:solidFill>
                  <a:srgbClr val="0B1F33"/>
                </a:solidFill>
                <a:latin typeface="Aptos"/>
              </a:rPr>
              <a:t>Generazione </a:t>
            </a:r>
            <a:r>
              <a:rPr lang="it-IT" sz="1500" b="1" i="0" dirty="0" err="1">
                <a:solidFill>
                  <a:srgbClr val="0B1F33"/>
                </a:solidFill>
                <a:latin typeface="Aptos"/>
              </a:rPr>
              <a:t>netlist</a:t>
            </a:r>
            <a:endParaRPr sz="1500" b="1" i="0" dirty="0">
              <a:solidFill>
                <a:srgbClr val="0B1F33"/>
              </a:solidFill>
              <a:latin typeface="Aptos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3108960" y="3828550"/>
            <a:ext cx="292608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3456432" y="3115318"/>
            <a:ext cx="25603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3593592" y="3279910"/>
            <a:ext cx="411480" cy="411480"/>
          </a:xfrm>
          <a:prstGeom prst="ellipse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593592" y="3371350"/>
            <a:ext cx="4114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42232" y="3316486"/>
            <a:ext cx="1645920" cy="249299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lang="it-IT" sz="1500" b="1" i="0" dirty="0">
                <a:solidFill>
                  <a:srgbClr val="0B1F33"/>
                </a:solidFill>
                <a:latin typeface="Aptos"/>
              </a:rPr>
              <a:t>Esecuzione SPICE</a:t>
            </a:r>
            <a:endParaRPr sz="1500" b="1" i="0" dirty="0">
              <a:solidFill>
                <a:srgbClr val="0B1F33"/>
              </a:solidFill>
              <a:latin typeface="Aptos"/>
            </a:endParaRPr>
          </a:p>
        </p:txBody>
      </p:sp>
      <p:cxnSp>
        <p:nvCxnSpPr>
          <p:cNvPr id="34" name="Connector 33"/>
          <p:cNvCxnSpPr/>
          <p:nvPr/>
        </p:nvCxnSpPr>
        <p:spPr>
          <a:xfrm>
            <a:off x="6016752" y="3828550"/>
            <a:ext cx="292608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364224" y="3115318"/>
            <a:ext cx="25603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6501384" y="3279910"/>
            <a:ext cx="411480" cy="411480"/>
          </a:xfrm>
          <a:prstGeom prst="ellipse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01384" y="3371350"/>
            <a:ext cx="4114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50024" y="3316486"/>
            <a:ext cx="1645920" cy="249299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lang="it-IT" sz="1500" b="1" i="0" dirty="0">
                <a:solidFill>
                  <a:srgbClr val="0B1F33"/>
                </a:solidFill>
                <a:latin typeface="Aptos"/>
              </a:rPr>
              <a:t>Report elettrico</a:t>
            </a:r>
            <a:endParaRPr sz="1500" b="1" i="0" dirty="0">
              <a:solidFill>
                <a:srgbClr val="0B1F33"/>
              </a:solidFill>
              <a:latin typeface="Aptos"/>
            </a:endParaRPr>
          </a:p>
        </p:txBody>
      </p:sp>
      <p:cxnSp>
        <p:nvCxnSpPr>
          <p:cNvPr id="39" name="Connector 38"/>
          <p:cNvCxnSpPr/>
          <p:nvPr/>
        </p:nvCxnSpPr>
        <p:spPr>
          <a:xfrm>
            <a:off x="8924544" y="3828550"/>
            <a:ext cx="292608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9272016" y="3115318"/>
            <a:ext cx="25603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9409176" y="3279910"/>
            <a:ext cx="411480" cy="411480"/>
          </a:xfrm>
          <a:prstGeom prst="ellipse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409176" y="3371350"/>
            <a:ext cx="4114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57816" y="3316486"/>
            <a:ext cx="1645920" cy="480131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lang="it-IT" sz="1500" b="1" i="0" dirty="0">
                <a:solidFill>
                  <a:srgbClr val="0B1F33"/>
                </a:solidFill>
                <a:latin typeface="Aptos"/>
              </a:rPr>
              <a:t>Contesto Diagnostico</a:t>
            </a:r>
            <a:endParaRPr sz="1500" b="1" i="0" dirty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CBD5E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57200" y="6583680"/>
            <a:ext cx="5486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Aptos"/>
              </a:rPr>
              <a:t>Integrazione JSON → SPICE → diagnosi AI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64240" y="6583680"/>
            <a:ext cx="6400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  <a:latin typeface="Aptos"/>
              </a:rPr>
              <a:t>10</a:t>
            </a:r>
          </a:p>
        </p:txBody>
      </p:sp>
      <p:sp>
        <p:nvSpPr>
          <p:cNvPr id="47" name="Rounded Rectangle 39">
            <a:extLst>
              <a:ext uri="{FF2B5EF4-FFF2-40B4-BE49-F238E27FC236}">
                <a16:creationId xmlns:a16="http://schemas.microsoft.com/office/drawing/2014/main" id="{A800B406-EDEF-0680-86D6-06F31B7C79E9}"/>
              </a:ext>
            </a:extLst>
          </p:cNvPr>
          <p:cNvSpPr/>
          <p:nvPr/>
        </p:nvSpPr>
        <p:spPr>
          <a:xfrm>
            <a:off x="548640" y="4914901"/>
            <a:ext cx="25603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0">
            <a:extLst>
              <a:ext uri="{FF2B5EF4-FFF2-40B4-BE49-F238E27FC236}">
                <a16:creationId xmlns:a16="http://schemas.microsoft.com/office/drawing/2014/main" id="{F8275E6E-56E2-1C26-0BBD-1B093E400051}"/>
              </a:ext>
            </a:extLst>
          </p:cNvPr>
          <p:cNvSpPr/>
          <p:nvPr/>
        </p:nvSpPr>
        <p:spPr>
          <a:xfrm>
            <a:off x="771537" y="5090886"/>
            <a:ext cx="411480" cy="411480"/>
          </a:xfrm>
          <a:prstGeom prst="ellipse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9</a:t>
            </a:r>
            <a:endParaRPr dirty="0"/>
          </a:p>
        </p:txBody>
      </p:sp>
      <p:sp>
        <p:nvSpPr>
          <p:cNvPr id="50" name="TextBox 42">
            <a:extLst>
              <a:ext uri="{FF2B5EF4-FFF2-40B4-BE49-F238E27FC236}">
                <a16:creationId xmlns:a16="http://schemas.microsoft.com/office/drawing/2014/main" id="{AD9EE650-A676-0AA4-2CE9-AE25E20C3191}"/>
              </a:ext>
            </a:extLst>
          </p:cNvPr>
          <p:cNvSpPr txBox="1"/>
          <p:nvPr/>
        </p:nvSpPr>
        <p:spPr>
          <a:xfrm>
            <a:off x="1320177" y="5127462"/>
            <a:ext cx="1645920" cy="249299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lang="it-IT" sz="1500" b="1" i="0" dirty="0">
                <a:solidFill>
                  <a:srgbClr val="0B1F33"/>
                </a:solidFill>
                <a:latin typeface="Aptos"/>
              </a:rPr>
              <a:t>Agente AI</a:t>
            </a:r>
            <a:endParaRPr sz="1500" b="1" i="0" dirty="0">
              <a:solidFill>
                <a:srgbClr val="0B1F33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969264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 dirty="0">
                <a:solidFill>
                  <a:srgbClr val="0B1F33"/>
                </a:solidFill>
                <a:latin typeface="Aptos Display"/>
              </a:rPr>
              <a:t>Modul</a:t>
            </a:r>
            <a:r>
              <a:rPr lang="it-IT" sz="2800" b="1" dirty="0">
                <a:solidFill>
                  <a:srgbClr val="0B1F33"/>
                </a:solidFill>
                <a:latin typeface="Aptos Display"/>
              </a:rPr>
              <a:t>i</a:t>
            </a:r>
            <a:r>
              <a:rPr sz="2800" b="1" i="0" dirty="0">
                <a:solidFill>
                  <a:srgbClr val="0B1F33"/>
                </a:solidFill>
                <a:latin typeface="Aptos Display"/>
              </a:rPr>
              <a:t> 1</a:t>
            </a:r>
            <a:r>
              <a:rPr lang="it-IT" sz="2800" b="1" i="0" dirty="0">
                <a:solidFill>
                  <a:srgbClr val="0B1F33"/>
                </a:solidFill>
                <a:latin typeface="Aptos Display"/>
              </a:rPr>
              <a:t> </a:t>
            </a:r>
            <a:r>
              <a:rPr sz="2800" b="1" i="0" dirty="0">
                <a:solidFill>
                  <a:srgbClr val="0B1F33"/>
                </a:solidFill>
                <a:latin typeface="Aptos Display"/>
              </a:rPr>
              <a:t>–</a:t>
            </a:r>
            <a:r>
              <a:rPr lang="it-IT" sz="2800" b="1" i="0" dirty="0">
                <a:solidFill>
                  <a:srgbClr val="0B1F33"/>
                </a:solidFill>
                <a:latin typeface="Aptos Display"/>
              </a:rPr>
              <a:t> </a:t>
            </a:r>
            <a:r>
              <a:rPr sz="2800" b="1" i="0" dirty="0">
                <a:solidFill>
                  <a:srgbClr val="0B1F33"/>
                </a:solidFill>
                <a:latin typeface="Aptos Display"/>
              </a:rPr>
              <a:t>2: </a:t>
            </a:r>
            <a:r>
              <a:rPr sz="2800" b="1" i="0" dirty="0" err="1">
                <a:solidFill>
                  <a:srgbClr val="0B1F33"/>
                </a:solidFill>
                <a:latin typeface="Aptos Display"/>
              </a:rPr>
              <a:t>normalizzazione</a:t>
            </a:r>
            <a:r>
              <a:rPr sz="2800" b="1" i="0" dirty="0">
                <a:solidFill>
                  <a:srgbClr val="0B1F33"/>
                </a:solidFill>
                <a:latin typeface="Aptos Display"/>
              </a:rPr>
              <a:t> e node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713232"/>
            <a:ext cx="9784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0" i="0">
                <a:solidFill>
                  <a:srgbClr val="0F766E"/>
                </a:solidFill>
                <a:latin typeface="Aptos"/>
              </a:rPr>
              <a:t>Dal grafo dei terminali ai nodi SPICE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292608"/>
            <a:ext cx="1691640" cy="32004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40112" y="345040"/>
            <a:ext cx="1627632" cy="1877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Aptos"/>
              </a:rPr>
              <a:t>03 / Moduli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97280"/>
            <a:ext cx="297180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207007"/>
            <a:ext cx="2679192" cy="2677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 i="0" dirty="0">
                <a:solidFill>
                  <a:srgbClr val="0B1F33"/>
                </a:solidFill>
                <a:latin typeface="Aptos"/>
              </a:rPr>
              <a:t>Input 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554479"/>
            <a:ext cx="2679192" cy="252992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endParaRPr lang="it-IT" sz="1500" b="0" i="0" dirty="0">
              <a:solidFill>
                <a:srgbClr val="0F172A"/>
              </a:solidFill>
              <a:latin typeface="Aptos"/>
            </a:endParaRPr>
          </a:p>
          <a:p>
            <a:pPr algn="l"/>
            <a:r>
              <a:rPr sz="1500" b="0" i="0" dirty="0" err="1">
                <a:solidFill>
                  <a:srgbClr val="0F172A"/>
                </a:solidFill>
                <a:latin typeface="Aptos"/>
              </a:rPr>
              <a:t>componenti</a:t>
            </a:r>
            <a:br>
              <a:rPr dirty="0"/>
            </a:br>
            <a:endParaRPr lang="it-IT" dirty="0"/>
          </a:p>
          <a:p>
            <a:pPr algn="l"/>
            <a:r>
              <a:rPr sz="1500" b="0" i="0" dirty="0" err="1">
                <a:solidFill>
                  <a:srgbClr val="0F172A"/>
                </a:solidFill>
                <a:latin typeface="Aptos"/>
              </a:rPr>
              <a:t>terminali</a:t>
            </a:r>
            <a:br>
              <a:rPr dirty="0"/>
            </a:br>
            <a:endParaRPr lang="it-IT" dirty="0"/>
          </a:p>
          <a:p>
            <a:pPr algn="l"/>
            <a:r>
              <a:rPr sz="1500" b="0" i="0" dirty="0">
                <a:solidFill>
                  <a:srgbClr val="0F172A"/>
                </a:solidFill>
                <a:latin typeface="Aptos"/>
              </a:rPr>
              <a:t>graph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dei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collegamenti</a:t>
            </a:r>
            <a:br>
              <a:rPr dirty="0"/>
            </a:br>
            <a:endParaRPr lang="it-IT" dirty="0"/>
          </a:p>
          <a:p>
            <a:pPr algn="l"/>
            <a:r>
              <a:rPr sz="1500" b="0" i="0" dirty="0" err="1">
                <a:solidFill>
                  <a:srgbClr val="0F172A"/>
                </a:solidFill>
                <a:latin typeface="Aptos"/>
              </a:rPr>
              <a:t>stati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switch</a:t>
            </a:r>
            <a:br>
              <a:rPr dirty="0"/>
            </a:br>
            <a:endParaRPr lang="it-IT" dirty="0"/>
          </a:p>
          <a:p>
            <a:pPr algn="l"/>
            <a:r>
              <a:rPr sz="1500" b="0" i="0" dirty="0">
                <a:solidFill>
                  <a:srgbClr val="0F172A"/>
                </a:solidFill>
                <a:latin typeface="Aptos"/>
              </a:rPr>
              <a:t>warning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097280"/>
            <a:ext cx="2971800" cy="438912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82312" y="1207007"/>
            <a:ext cx="2679192" cy="2677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 i="0" dirty="0">
                <a:solidFill>
                  <a:srgbClr val="0B1F33"/>
                </a:solidFill>
                <a:latin typeface="Aptos"/>
              </a:rPr>
              <a:t>Node builder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82312" y="1554479"/>
            <a:ext cx="2679192" cy="20220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endParaRPr lang="it-IT" sz="1500" b="0" i="0" dirty="0">
              <a:solidFill>
                <a:srgbClr val="0F172A"/>
              </a:solidFill>
              <a:latin typeface="Aptos"/>
            </a:endParaRPr>
          </a:p>
          <a:p>
            <a:pPr algn="l"/>
            <a:r>
              <a:rPr sz="1500" b="0" i="0" dirty="0" err="1">
                <a:solidFill>
                  <a:srgbClr val="0F172A"/>
                </a:solidFill>
                <a:latin typeface="Aptos"/>
              </a:rPr>
              <a:t>raggruppa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terminali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connessi</a:t>
            </a:r>
            <a:br>
              <a:rPr dirty="0"/>
            </a:br>
            <a:endParaRPr lang="it-IT" dirty="0"/>
          </a:p>
          <a:p>
            <a:pPr algn="l"/>
            <a:r>
              <a:rPr sz="1500" b="0" i="0" dirty="0" err="1">
                <a:solidFill>
                  <a:srgbClr val="0F172A"/>
                </a:solidFill>
                <a:latin typeface="Aptos"/>
              </a:rPr>
              <a:t>identifica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GND =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nodo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0</a:t>
            </a:r>
            <a:br>
              <a:rPr dirty="0"/>
            </a:br>
            <a:endParaRPr lang="it-IT" dirty="0"/>
          </a:p>
          <a:p>
            <a:pPr algn="l"/>
            <a:r>
              <a:rPr sz="1500" b="0" i="0" dirty="0" err="1">
                <a:solidFill>
                  <a:srgbClr val="0F172A"/>
                </a:solidFill>
                <a:latin typeface="Aptos"/>
              </a:rPr>
              <a:t>crea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N001, N002, ...</a:t>
            </a:r>
            <a:br>
              <a:rPr dirty="0"/>
            </a:br>
            <a:endParaRPr lang="it-IT" dirty="0"/>
          </a:p>
          <a:p>
            <a:pPr algn="l"/>
            <a:r>
              <a:rPr sz="1500" b="0" i="0" dirty="0" err="1">
                <a:solidFill>
                  <a:srgbClr val="0F172A"/>
                </a:solidFill>
                <a:latin typeface="Aptos"/>
              </a:rPr>
              <a:t>segnala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nodi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flottanti</a:t>
            </a:r>
            <a:endParaRPr sz="1500" b="0" i="0" dirty="0">
              <a:solidFill>
                <a:srgbClr val="0F172A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641080" y="1097280"/>
            <a:ext cx="297180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05672" y="1207007"/>
            <a:ext cx="2679192" cy="2677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 i="0" dirty="0" err="1">
                <a:solidFill>
                  <a:srgbClr val="0B1F33"/>
                </a:solidFill>
                <a:latin typeface="Aptos"/>
              </a:rPr>
              <a:t>node_map.json</a:t>
            </a:r>
            <a:endParaRPr sz="1500" b="1" i="0" dirty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805672" y="1554479"/>
            <a:ext cx="2679192" cy="20220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endParaRPr lang="it-IT" sz="1500" b="0" i="0" dirty="0">
              <a:solidFill>
                <a:srgbClr val="0F172A"/>
              </a:solidFill>
              <a:latin typeface="Aptos"/>
            </a:endParaRPr>
          </a:p>
          <a:p>
            <a:pPr algn="l"/>
            <a:r>
              <a:rPr sz="1500" b="0" i="0" dirty="0" err="1">
                <a:solidFill>
                  <a:srgbClr val="0F172A"/>
                </a:solidFill>
                <a:latin typeface="Aptos"/>
              </a:rPr>
              <a:t>terminale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→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nodo</a:t>
            </a:r>
            <a:br>
              <a:rPr dirty="0"/>
            </a:br>
            <a:endParaRPr lang="it-IT" dirty="0"/>
          </a:p>
          <a:p>
            <a:pPr algn="l"/>
            <a:r>
              <a:rPr sz="1500" b="0" i="0" dirty="0" err="1">
                <a:solidFill>
                  <a:srgbClr val="0F172A"/>
                </a:solidFill>
                <a:latin typeface="Aptos"/>
              </a:rPr>
              <a:t>lista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nodi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principali</a:t>
            </a:r>
            <a:br>
              <a:rPr dirty="0"/>
            </a:br>
            <a:endParaRPr lang="it-IT" dirty="0"/>
          </a:p>
          <a:p>
            <a:pPr algn="l"/>
            <a:r>
              <a:rPr sz="1500" b="0" i="0" dirty="0">
                <a:solidFill>
                  <a:srgbClr val="0F172A"/>
                </a:solidFill>
                <a:latin typeface="Aptos"/>
              </a:rPr>
              <a:t>warning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preservati</a:t>
            </a:r>
            <a:br>
              <a:rPr dirty="0"/>
            </a:br>
            <a:endParaRPr lang="it-IT" dirty="0"/>
          </a:p>
          <a:p>
            <a:pPr algn="l"/>
            <a:r>
              <a:rPr sz="1500" b="0" i="0" dirty="0">
                <a:solidFill>
                  <a:srgbClr val="0F172A"/>
                </a:solidFill>
                <a:latin typeface="Aptos"/>
              </a:rPr>
              <a:t>base per la netlist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611880" y="3291840"/>
            <a:ext cx="960120" cy="0"/>
          </a:xfrm>
          <a:prstGeom prst="line">
            <a:avLst/>
          </a:prstGeom>
          <a:ln w="254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635240" y="3291840"/>
            <a:ext cx="960120" cy="0"/>
          </a:xfrm>
          <a:prstGeom prst="line">
            <a:avLst/>
          </a:prstGeom>
          <a:ln w="254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CBD5E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6583680"/>
            <a:ext cx="5486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Aptos"/>
              </a:rPr>
              <a:t>Integrazione JSON → SPICE → diagnosi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583680"/>
            <a:ext cx="6400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969264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 dirty="0">
                <a:solidFill>
                  <a:srgbClr val="0B1F33"/>
                </a:solidFill>
                <a:latin typeface="Aptos Display"/>
              </a:rPr>
              <a:t>Modul</a:t>
            </a:r>
            <a:r>
              <a:rPr lang="it-IT" sz="2800" b="1" i="0" dirty="0">
                <a:solidFill>
                  <a:srgbClr val="0B1F33"/>
                </a:solidFill>
                <a:latin typeface="Aptos Display"/>
              </a:rPr>
              <a:t>i</a:t>
            </a:r>
            <a:r>
              <a:rPr sz="2800" b="1" i="0" dirty="0">
                <a:solidFill>
                  <a:srgbClr val="0B1F33"/>
                </a:solidFill>
                <a:latin typeface="Aptos Display"/>
              </a:rPr>
              <a:t> 3</a:t>
            </a:r>
            <a:r>
              <a:rPr lang="it-IT" sz="2800" b="1" i="0" dirty="0">
                <a:solidFill>
                  <a:srgbClr val="0B1F33"/>
                </a:solidFill>
                <a:latin typeface="Aptos Display"/>
              </a:rPr>
              <a:t> </a:t>
            </a:r>
            <a:r>
              <a:rPr sz="2800" b="1" i="0" dirty="0">
                <a:solidFill>
                  <a:srgbClr val="0B1F33"/>
                </a:solidFill>
                <a:latin typeface="Aptos Display"/>
              </a:rPr>
              <a:t>–</a:t>
            </a:r>
            <a:r>
              <a:rPr lang="it-IT" sz="2800" b="1" i="0" dirty="0">
                <a:solidFill>
                  <a:srgbClr val="0B1F33"/>
                </a:solidFill>
                <a:latin typeface="Aptos Display"/>
              </a:rPr>
              <a:t> </a:t>
            </a:r>
            <a:r>
              <a:rPr sz="2800" b="1" i="0" dirty="0">
                <a:solidFill>
                  <a:srgbClr val="0B1F33"/>
                </a:solidFill>
                <a:latin typeface="Aptos Display"/>
              </a:rPr>
              <a:t>4</a:t>
            </a:r>
            <a:r>
              <a:rPr lang="it-IT" sz="2800" b="1" i="0" dirty="0">
                <a:solidFill>
                  <a:srgbClr val="0B1F33"/>
                </a:solidFill>
                <a:latin typeface="Aptos Display"/>
              </a:rPr>
              <a:t> - 5</a:t>
            </a:r>
            <a:r>
              <a:rPr sz="2800" b="1" i="0" dirty="0">
                <a:solidFill>
                  <a:srgbClr val="0B1F33"/>
                </a:solidFill>
                <a:latin typeface="Aptos Display"/>
              </a:rPr>
              <a:t>: dal YAML alla netlist SPICE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713232"/>
            <a:ext cx="9784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0" i="0">
                <a:solidFill>
                  <a:srgbClr val="0F766E"/>
                </a:solidFill>
                <a:latin typeface="Aptos"/>
              </a:rPr>
              <a:t>Nessun valore viene inventato: tutto è dichiarato o segnalato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292608"/>
            <a:ext cx="1691640" cy="32004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40112" y="345040"/>
            <a:ext cx="1627632" cy="1877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Aptos"/>
              </a:rPr>
              <a:t>03 / Moduli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9728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1" y="1207007"/>
            <a:ext cx="4919472" cy="2985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700" b="1" i="0" dirty="0" err="1">
                <a:solidFill>
                  <a:srgbClr val="0B1F33"/>
                </a:solidFill>
                <a:latin typeface="Aptos"/>
              </a:rPr>
              <a:t>Conversioni</a:t>
            </a:r>
            <a:r>
              <a:rPr sz="1700" b="1" i="0" dirty="0">
                <a:solidFill>
                  <a:srgbClr val="0B1F33"/>
                </a:solidFill>
                <a:latin typeface="Aptos"/>
              </a:rPr>
              <a:t> </a:t>
            </a:r>
            <a:r>
              <a:rPr sz="1700" b="1" i="0" dirty="0" err="1">
                <a:solidFill>
                  <a:srgbClr val="0B1F33"/>
                </a:solidFill>
                <a:latin typeface="Aptos"/>
              </a:rPr>
              <a:t>iniziali</a:t>
            </a:r>
            <a:endParaRPr sz="1700" b="1" i="0" dirty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04671" y="1554479"/>
            <a:ext cx="4919472" cy="342657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 err="1">
                <a:solidFill>
                  <a:srgbClr val="0F172A"/>
                </a:solidFill>
                <a:latin typeface="Aptos"/>
              </a:rPr>
              <a:t>Resistenza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→ R n1 n2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valore</a:t>
            </a:r>
            <a:endParaRPr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 err="1">
                <a:solidFill>
                  <a:srgbClr val="0F172A"/>
                </a:solidFill>
                <a:latin typeface="Aptos"/>
              </a:rPr>
              <a:t>Condensatore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→ C n1 n2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valore</a:t>
            </a:r>
            <a:endParaRPr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 err="1">
                <a:solidFill>
                  <a:srgbClr val="0F172A"/>
                </a:solidFill>
                <a:latin typeface="Aptos"/>
              </a:rPr>
              <a:t>Batteria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/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sorgente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→ V n+ n- DC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valore</a:t>
            </a:r>
            <a:endParaRPr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>
                <a:solidFill>
                  <a:srgbClr val="0F172A"/>
                </a:solidFill>
                <a:latin typeface="Aptos"/>
              </a:rPr>
              <a:t>LED/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diodo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→ D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anodo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catodo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modello</a:t>
            </a:r>
            <a:endParaRPr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 err="1">
                <a:solidFill>
                  <a:srgbClr val="0F172A"/>
                </a:solidFill>
                <a:latin typeface="Aptos"/>
              </a:rPr>
              <a:t>Lampada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/speaker →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carico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equivalente</a:t>
            </a:r>
            <a:endParaRPr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>
                <a:solidFill>
                  <a:srgbClr val="0F172A"/>
                </a:solidFill>
                <a:latin typeface="Aptos"/>
              </a:rPr>
              <a:t>Transistor → Q / M con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modello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generico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o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specifico</a:t>
            </a:r>
            <a:endParaRPr sz="1500" b="0" dirty="0">
              <a:solidFill>
                <a:srgbClr val="0F172A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63640" y="1097280"/>
            <a:ext cx="521208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28231" y="1207007"/>
            <a:ext cx="4919472" cy="2985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700" b="1" i="0" dirty="0" err="1">
                <a:solidFill>
                  <a:srgbClr val="14B8A6"/>
                </a:solidFill>
                <a:latin typeface="Aptos"/>
              </a:rPr>
              <a:t>Esempio</a:t>
            </a:r>
            <a:r>
              <a:rPr sz="1700" b="1" i="0" dirty="0">
                <a:solidFill>
                  <a:srgbClr val="14B8A6"/>
                </a:solidFill>
                <a:latin typeface="Aptos"/>
              </a:rPr>
              <a:t> di netlist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700784"/>
            <a:ext cx="4663440" cy="236372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endParaRPr lang="it-IT" sz="1500" b="0" i="0" dirty="0">
              <a:solidFill>
                <a:srgbClr val="FFFFFF"/>
              </a:solidFill>
              <a:latin typeface="Consolas"/>
            </a:endParaRPr>
          </a:p>
          <a:p>
            <a:pPr algn="l"/>
            <a:r>
              <a:rPr sz="1500" b="0" i="0" dirty="0">
                <a:solidFill>
                  <a:srgbClr val="FFFFFF"/>
                </a:solidFill>
                <a:latin typeface="Consolas"/>
              </a:rPr>
              <a:t>V1 </a:t>
            </a:r>
            <a:r>
              <a:rPr sz="1500" b="0" i="0" dirty="0" err="1">
                <a:solidFill>
                  <a:srgbClr val="FFFFFF"/>
                </a:solidFill>
                <a:latin typeface="Consolas"/>
              </a:rPr>
              <a:t>vcc</a:t>
            </a:r>
            <a:r>
              <a:rPr sz="1500" b="0" i="0" dirty="0">
                <a:solidFill>
                  <a:srgbClr val="FFFFFF"/>
                </a:solidFill>
                <a:latin typeface="Consolas"/>
              </a:rPr>
              <a:t> 0 DC 5</a:t>
            </a:r>
            <a:br>
              <a:rPr sz="1500" dirty="0"/>
            </a:br>
            <a:r>
              <a:rPr sz="1500" b="0" i="0" dirty="0">
                <a:solidFill>
                  <a:srgbClr val="FFFFFF"/>
                </a:solidFill>
                <a:latin typeface="Consolas"/>
              </a:rPr>
              <a:t>R1 </a:t>
            </a:r>
            <a:r>
              <a:rPr sz="1500" b="0" i="0" dirty="0" err="1">
                <a:solidFill>
                  <a:srgbClr val="FFFFFF"/>
                </a:solidFill>
                <a:latin typeface="Consolas"/>
              </a:rPr>
              <a:t>vcc</a:t>
            </a:r>
            <a:r>
              <a:rPr sz="1500" b="0" i="0" dirty="0">
                <a:solidFill>
                  <a:srgbClr val="FFFFFF"/>
                </a:solidFill>
                <a:latin typeface="Consolas"/>
              </a:rPr>
              <a:t> n1 330</a:t>
            </a:r>
            <a:br>
              <a:rPr sz="1500" dirty="0"/>
            </a:br>
            <a:r>
              <a:rPr sz="1500" b="0" i="0" dirty="0">
                <a:solidFill>
                  <a:srgbClr val="FFFFFF"/>
                </a:solidFill>
                <a:latin typeface="Consolas"/>
              </a:rPr>
              <a:t>D1 n1 0 LED_RED</a:t>
            </a:r>
            <a:br>
              <a:rPr sz="1500" dirty="0"/>
            </a:br>
            <a:r>
              <a:rPr sz="1500" b="0" i="0" dirty="0">
                <a:solidFill>
                  <a:srgbClr val="FFFFFF"/>
                </a:solidFill>
                <a:latin typeface="Consolas"/>
              </a:rPr>
              <a:t>C1 n2 0 100n</a:t>
            </a:r>
            <a:br>
              <a:rPr sz="1500" dirty="0"/>
            </a:br>
            <a:br>
              <a:rPr sz="1500" dirty="0"/>
            </a:br>
            <a:endParaRPr lang="it-IT" sz="1500" dirty="0"/>
          </a:p>
          <a:p>
            <a:pPr algn="l"/>
            <a:r>
              <a:rPr sz="1500" b="0" i="0" dirty="0">
                <a:solidFill>
                  <a:srgbClr val="FFFFFF"/>
                </a:solidFill>
                <a:latin typeface="Consolas"/>
              </a:rPr>
              <a:t>.model LED_RED D(Is=1e-14 N=2)</a:t>
            </a:r>
            <a:br>
              <a:rPr sz="1500" dirty="0"/>
            </a:br>
            <a:r>
              <a:rPr sz="1500" b="0" i="0" dirty="0">
                <a:solidFill>
                  <a:srgbClr val="FFFFFF"/>
                </a:solidFill>
                <a:latin typeface="Consolas"/>
              </a:rPr>
              <a:t>.op</a:t>
            </a:r>
            <a:br>
              <a:rPr sz="1500" dirty="0"/>
            </a:br>
            <a:r>
              <a:rPr sz="1500" b="0" i="0" dirty="0">
                <a:solidFill>
                  <a:srgbClr val="FFFFFF"/>
                </a:solidFill>
                <a:latin typeface="Consolas"/>
              </a:rPr>
              <a:t>.end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CBD5E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6583680"/>
            <a:ext cx="5486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Aptos"/>
              </a:rPr>
              <a:t>Integrazione JSON → SPICE → diagnosi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583680"/>
            <a:ext cx="6400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969264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 dirty="0">
                <a:solidFill>
                  <a:srgbClr val="0B1F33"/>
                </a:solidFill>
                <a:latin typeface="Aptos Display"/>
              </a:rPr>
              <a:t>Modulo </a:t>
            </a:r>
            <a:r>
              <a:rPr lang="it-IT" sz="2800" b="1" i="0" dirty="0">
                <a:solidFill>
                  <a:srgbClr val="0B1F33"/>
                </a:solidFill>
                <a:latin typeface="Aptos Display"/>
              </a:rPr>
              <a:t>6</a:t>
            </a:r>
            <a:r>
              <a:rPr sz="2800" b="1" i="0" dirty="0">
                <a:solidFill>
                  <a:srgbClr val="0B1F33"/>
                </a:solidFill>
                <a:latin typeface="Aptos Display"/>
              </a:rPr>
              <a:t>: </a:t>
            </a:r>
            <a:r>
              <a:rPr sz="2800" b="1" i="0" dirty="0" err="1">
                <a:solidFill>
                  <a:srgbClr val="0B1F33"/>
                </a:solidFill>
                <a:latin typeface="Aptos Display"/>
              </a:rPr>
              <a:t>esecuzione</a:t>
            </a:r>
            <a:r>
              <a:rPr sz="2800" b="1" i="0" dirty="0">
                <a:solidFill>
                  <a:srgbClr val="0B1F33"/>
                </a:solidFill>
                <a:latin typeface="Aptos Display"/>
              </a:rPr>
              <a:t> SPICE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713232"/>
            <a:ext cx="9784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0" i="0">
                <a:solidFill>
                  <a:srgbClr val="0F766E"/>
                </a:solidFill>
                <a:latin typeface="Aptos"/>
              </a:rPr>
              <a:t>Prima versione: .op, .tran e .measure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292608"/>
            <a:ext cx="1691640" cy="32004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40112" y="345040"/>
            <a:ext cx="1627632" cy="1877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Aptos"/>
              </a:rPr>
              <a:t>03 / Moduli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9" y="2021512"/>
            <a:ext cx="3474720" cy="2656297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131239"/>
            <a:ext cx="3182112" cy="2985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700" b="1" i="0" dirty="0">
                <a:solidFill>
                  <a:srgbClr val="2563EB"/>
                </a:solidFill>
                <a:latin typeface="Aptos"/>
              </a:rPr>
              <a:t>.op</a:t>
            </a:r>
            <a:r>
              <a:rPr lang="it-IT" sz="1700" b="1" i="0" dirty="0">
                <a:solidFill>
                  <a:srgbClr val="2563EB"/>
                </a:solidFill>
                <a:latin typeface="Aptos"/>
              </a:rPr>
              <a:t> - </a:t>
            </a:r>
            <a:r>
              <a:rPr sz="1700" b="1" i="0" dirty="0">
                <a:solidFill>
                  <a:srgbClr val="2563EB"/>
                </a:solidFill>
                <a:latin typeface="Aptos"/>
              </a:rPr>
              <a:t>operating 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78711"/>
            <a:ext cx="3182112" cy="1421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endParaRPr lang="it-IT" sz="1500" b="0" i="0" dirty="0">
              <a:solidFill>
                <a:srgbClr val="0F172A"/>
              </a:solidFill>
              <a:latin typeface="Aptos"/>
            </a:endParaRPr>
          </a:p>
          <a:p>
            <a:pPr algn="l"/>
            <a:r>
              <a:rPr sz="1500" b="0" i="0" dirty="0" err="1">
                <a:solidFill>
                  <a:srgbClr val="0F172A"/>
                </a:solidFill>
                <a:latin typeface="Aptos"/>
              </a:rPr>
              <a:t>Calcola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tensioni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e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correnti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statiche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. </a:t>
            </a:r>
            <a:endParaRPr lang="it-IT" sz="1500" b="0" i="0" dirty="0">
              <a:solidFill>
                <a:srgbClr val="0F172A"/>
              </a:solidFill>
              <a:latin typeface="Aptos"/>
            </a:endParaRPr>
          </a:p>
          <a:p>
            <a:pPr algn="l"/>
            <a:endParaRPr lang="it-IT" sz="1500" b="0" i="0" dirty="0">
              <a:solidFill>
                <a:srgbClr val="0F172A"/>
              </a:solidFill>
              <a:latin typeface="Aptos"/>
            </a:endParaRPr>
          </a:p>
          <a:p>
            <a:pPr algn="l"/>
            <a:r>
              <a:rPr sz="1500" b="0" i="0" dirty="0">
                <a:solidFill>
                  <a:srgbClr val="0F172A"/>
                </a:solidFill>
                <a:latin typeface="Aptos"/>
              </a:rPr>
              <a:t>Utile per LED, transistor,</a:t>
            </a:r>
            <a:r>
              <a:rPr lang="it-IT" sz="15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alimentazioni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,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carichi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e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polarizzazione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9" y="2021512"/>
            <a:ext cx="3474720" cy="2656297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26280" y="2131239"/>
            <a:ext cx="3182112" cy="3139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b="1" i="0" dirty="0">
                <a:solidFill>
                  <a:srgbClr val="0F766E"/>
                </a:solidFill>
                <a:latin typeface="Aptos"/>
              </a:rPr>
              <a:t>.</a:t>
            </a:r>
            <a:r>
              <a:rPr b="1" i="0" dirty="0" err="1">
                <a:solidFill>
                  <a:srgbClr val="0F766E"/>
                </a:solidFill>
                <a:latin typeface="Aptos"/>
              </a:rPr>
              <a:t>tran</a:t>
            </a:r>
            <a:r>
              <a:rPr lang="it-IT" b="1" i="0" dirty="0">
                <a:solidFill>
                  <a:srgbClr val="0F766E"/>
                </a:solidFill>
                <a:latin typeface="Aptos"/>
              </a:rPr>
              <a:t> - </a:t>
            </a:r>
            <a:r>
              <a:rPr b="1" i="0" dirty="0">
                <a:solidFill>
                  <a:srgbClr val="0F766E"/>
                </a:solidFill>
                <a:latin typeface="Aptos"/>
              </a:rPr>
              <a:t>transient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478711"/>
            <a:ext cx="3182112" cy="11910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endParaRPr lang="it-IT" sz="1500" dirty="0">
              <a:solidFill>
                <a:srgbClr val="0F172A"/>
              </a:solidFill>
              <a:latin typeface="Aptos"/>
            </a:endParaRPr>
          </a:p>
          <a:p>
            <a:pPr algn="l"/>
            <a:r>
              <a:rPr sz="1500" b="0" i="0" dirty="0">
                <a:solidFill>
                  <a:srgbClr val="0F172A"/>
                </a:solidFill>
                <a:latin typeface="Aptos"/>
              </a:rPr>
              <a:t>Simula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l’evoluzione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nel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tempo. </a:t>
            </a:r>
            <a:endParaRPr lang="it-IT" sz="1500" b="0" i="0" dirty="0">
              <a:solidFill>
                <a:srgbClr val="0F172A"/>
              </a:solidFill>
              <a:latin typeface="Aptos"/>
            </a:endParaRPr>
          </a:p>
          <a:p>
            <a:pPr algn="l"/>
            <a:endParaRPr lang="it-IT" sz="1500" dirty="0">
              <a:solidFill>
                <a:srgbClr val="0F172A"/>
              </a:solidFill>
              <a:latin typeface="Aptos"/>
            </a:endParaRPr>
          </a:p>
          <a:p>
            <a:pPr algn="l"/>
            <a:r>
              <a:rPr sz="1500" b="0" i="0" dirty="0">
                <a:solidFill>
                  <a:srgbClr val="0F172A"/>
                </a:solidFill>
                <a:latin typeface="Aptos"/>
              </a:rPr>
              <a:t>Utile per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condensatori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, switch, timer,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lampeggiatori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e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segnali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variabili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56449" y="2021512"/>
            <a:ext cx="3474720" cy="2649359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21041" y="2131239"/>
            <a:ext cx="3182112" cy="2985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700" b="1" i="0" dirty="0">
                <a:solidFill>
                  <a:srgbClr val="F59E0B"/>
                </a:solidFill>
                <a:latin typeface="Aptos"/>
              </a:rPr>
              <a:t>.measure</a:t>
            </a:r>
            <a:r>
              <a:rPr lang="it-IT" sz="1700" b="1" i="0" dirty="0">
                <a:solidFill>
                  <a:srgbClr val="F59E0B"/>
                </a:solidFill>
                <a:latin typeface="Aptos"/>
              </a:rPr>
              <a:t> - </a:t>
            </a:r>
            <a:r>
              <a:rPr sz="1700" b="1" i="0" dirty="0" err="1">
                <a:solidFill>
                  <a:srgbClr val="F59E0B"/>
                </a:solidFill>
                <a:latin typeface="Aptos"/>
              </a:rPr>
              <a:t>misure</a:t>
            </a:r>
            <a:r>
              <a:rPr sz="1700" b="1" i="0" dirty="0">
                <a:solidFill>
                  <a:srgbClr val="F59E0B"/>
                </a:solidFill>
                <a:latin typeface="Aptos"/>
              </a:rPr>
              <a:t> </a:t>
            </a:r>
            <a:r>
              <a:rPr sz="1700" b="1" i="0" dirty="0" err="1">
                <a:solidFill>
                  <a:srgbClr val="F59E0B"/>
                </a:solidFill>
                <a:latin typeface="Aptos"/>
              </a:rPr>
              <a:t>automatiche</a:t>
            </a:r>
            <a:endParaRPr sz="1700" b="1" i="0" dirty="0">
              <a:solidFill>
                <a:srgbClr val="F59E0B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321041" y="2478711"/>
            <a:ext cx="3182112" cy="176048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endParaRPr lang="it-IT" sz="1600" b="0" i="0" dirty="0">
              <a:solidFill>
                <a:srgbClr val="0F172A"/>
              </a:solidFill>
              <a:latin typeface="Aptos"/>
            </a:endParaRPr>
          </a:p>
          <a:p>
            <a:pPr algn="l"/>
            <a:r>
              <a:rPr sz="1600" b="0" i="0" dirty="0" err="1">
                <a:solidFill>
                  <a:srgbClr val="0F172A"/>
                </a:solidFill>
                <a:latin typeface="Aptos"/>
              </a:rPr>
              <a:t>Estrae</a:t>
            </a:r>
            <a:r>
              <a:rPr sz="1600" b="0" i="0" dirty="0">
                <a:solidFill>
                  <a:srgbClr val="0F172A"/>
                </a:solidFill>
                <a:latin typeface="Aptos"/>
              </a:rPr>
              <a:t> numeri </a:t>
            </a:r>
            <a:r>
              <a:rPr sz="1600" b="0" i="0" dirty="0" err="1">
                <a:solidFill>
                  <a:srgbClr val="0F172A"/>
                </a:solidFill>
                <a:latin typeface="Aptos"/>
              </a:rPr>
              <a:t>dai</a:t>
            </a:r>
            <a:r>
              <a:rPr sz="16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0F172A"/>
                </a:solidFill>
                <a:latin typeface="Aptos"/>
              </a:rPr>
              <a:t>risultati</a:t>
            </a:r>
            <a:r>
              <a:rPr sz="1600" b="0" i="0" dirty="0">
                <a:solidFill>
                  <a:srgbClr val="0F172A"/>
                </a:solidFill>
                <a:latin typeface="Aptos"/>
              </a:rPr>
              <a:t>: </a:t>
            </a:r>
            <a:endParaRPr lang="it-IT" sz="1600" b="0" i="0" dirty="0">
              <a:solidFill>
                <a:srgbClr val="0F172A"/>
              </a:solidFill>
              <a:latin typeface="Aptos"/>
            </a:endParaRPr>
          </a:p>
          <a:p>
            <a:pPr algn="l"/>
            <a:endParaRPr lang="it-IT" sz="1600" dirty="0">
              <a:solidFill>
                <a:srgbClr val="0F172A"/>
              </a:solidFill>
              <a:latin typeface="Aptos"/>
            </a:endParaRPr>
          </a:p>
          <a:p>
            <a:pPr algn="l"/>
            <a:r>
              <a:rPr sz="1600" b="0" i="0" dirty="0" err="1">
                <a:solidFill>
                  <a:srgbClr val="0F172A"/>
                </a:solidFill>
                <a:latin typeface="Aptos"/>
              </a:rPr>
              <a:t>Vout_max</a:t>
            </a:r>
            <a:r>
              <a:rPr sz="1600" b="0" i="0" dirty="0">
                <a:solidFill>
                  <a:srgbClr val="0F172A"/>
                </a:solidFill>
                <a:latin typeface="Aptos"/>
              </a:rPr>
              <a:t>, </a:t>
            </a:r>
            <a:endParaRPr lang="it-IT" sz="1600" b="0" i="0" dirty="0">
              <a:solidFill>
                <a:srgbClr val="0F172A"/>
              </a:solidFill>
              <a:latin typeface="Aptos"/>
            </a:endParaRPr>
          </a:p>
          <a:p>
            <a:pPr algn="l"/>
            <a:r>
              <a:rPr sz="1600" b="0" i="0" dirty="0" err="1">
                <a:solidFill>
                  <a:srgbClr val="0F172A"/>
                </a:solidFill>
                <a:latin typeface="Aptos"/>
              </a:rPr>
              <a:t>Iled_avg</a:t>
            </a:r>
            <a:r>
              <a:rPr sz="1600" b="0" i="0" dirty="0">
                <a:solidFill>
                  <a:srgbClr val="0F172A"/>
                </a:solidFill>
                <a:latin typeface="Aptos"/>
              </a:rPr>
              <a:t>, </a:t>
            </a:r>
            <a:endParaRPr lang="it-IT" sz="1600" b="0" i="0" dirty="0">
              <a:solidFill>
                <a:srgbClr val="0F172A"/>
              </a:solidFill>
              <a:latin typeface="Aptos"/>
            </a:endParaRPr>
          </a:p>
          <a:p>
            <a:pPr algn="l"/>
            <a:r>
              <a:rPr sz="1600" b="0" i="0" dirty="0">
                <a:solidFill>
                  <a:srgbClr val="0F172A"/>
                </a:solidFill>
                <a:latin typeface="Aptos"/>
              </a:rPr>
              <a:t>tempi di </a:t>
            </a:r>
            <a:r>
              <a:rPr sz="1600" b="0" i="0" dirty="0" err="1">
                <a:solidFill>
                  <a:srgbClr val="0F172A"/>
                </a:solidFill>
                <a:latin typeface="Aptos"/>
              </a:rPr>
              <a:t>salita</a:t>
            </a:r>
            <a:r>
              <a:rPr sz="1600" b="0" i="0" dirty="0">
                <a:solidFill>
                  <a:srgbClr val="0F172A"/>
                </a:solidFill>
                <a:latin typeface="Aptos"/>
              </a:rPr>
              <a:t>, </a:t>
            </a:r>
            <a:endParaRPr lang="it-IT" sz="1600" b="0" i="0" dirty="0">
              <a:solidFill>
                <a:srgbClr val="0F172A"/>
              </a:solidFill>
              <a:latin typeface="Aptos"/>
            </a:endParaRPr>
          </a:p>
          <a:p>
            <a:pPr algn="l"/>
            <a:r>
              <a:rPr sz="1600" b="0" i="0" dirty="0" err="1">
                <a:solidFill>
                  <a:srgbClr val="0F172A"/>
                </a:solidFill>
                <a:latin typeface="Aptos"/>
              </a:rPr>
              <a:t>tensioni</a:t>
            </a:r>
            <a:r>
              <a:rPr sz="16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0F172A"/>
                </a:solidFill>
                <a:latin typeface="Aptos"/>
              </a:rPr>
              <a:t>medie</a:t>
            </a:r>
            <a:r>
              <a:rPr sz="1600" b="0" i="0" dirty="0">
                <a:solidFill>
                  <a:srgbClr val="0F172A"/>
                </a:solidFill>
                <a:latin typeface="Aptos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715000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 dirty="0" err="1">
                <a:solidFill>
                  <a:srgbClr val="64748B"/>
                </a:solidFill>
                <a:latin typeface="Aptos"/>
              </a:rPr>
              <a:t>Analisi</a:t>
            </a:r>
            <a:r>
              <a:rPr sz="1100"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sz="1100" b="0" i="0" dirty="0" err="1">
                <a:solidFill>
                  <a:srgbClr val="64748B"/>
                </a:solidFill>
                <a:latin typeface="Aptos"/>
              </a:rPr>
              <a:t>più</a:t>
            </a:r>
            <a:r>
              <a:rPr sz="1100"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sz="1100" b="0" i="0" dirty="0" err="1">
                <a:solidFill>
                  <a:srgbClr val="64748B"/>
                </a:solidFill>
                <a:latin typeface="Aptos"/>
              </a:rPr>
              <a:t>avanzate</a:t>
            </a:r>
            <a:r>
              <a:rPr sz="1100" b="0" i="0" dirty="0">
                <a:solidFill>
                  <a:srgbClr val="64748B"/>
                </a:solidFill>
                <a:latin typeface="Aptos"/>
              </a:rPr>
              <a:t> come .ac o sweep </a:t>
            </a:r>
            <a:r>
              <a:rPr sz="1100" b="0" i="0" dirty="0" err="1">
                <a:solidFill>
                  <a:srgbClr val="64748B"/>
                </a:solidFill>
                <a:latin typeface="Aptos"/>
              </a:rPr>
              <a:t>parametrici</a:t>
            </a:r>
            <a:r>
              <a:rPr sz="1100"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sz="1100" b="0" i="0" dirty="0" err="1">
                <a:solidFill>
                  <a:srgbClr val="64748B"/>
                </a:solidFill>
                <a:latin typeface="Aptos"/>
              </a:rPr>
              <a:t>restano</a:t>
            </a:r>
            <a:r>
              <a:rPr sz="1100"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sz="1100" b="0" i="0" dirty="0" err="1">
                <a:solidFill>
                  <a:srgbClr val="64748B"/>
                </a:solidFill>
                <a:latin typeface="Aptos"/>
              </a:rPr>
              <a:t>possibili</a:t>
            </a:r>
            <a:r>
              <a:rPr sz="1100" b="0" i="0" dirty="0">
                <a:solidFill>
                  <a:srgbClr val="64748B"/>
                </a:solidFill>
                <a:latin typeface="Aptos"/>
              </a:rPr>
              <a:t>, ma non </a:t>
            </a:r>
            <a:r>
              <a:rPr sz="1100" b="0" i="0" dirty="0" err="1">
                <a:solidFill>
                  <a:srgbClr val="64748B"/>
                </a:solidFill>
                <a:latin typeface="Aptos"/>
              </a:rPr>
              <a:t>necessarie</a:t>
            </a:r>
            <a:r>
              <a:rPr sz="1100"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sz="1100" b="0" i="0" dirty="0" err="1">
                <a:solidFill>
                  <a:srgbClr val="64748B"/>
                </a:solidFill>
                <a:latin typeface="Aptos"/>
              </a:rPr>
              <a:t>nella</a:t>
            </a:r>
            <a:r>
              <a:rPr sz="1100" b="0" i="0" dirty="0">
                <a:solidFill>
                  <a:srgbClr val="64748B"/>
                </a:solidFill>
                <a:latin typeface="Aptos"/>
              </a:rPr>
              <a:t> prima </a:t>
            </a:r>
            <a:r>
              <a:rPr sz="1100" b="0" i="0" dirty="0" err="1">
                <a:solidFill>
                  <a:srgbClr val="64748B"/>
                </a:solidFill>
                <a:latin typeface="Aptos"/>
              </a:rPr>
              <a:t>versione</a:t>
            </a:r>
            <a:r>
              <a:rPr sz="1100" b="0" i="0" dirty="0">
                <a:solidFill>
                  <a:srgbClr val="64748B"/>
                </a:solidFill>
                <a:latin typeface="Aptos"/>
              </a:rPr>
              <a:t>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CBD5E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6583680"/>
            <a:ext cx="5486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Aptos"/>
              </a:rPr>
              <a:t>Integrazione JSON → SPICE → diagnosi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583680"/>
            <a:ext cx="6400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96926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0B1F33"/>
                </a:solidFill>
                <a:latin typeface="Aptos Display"/>
              </a:rPr>
              <a:t>Visualizzazione: risultati e circuito ricostruito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713232"/>
            <a:ext cx="9784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0" i="0">
                <a:solidFill>
                  <a:srgbClr val="0F766E"/>
                </a:solidFill>
                <a:latin typeface="Aptos"/>
              </a:rPr>
              <a:t>SPICE simula una netlist; lo schema grafico è un livello separato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292608"/>
            <a:ext cx="1691640" cy="32004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40112" y="345040"/>
            <a:ext cx="1627632" cy="1877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Aptos"/>
              </a:rPr>
              <a:t>03 / Moduli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" y="1971620"/>
            <a:ext cx="3246120" cy="291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1812" y="2081348"/>
            <a:ext cx="2953512" cy="2985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700" b="1" i="0" dirty="0">
                <a:solidFill>
                  <a:srgbClr val="0B1F33"/>
                </a:solidFill>
                <a:latin typeface="Aptos"/>
              </a:rPr>
              <a:t>1. Netlist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" y="2428820"/>
            <a:ext cx="2953512" cy="11910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endParaRPr lang="it-IT" sz="1500" b="0" i="0" dirty="0">
              <a:solidFill>
                <a:srgbClr val="0F172A"/>
              </a:solidFill>
              <a:latin typeface="Aptos"/>
            </a:endParaRPr>
          </a:p>
          <a:p>
            <a:pPr algn="l"/>
            <a:r>
              <a:rPr sz="1500" b="0" i="0" dirty="0" err="1">
                <a:solidFill>
                  <a:srgbClr val="0F172A"/>
                </a:solidFill>
                <a:latin typeface="Aptos"/>
              </a:rPr>
              <a:t>Rappresentazione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testuale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del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circuito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: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componenti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, nodi e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valori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.</a:t>
            </a:r>
            <a:br>
              <a:rPr sz="1500" dirty="0"/>
            </a:br>
            <a:br>
              <a:rPr sz="1500" dirty="0"/>
            </a:br>
            <a:r>
              <a:rPr sz="1500" b="0" i="0" dirty="0">
                <a:solidFill>
                  <a:srgbClr val="0F172A"/>
                </a:solidFill>
                <a:latin typeface="Aptos"/>
              </a:rPr>
              <a:t>Output: </a:t>
            </a:r>
            <a:r>
              <a:rPr sz="1500" b="1" i="0" dirty="0" err="1">
                <a:solidFill>
                  <a:srgbClr val="0F172A"/>
                </a:solidFill>
                <a:latin typeface="Aptos"/>
              </a:rPr>
              <a:t>spice_netlist.cir</a:t>
            </a:r>
            <a:endParaRPr sz="1500" b="1" i="0" dirty="0">
              <a:solidFill>
                <a:srgbClr val="0F172A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503420" y="1971620"/>
            <a:ext cx="3246120" cy="291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8012" y="2081348"/>
            <a:ext cx="2953512" cy="2985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700" b="1" i="0" dirty="0">
                <a:solidFill>
                  <a:srgbClr val="0B1F33"/>
                </a:solidFill>
                <a:latin typeface="Aptos"/>
              </a:rPr>
              <a:t>2. </a:t>
            </a:r>
            <a:r>
              <a:rPr sz="1700" b="1" i="0" dirty="0" err="1">
                <a:solidFill>
                  <a:srgbClr val="0B1F33"/>
                </a:solidFill>
                <a:latin typeface="Aptos"/>
              </a:rPr>
              <a:t>Risultati</a:t>
            </a:r>
            <a:endParaRPr sz="1700" b="1" i="0" dirty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668012" y="2428820"/>
            <a:ext cx="2953512" cy="11910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endParaRPr lang="it-IT" sz="1500" b="0" i="0" dirty="0">
              <a:solidFill>
                <a:srgbClr val="0F172A"/>
              </a:solidFill>
              <a:latin typeface="Aptos"/>
            </a:endParaRPr>
          </a:p>
          <a:p>
            <a:pPr algn="l"/>
            <a:r>
              <a:rPr sz="1500" b="0" i="0" dirty="0" err="1">
                <a:solidFill>
                  <a:srgbClr val="0F172A"/>
                </a:solidFill>
                <a:latin typeface="Aptos"/>
              </a:rPr>
              <a:t>Grafici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e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dati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numerici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: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tensioni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,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correnti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,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forme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d’onda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e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misure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.</a:t>
            </a:r>
            <a:br>
              <a:rPr sz="1500" dirty="0"/>
            </a:br>
            <a:br>
              <a:rPr sz="1500" dirty="0"/>
            </a:br>
            <a:r>
              <a:rPr sz="1500" b="0" i="0" dirty="0">
                <a:solidFill>
                  <a:srgbClr val="0F172A"/>
                </a:solidFill>
                <a:latin typeface="Aptos"/>
              </a:rPr>
              <a:t>Output: </a:t>
            </a:r>
            <a:r>
              <a:rPr sz="1500" b="1" i="0" dirty="0" err="1">
                <a:solidFill>
                  <a:srgbClr val="0F172A"/>
                </a:solidFill>
                <a:latin typeface="Aptos"/>
              </a:rPr>
              <a:t>spice_results.json</a:t>
            </a:r>
            <a:r>
              <a:rPr sz="1500" b="1" i="0" dirty="0">
                <a:solidFill>
                  <a:srgbClr val="0F172A"/>
                </a:solidFill>
                <a:latin typeface="Aptos"/>
              </a:rPr>
              <a:t> + PNG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89620" y="1971620"/>
            <a:ext cx="3246120" cy="291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54212" y="2081348"/>
            <a:ext cx="2953512" cy="2985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700" b="1" i="0" dirty="0">
                <a:solidFill>
                  <a:srgbClr val="0B1F33"/>
                </a:solidFill>
                <a:latin typeface="Aptos"/>
              </a:rPr>
              <a:t>3. Schema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54212" y="2428820"/>
            <a:ext cx="2953512" cy="1421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endParaRPr lang="it-IT" sz="1500" b="0" i="0" dirty="0">
              <a:solidFill>
                <a:srgbClr val="0F172A"/>
              </a:solidFill>
              <a:latin typeface="Aptos"/>
            </a:endParaRPr>
          </a:p>
          <a:p>
            <a:pPr algn="l"/>
            <a:r>
              <a:rPr sz="1500" b="0" i="0" dirty="0" err="1">
                <a:solidFill>
                  <a:srgbClr val="0F172A"/>
                </a:solidFill>
                <a:latin typeface="Aptos"/>
              </a:rPr>
              <a:t>Visualizzazione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topologica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dal JSON </a:t>
            </a:r>
            <a:endParaRPr lang="it-IT" sz="1500" b="0" i="0" dirty="0">
              <a:solidFill>
                <a:srgbClr val="0F172A"/>
              </a:solidFill>
              <a:latin typeface="Aptos"/>
            </a:endParaRPr>
          </a:p>
          <a:p>
            <a:pPr algn="l"/>
            <a:r>
              <a:rPr sz="1500" b="0" i="0" dirty="0">
                <a:solidFill>
                  <a:srgbClr val="0F172A"/>
                </a:solidFill>
                <a:latin typeface="Aptos"/>
              </a:rPr>
              <a:t>export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LTspice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opzionale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.</a:t>
            </a:r>
            <a:br>
              <a:rPr sz="1500" dirty="0"/>
            </a:br>
            <a:br>
              <a:rPr sz="1500" dirty="0"/>
            </a:br>
            <a:r>
              <a:rPr sz="1500" b="0" i="0" dirty="0">
                <a:solidFill>
                  <a:srgbClr val="0F172A"/>
                </a:solidFill>
                <a:latin typeface="Aptos"/>
              </a:rPr>
              <a:t>Output: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circuit_graph.svg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/ .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asc</a:t>
            </a:r>
            <a:endParaRPr sz="1500" b="0" i="0" dirty="0">
              <a:solidFill>
                <a:srgbClr val="0F172A"/>
              </a:solidFill>
              <a:latin typeface="Apto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CBD5E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6583680"/>
            <a:ext cx="5486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Aptos"/>
              </a:rPr>
              <a:t>Integrazione JSON → SPICE → diagnosi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583680"/>
            <a:ext cx="6400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96926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0B1F33"/>
                </a:solidFill>
                <a:latin typeface="Aptos Display"/>
              </a:rPr>
              <a:t>Gestione dei componenti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713232"/>
            <a:ext cx="9784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0" i="0">
                <a:solidFill>
                  <a:srgbClr val="0F766E"/>
                </a:solidFill>
                <a:latin typeface="Aptos"/>
              </a:rPr>
              <a:t>Tre strategie per mantenere la pipeline semplice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292608"/>
            <a:ext cx="1691640" cy="32004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40112" y="345040"/>
            <a:ext cx="1627632" cy="1877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Aptos"/>
              </a:rPr>
              <a:t>04 / </a:t>
            </a:r>
            <a:r>
              <a:rPr sz="1100" b="1" i="0" dirty="0" err="1">
                <a:solidFill>
                  <a:srgbClr val="FFFFFF"/>
                </a:solidFill>
                <a:latin typeface="Aptos"/>
              </a:rPr>
              <a:t>Componenti</a:t>
            </a:r>
            <a:endParaRPr sz="110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57784" y="2126225"/>
            <a:ext cx="3520440" cy="2727216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2375" y="2235953"/>
            <a:ext cx="3227832" cy="2985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700" b="1" i="0" dirty="0" err="1">
                <a:solidFill>
                  <a:srgbClr val="0F766E"/>
                </a:solidFill>
                <a:latin typeface="Aptos"/>
              </a:rPr>
              <a:t>Conversione</a:t>
            </a:r>
            <a:r>
              <a:rPr sz="1700" b="1" i="0" dirty="0">
                <a:solidFill>
                  <a:srgbClr val="0F766E"/>
                </a:solidFill>
                <a:latin typeface="Aptos"/>
              </a:rPr>
              <a:t> </a:t>
            </a:r>
            <a:r>
              <a:rPr sz="1700" b="1" i="0" dirty="0" err="1">
                <a:solidFill>
                  <a:srgbClr val="0F766E"/>
                </a:solidFill>
                <a:latin typeface="Aptos"/>
              </a:rPr>
              <a:t>diretta</a:t>
            </a:r>
            <a:endParaRPr sz="1700" b="1" i="0" dirty="0">
              <a:solidFill>
                <a:srgbClr val="0F766E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22375" y="2583425"/>
            <a:ext cx="3227832" cy="1652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endParaRPr lang="it-IT" sz="1500" b="0" i="0" dirty="0">
              <a:solidFill>
                <a:srgbClr val="0F172A"/>
              </a:solidFill>
              <a:latin typeface="Aptos"/>
            </a:endParaRPr>
          </a:p>
          <a:p>
            <a:pPr algn="l"/>
            <a:r>
              <a:rPr sz="1500" b="0" i="0" dirty="0" err="1">
                <a:solidFill>
                  <a:srgbClr val="0F172A"/>
                </a:solidFill>
                <a:latin typeface="Aptos"/>
              </a:rPr>
              <a:t>Passivi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e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discreti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con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modello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semplice:</a:t>
            </a:r>
            <a:br>
              <a:rPr sz="1500" dirty="0"/>
            </a:br>
            <a:endParaRPr lang="it-IT" sz="1500" dirty="0"/>
          </a:p>
          <a:p>
            <a:pPr algn="l"/>
            <a:r>
              <a:rPr sz="1500" b="0" i="0" dirty="0" err="1">
                <a:solidFill>
                  <a:srgbClr val="0F172A"/>
                </a:solidFill>
                <a:latin typeface="Aptos"/>
              </a:rPr>
              <a:t>resistenze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,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condensatori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,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diodi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, LED,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sorgenti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, switch,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lampade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lang="it-IT" sz="1500" b="0" i="0" dirty="0">
                <a:solidFill>
                  <a:srgbClr val="0F172A"/>
                </a:solidFill>
                <a:latin typeface="Aptos"/>
              </a:rPr>
              <a:t>come carico.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2544" y="2126225"/>
            <a:ext cx="3520440" cy="2727216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17135" y="2235953"/>
            <a:ext cx="3227832" cy="2985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 i="0" dirty="0" err="1">
                <a:solidFill>
                  <a:srgbClr val="F59E0B"/>
                </a:solidFill>
                <a:latin typeface="Aptos"/>
              </a:rPr>
              <a:t>Modello</a:t>
            </a:r>
            <a:r>
              <a:rPr sz="1700" b="1" i="0" dirty="0">
                <a:solidFill>
                  <a:srgbClr val="F59E0B"/>
                </a:solidFill>
                <a:latin typeface="Aptos"/>
              </a:rPr>
              <a:t> </a:t>
            </a:r>
            <a:r>
              <a:rPr sz="1700" b="1" i="0" dirty="0" err="1">
                <a:solidFill>
                  <a:srgbClr val="F59E0B"/>
                </a:solidFill>
                <a:latin typeface="Aptos"/>
              </a:rPr>
              <a:t>semplificato</a:t>
            </a:r>
            <a:endParaRPr sz="1700" b="1" i="0" dirty="0">
              <a:solidFill>
                <a:srgbClr val="F59E0B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17135" y="2583425"/>
            <a:ext cx="3227832" cy="1421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endParaRPr lang="it-IT" sz="1500" b="0" i="0" dirty="0">
              <a:solidFill>
                <a:srgbClr val="0F172A"/>
              </a:solidFill>
              <a:latin typeface="Aptos"/>
            </a:endParaRPr>
          </a:p>
          <a:p>
            <a:pPr algn="l"/>
            <a:r>
              <a:rPr sz="1500" b="0" i="0" dirty="0" err="1">
                <a:solidFill>
                  <a:srgbClr val="0F172A"/>
                </a:solidFill>
                <a:latin typeface="Aptos"/>
              </a:rPr>
              <a:t>Componenti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non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perfetti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ma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approssimabili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:</a:t>
            </a:r>
            <a:br>
              <a:rPr sz="1500" dirty="0"/>
            </a:br>
            <a:endParaRPr lang="it-IT" sz="1500" dirty="0"/>
          </a:p>
          <a:p>
            <a:pPr algn="l"/>
            <a:r>
              <a:rPr sz="1500" b="0" i="0" dirty="0">
                <a:solidFill>
                  <a:srgbClr val="0F172A"/>
                </a:solidFill>
                <a:latin typeface="Aptos"/>
              </a:rPr>
              <a:t>555, LM317, op-amp, BJT, MOSFET, driver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semplici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47304" y="2126225"/>
            <a:ext cx="3520440" cy="2727216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11896" y="2235953"/>
            <a:ext cx="3227832" cy="2985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700" b="1" i="0" dirty="0">
                <a:solidFill>
                  <a:srgbClr val="2563EB"/>
                </a:solidFill>
                <a:latin typeface="Aptos"/>
              </a:rPr>
              <a:t>Black</a:t>
            </a:r>
            <a:r>
              <a:rPr sz="1500" b="1" i="0" dirty="0">
                <a:solidFill>
                  <a:srgbClr val="2563EB"/>
                </a:solidFill>
                <a:latin typeface="Aptos"/>
              </a:rPr>
              <a:t> box pin-aware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1896" y="2583425"/>
            <a:ext cx="3227832" cy="11910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endParaRPr lang="it-IT" sz="1500" b="0" i="0" dirty="0">
              <a:solidFill>
                <a:srgbClr val="0F172A"/>
              </a:solidFill>
              <a:latin typeface="Aptos"/>
            </a:endParaRPr>
          </a:p>
          <a:p>
            <a:pPr algn="l"/>
            <a:r>
              <a:rPr sz="1500" b="0" i="0" dirty="0">
                <a:solidFill>
                  <a:srgbClr val="0F172A"/>
                </a:solidFill>
                <a:latin typeface="Aptos"/>
              </a:rPr>
              <a:t>IC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complessi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senza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modello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:</a:t>
            </a:r>
            <a:br>
              <a:rPr sz="1500" dirty="0"/>
            </a:br>
            <a:r>
              <a:rPr sz="1500" b="0" i="0" dirty="0">
                <a:solidFill>
                  <a:srgbClr val="0F172A"/>
                </a:solidFill>
                <a:latin typeface="Aptos"/>
              </a:rPr>
              <a:t>non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simuliamo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l’interno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, ma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controlliamo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pin,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alimentazioni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, reset, clock, enable,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carichi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CBD5E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6583680"/>
            <a:ext cx="5486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Aptos"/>
              </a:rPr>
              <a:t>Integrazione JSON → SPICE → diagnosi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583680"/>
            <a:ext cx="6400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96926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0B1F33"/>
                </a:solidFill>
                <a:latin typeface="Aptos Display"/>
              </a:rPr>
              <a:t>Circuiti integrati e device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713232"/>
            <a:ext cx="9784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0" i="0">
                <a:solidFill>
                  <a:srgbClr val="0F766E"/>
                </a:solidFill>
                <a:latin typeface="Aptos"/>
              </a:rPr>
              <a:t>Il datasheet diventa vincolo diagnostico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292608"/>
            <a:ext cx="1691640" cy="32004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40112" y="345040"/>
            <a:ext cx="1627632" cy="1877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Aptos"/>
              </a:rPr>
              <a:t>04 / </a:t>
            </a:r>
            <a:r>
              <a:rPr sz="1100" b="1" i="0" dirty="0" err="1">
                <a:solidFill>
                  <a:srgbClr val="FFFFFF"/>
                </a:solidFill>
                <a:latin typeface="Aptos"/>
              </a:rPr>
              <a:t>Componenti</a:t>
            </a:r>
            <a:endParaRPr sz="110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1143000"/>
            <a:ext cx="109728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143000"/>
            <a:ext cx="73152" cy="114300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252728"/>
            <a:ext cx="10680192" cy="2985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 i="0" dirty="0" err="1">
                <a:solidFill>
                  <a:srgbClr val="0F766E"/>
                </a:solidFill>
                <a:latin typeface="Aptos"/>
              </a:rPr>
              <a:t>Simulabili</a:t>
            </a:r>
            <a:r>
              <a:rPr sz="1700" b="1" i="0" dirty="0">
                <a:solidFill>
                  <a:srgbClr val="0F766E"/>
                </a:solidFill>
                <a:latin typeface="Aptos"/>
              </a:rPr>
              <a:t> / </a:t>
            </a:r>
            <a:r>
              <a:rPr sz="1700" b="1" i="0" dirty="0" err="1">
                <a:solidFill>
                  <a:srgbClr val="0F766E"/>
                </a:solidFill>
                <a:latin typeface="Aptos"/>
              </a:rPr>
              <a:t>semplificabili</a:t>
            </a:r>
            <a:endParaRPr sz="1700" b="1" i="0" dirty="0">
              <a:solidFill>
                <a:srgbClr val="0F766E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96112" y="1600200"/>
            <a:ext cx="10680192" cy="54373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400"/>
              </a:spcAft>
            </a:pPr>
            <a:r>
              <a:rPr sz="1300" b="1" dirty="0" err="1">
                <a:solidFill>
                  <a:srgbClr val="0F766E"/>
                </a:solidFill>
                <a:latin typeface="Aptos"/>
              </a:rPr>
              <a:t>Esempi</a:t>
            </a:r>
            <a:r>
              <a:rPr sz="1300" b="1" dirty="0">
                <a:solidFill>
                  <a:srgbClr val="0F766E"/>
                </a:solidFill>
                <a:latin typeface="Aptos"/>
              </a:rPr>
              <a:t>: NE555, LM555, TS555, LM317T</a:t>
            </a:r>
          </a:p>
          <a:p>
            <a:pPr>
              <a:spcAft>
                <a:spcPts val="400"/>
              </a:spcAft>
            </a:pPr>
            <a:r>
              <a:rPr sz="1300" b="0" dirty="0" err="1">
                <a:solidFill>
                  <a:srgbClr val="0F172A"/>
                </a:solidFill>
                <a:latin typeface="Aptos"/>
              </a:rPr>
              <a:t>macromodello</a:t>
            </a:r>
            <a:r>
              <a:rPr sz="1300" b="0" dirty="0">
                <a:solidFill>
                  <a:srgbClr val="0F172A"/>
                </a:solidFill>
                <a:latin typeface="Aptos"/>
              </a:rPr>
              <a:t> o </a:t>
            </a:r>
            <a:r>
              <a:rPr sz="1300" b="0" dirty="0" err="1">
                <a:solidFill>
                  <a:srgbClr val="0F172A"/>
                </a:solidFill>
                <a:latin typeface="Aptos"/>
              </a:rPr>
              <a:t>comportamento</a:t>
            </a:r>
            <a:r>
              <a:rPr sz="13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0F172A"/>
                </a:solidFill>
                <a:latin typeface="Aptos"/>
              </a:rPr>
              <a:t>semplificato</a:t>
            </a:r>
            <a:endParaRPr sz="1300" b="0" dirty="0">
              <a:solidFill>
                <a:srgbClr val="0F172A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31520" y="2560320"/>
            <a:ext cx="109728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2560320"/>
            <a:ext cx="73152" cy="1143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" y="2670048"/>
            <a:ext cx="10680192" cy="2985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 i="0" dirty="0">
                <a:solidFill>
                  <a:srgbClr val="2563EB"/>
                </a:solidFill>
                <a:latin typeface="Aptos"/>
              </a:rPr>
              <a:t>Pin-aware </a:t>
            </a:r>
            <a:r>
              <a:rPr sz="1700" b="1" i="0" dirty="0" err="1">
                <a:solidFill>
                  <a:srgbClr val="2563EB"/>
                </a:solidFill>
                <a:latin typeface="Aptos"/>
              </a:rPr>
              <a:t>digitali</a:t>
            </a:r>
            <a:r>
              <a:rPr sz="1700" b="1" i="0" dirty="0">
                <a:solidFill>
                  <a:srgbClr val="2563EB"/>
                </a:solidFill>
                <a:latin typeface="Aptos"/>
              </a:rPr>
              <a:t>/</a:t>
            </a:r>
            <a:r>
              <a:rPr sz="1700" b="1" i="0" dirty="0" err="1">
                <a:solidFill>
                  <a:srgbClr val="2563EB"/>
                </a:solidFill>
                <a:latin typeface="Aptos"/>
              </a:rPr>
              <a:t>misti</a:t>
            </a:r>
            <a:endParaRPr sz="1700" b="1" i="0" dirty="0">
              <a:solidFill>
                <a:srgbClr val="2563EB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96112" y="3017520"/>
            <a:ext cx="10680192" cy="54373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400"/>
              </a:spcAft>
            </a:pPr>
            <a:r>
              <a:rPr sz="1300" b="1" dirty="0" err="1">
                <a:solidFill>
                  <a:srgbClr val="2563EB"/>
                </a:solidFill>
                <a:latin typeface="Aptos"/>
              </a:rPr>
              <a:t>Esempi</a:t>
            </a:r>
            <a:r>
              <a:rPr sz="1300" b="1" dirty="0">
                <a:solidFill>
                  <a:srgbClr val="2563EB"/>
                </a:solidFill>
                <a:latin typeface="Aptos"/>
              </a:rPr>
              <a:t>: CD4017, CD4026, ADC0804, AT89S51</a:t>
            </a:r>
          </a:p>
          <a:p>
            <a:pPr>
              <a:spcAft>
                <a:spcPts val="400"/>
              </a:spcAft>
            </a:pPr>
            <a:r>
              <a:rPr sz="1300" b="0" dirty="0" err="1">
                <a:solidFill>
                  <a:srgbClr val="0F172A"/>
                </a:solidFill>
                <a:latin typeface="Aptos"/>
              </a:rPr>
              <a:t>controlli</a:t>
            </a:r>
            <a:r>
              <a:rPr sz="13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0F172A"/>
                </a:solidFill>
                <a:latin typeface="Aptos"/>
              </a:rPr>
              <a:t>su</a:t>
            </a:r>
            <a:r>
              <a:rPr sz="13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0F172A"/>
                </a:solidFill>
                <a:latin typeface="Aptos"/>
              </a:rPr>
              <a:t>alimentazione</a:t>
            </a:r>
            <a:r>
              <a:rPr sz="1300" b="0" dirty="0">
                <a:solidFill>
                  <a:srgbClr val="0F172A"/>
                </a:solidFill>
                <a:latin typeface="Aptos"/>
              </a:rPr>
              <a:t>, clock, reset, </a:t>
            </a:r>
            <a:r>
              <a:rPr sz="1300" b="0" dirty="0" err="1">
                <a:solidFill>
                  <a:srgbClr val="0F172A"/>
                </a:solidFill>
                <a:latin typeface="Aptos"/>
              </a:rPr>
              <a:t>uscite</a:t>
            </a:r>
            <a:endParaRPr sz="1300" b="0" dirty="0">
              <a:solidFill>
                <a:srgbClr val="0F172A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31520" y="3977639"/>
            <a:ext cx="109728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3977639"/>
            <a:ext cx="73152" cy="11430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" y="4087368"/>
            <a:ext cx="10680192" cy="2985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 i="0" dirty="0">
                <a:solidFill>
                  <a:srgbClr val="F59E0B"/>
                </a:solidFill>
                <a:latin typeface="Aptos"/>
              </a:rPr>
              <a:t>Potenza / audio / </a:t>
            </a:r>
            <a:r>
              <a:rPr sz="1700" b="1" i="0" dirty="0" err="1">
                <a:solidFill>
                  <a:srgbClr val="F59E0B"/>
                </a:solidFill>
                <a:latin typeface="Aptos"/>
              </a:rPr>
              <a:t>motore</a:t>
            </a:r>
            <a:endParaRPr sz="1700" b="1" i="0" dirty="0">
              <a:solidFill>
                <a:srgbClr val="F59E0B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96112" y="4434840"/>
            <a:ext cx="10680192" cy="54373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400"/>
              </a:spcAft>
            </a:pPr>
            <a:r>
              <a:rPr sz="1300" b="1" dirty="0" err="1">
                <a:solidFill>
                  <a:srgbClr val="F59E0B"/>
                </a:solidFill>
                <a:latin typeface="Aptos"/>
              </a:rPr>
              <a:t>Esempi</a:t>
            </a:r>
            <a:r>
              <a:rPr sz="1300" b="1" dirty="0">
                <a:solidFill>
                  <a:srgbClr val="F59E0B"/>
                </a:solidFill>
                <a:latin typeface="Aptos"/>
              </a:rPr>
              <a:t>: HT82V733, TDA1553, LM1875, TC4423, L298</a:t>
            </a:r>
          </a:p>
          <a:p>
            <a:pPr>
              <a:spcAft>
                <a:spcPts val="400"/>
              </a:spcAft>
            </a:pPr>
            <a:r>
              <a:rPr sz="1300" b="0" dirty="0" err="1">
                <a:solidFill>
                  <a:srgbClr val="0F172A"/>
                </a:solidFill>
                <a:latin typeface="Aptos"/>
              </a:rPr>
              <a:t>controlli</a:t>
            </a:r>
            <a:r>
              <a:rPr sz="13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0F172A"/>
                </a:solidFill>
                <a:latin typeface="Aptos"/>
              </a:rPr>
              <a:t>su</a:t>
            </a:r>
            <a:r>
              <a:rPr sz="1300" b="0" dirty="0">
                <a:solidFill>
                  <a:srgbClr val="0F172A"/>
                </a:solidFill>
                <a:latin typeface="Aptos"/>
              </a:rPr>
              <a:t> enable, supply, load, speaker/</a:t>
            </a:r>
            <a:r>
              <a:rPr sz="1300" b="0" dirty="0" err="1">
                <a:solidFill>
                  <a:srgbClr val="0F172A"/>
                </a:solidFill>
                <a:latin typeface="Aptos"/>
              </a:rPr>
              <a:t>motore</a:t>
            </a:r>
            <a:endParaRPr sz="1300" b="0" dirty="0">
              <a:solidFill>
                <a:srgbClr val="0F172A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14400" y="5669280"/>
            <a:ext cx="105156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 i="0">
                <a:solidFill>
                  <a:srgbClr val="0B1F33"/>
                </a:solidFill>
                <a:latin typeface="Aptos"/>
              </a:rPr>
              <a:t>La presenza del datasheet non implica automaticamente un modello SPICE: prima si verifica, poi si decide la strategia.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CBD5E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6583680"/>
            <a:ext cx="5486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Aptos"/>
              </a:rPr>
              <a:t>Integrazione JSON → SPICE → diagnosi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583680"/>
            <a:ext cx="6400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96926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0B1F33"/>
                </a:solidFill>
                <a:latin typeface="Aptos Display"/>
              </a:rPr>
              <a:t>Modulo 6: report elettrico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713232"/>
            <a:ext cx="9784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0" i="0">
                <a:solidFill>
                  <a:srgbClr val="0F766E"/>
                </a:solidFill>
                <a:latin typeface="Aptos"/>
              </a:rPr>
              <a:t>Output uniforme anche per circuiti non simulabili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292608"/>
            <a:ext cx="1691640" cy="32004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40112" y="345040"/>
            <a:ext cx="1627632" cy="1877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Aptos"/>
              </a:rPr>
              <a:t>05 / </a:t>
            </a:r>
            <a:r>
              <a:rPr sz="1100" b="1" i="0" dirty="0" err="1">
                <a:solidFill>
                  <a:srgbClr val="FFFFFF"/>
                </a:solidFill>
                <a:latin typeface="Aptos"/>
              </a:rPr>
              <a:t>Diagnosi</a:t>
            </a:r>
            <a:endParaRPr sz="110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77240" y="1051560"/>
            <a:ext cx="106527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051560"/>
            <a:ext cx="73152" cy="6583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1161288"/>
            <a:ext cx="10360152" cy="2985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 i="0" dirty="0" err="1">
                <a:solidFill>
                  <a:srgbClr val="2563EB"/>
                </a:solidFill>
                <a:latin typeface="Aptos"/>
              </a:rPr>
              <a:t>Struttura</a:t>
            </a:r>
            <a:endParaRPr sz="1700" b="1" i="0" dirty="0">
              <a:solidFill>
                <a:srgbClr val="2563EB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60120" y="1428445"/>
            <a:ext cx="10360152" cy="2677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0" i="0" dirty="0" err="1">
                <a:solidFill>
                  <a:srgbClr val="0F172A"/>
                </a:solidFill>
                <a:latin typeface="Aptos"/>
              </a:rPr>
              <a:t>componenti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, nodi,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valori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,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modelli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,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stato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READY/PARTIAL/NOT_READY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920239"/>
            <a:ext cx="106527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77240" y="1920239"/>
            <a:ext cx="73152" cy="658368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1832" y="2029967"/>
            <a:ext cx="10360152" cy="2985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 i="0" dirty="0" err="1">
                <a:solidFill>
                  <a:srgbClr val="0F766E"/>
                </a:solidFill>
                <a:latin typeface="Aptos"/>
              </a:rPr>
              <a:t>Controlli</a:t>
            </a:r>
            <a:r>
              <a:rPr sz="1700" b="1" i="0" dirty="0">
                <a:solidFill>
                  <a:srgbClr val="0F766E"/>
                </a:solidFill>
                <a:latin typeface="Aptos"/>
              </a:rPr>
              <a:t> 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3926" y="2309872"/>
            <a:ext cx="10360152" cy="2677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0" i="0" dirty="0" err="1">
                <a:solidFill>
                  <a:srgbClr val="0F172A"/>
                </a:solidFill>
                <a:latin typeface="Aptos"/>
              </a:rPr>
              <a:t>massa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,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alimentazione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,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terminali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aperti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, nodi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flottanti</a:t>
            </a:r>
            <a:endParaRPr sz="1500" b="0" i="0" dirty="0">
              <a:solidFill>
                <a:srgbClr val="0F172A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77240" y="2788920"/>
            <a:ext cx="106527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77240" y="2788920"/>
            <a:ext cx="73152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1832" y="2898648"/>
            <a:ext cx="10360152" cy="2985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 i="0" dirty="0" err="1">
                <a:solidFill>
                  <a:srgbClr val="F59E0B"/>
                </a:solidFill>
                <a:latin typeface="Aptos"/>
              </a:rPr>
              <a:t>Controlli</a:t>
            </a:r>
            <a:r>
              <a:rPr sz="1700" b="1" i="0" dirty="0">
                <a:solidFill>
                  <a:srgbClr val="F59E0B"/>
                </a:solidFill>
                <a:latin typeface="Aptos"/>
              </a:rPr>
              <a:t> </a:t>
            </a:r>
            <a:r>
              <a:rPr sz="1700" b="1" i="0" dirty="0" err="1">
                <a:solidFill>
                  <a:srgbClr val="F59E0B"/>
                </a:solidFill>
                <a:latin typeface="Aptos"/>
              </a:rPr>
              <a:t>elettrici</a:t>
            </a:r>
            <a:endParaRPr sz="1700" b="1" i="0" dirty="0">
              <a:solidFill>
                <a:srgbClr val="F59E0B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53926" y="3165805"/>
            <a:ext cx="10360152" cy="2677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0" i="0" dirty="0">
                <a:solidFill>
                  <a:srgbClr val="0F172A"/>
                </a:solidFill>
                <a:latin typeface="Aptos"/>
              </a:rPr>
              <a:t>LED/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diodi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,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polarità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, switch, transistor,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carichi</a:t>
            </a:r>
            <a:endParaRPr sz="1500" b="0" i="0" dirty="0">
              <a:solidFill>
                <a:srgbClr val="0F172A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77240" y="3657599"/>
            <a:ext cx="106527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77240" y="3657599"/>
            <a:ext cx="73152" cy="658368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1832" y="3767327"/>
            <a:ext cx="10360152" cy="2985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 i="0" dirty="0" err="1">
                <a:solidFill>
                  <a:srgbClr val="16A34A"/>
                </a:solidFill>
                <a:latin typeface="Aptos"/>
              </a:rPr>
              <a:t>Risultati</a:t>
            </a:r>
            <a:r>
              <a:rPr sz="1700" b="1" i="0" dirty="0">
                <a:solidFill>
                  <a:srgbClr val="16A34A"/>
                </a:solidFill>
                <a:latin typeface="Aptos"/>
              </a:rPr>
              <a:t> SPICE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4065870"/>
            <a:ext cx="10360152" cy="2677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0" i="0" dirty="0" err="1">
                <a:solidFill>
                  <a:srgbClr val="0F172A"/>
                </a:solidFill>
                <a:latin typeface="Aptos"/>
              </a:rPr>
              <a:t>valori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.op,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grafici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.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tran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,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misure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.measure, log/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errori</a:t>
            </a:r>
            <a:endParaRPr sz="1500" b="0" i="0" dirty="0">
              <a:solidFill>
                <a:srgbClr val="0F172A"/>
              </a:solidFill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77240" y="4526279"/>
            <a:ext cx="106527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77240" y="4526279"/>
            <a:ext cx="73152" cy="658368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1832" y="4636007"/>
            <a:ext cx="10360152" cy="2985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 i="0" dirty="0" err="1">
                <a:solidFill>
                  <a:srgbClr val="DC2626"/>
                </a:solidFill>
                <a:latin typeface="Aptos"/>
              </a:rPr>
              <a:t>Limiti</a:t>
            </a:r>
            <a:endParaRPr sz="1700" b="1" i="0" dirty="0">
              <a:solidFill>
                <a:srgbClr val="DC2626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53926" y="4908047"/>
            <a:ext cx="10360152" cy="2677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0" i="0" dirty="0" err="1">
                <a:solidFill>
                  <a:srgbClr val="0F172A"/>
                </a:solidFill>
                <a:latin typeface="Aptos"/>
              </a:rPr>
              <a:t>cosa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manca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,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cosa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è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assunto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manualmente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,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cosa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non è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simulato</a:t>
            </a:r>
            <a:endParaRPr sz="1500" b="0" i="0" dirty="0">
              <a:solidFill>
                <a:srgbClr val="0F172A"/>
              </a:solidFill>
              <a:latin typeface="Apto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CBD5E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6583680"/>
            <a:ext cx="5486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Aptos"/>
              </a:rPr>
              <a:t>Integrazione JSON → SPICE → diagnosi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583680"/>
            <a:ext cx="6400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969264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 dirty="0">
                <a:solidFill>
                  <a:srgbClr val="0B1F33"/>
                </a:solidFill>
                <a:latin typeface="Aptos Display"/>
              </a:rPr>
              <a:t>Modul</a:t>
            </a:r>
            <a:r>
              <a:rPr lang="it-IT" sz="2800" b="1" i="0" dirty="0">
                <a:solidFill>
                  <a:srgbClr val="0B1F33"/>
                </a:solidFill>
                <a:latin typeface="Aptos Display"/>
              </a:rPr>
              <a:t>i</a:t>
            </a:r>
            <a:r>
              <a:rPr sz="2800" b="1" i="0" dirty="0">
                <a:solidFill>
                  <a:srgbClr val="0B1F33"/>
                </a:solidFill>
                <a:latin typeface="Aptos Display"/>
              </a:rPr>
              <a:t> 7</a:t>
            </a:r>
            <a:r>
              <a:rPr lang="it-IT" sz="2800" b="1" i="0" dirty="0">
                <a:solidFill>
                  <a:srgbClr val="0B1F33"/>
                </a:solidFill>
                <a:latin typeface="Aptos Display"/>
              </a:rPr>
              <a:t> </a:t>
            </a:r>
            <a:r>
              <a:rPr sz="2800" b="1" i="0" dirty="0">
                <a:solidFill>
                  <a:srgbClr val="0B1F33"/>
                </a:solidFill>
                <a:latin typeface="Aptos Display"/>
              </a:rPr>
              <a:t>–</a:t>
            </a:r>
            <a:r>
              <a:rPr lang="it-IT" sz="2800" b="1" i="0" dirty="0">
                <a:solidFill>
                  <a:srgbClr val="0B1F33"/>
                </a:solidFill>
                <a:latin typeface="Aptos Display"/>
              </a:rPr>
              <a:t> </a:t>
            </a:r>
            <a:r>
              <a:rPr sz="2800" b="1" i="0" dirty="0">
                <a:solidFill>
                  <a:srgbClr val="0B1F33"/>
                </a:solidFill>
                <a:latin typeface="Aptos Display"/>
              </a:rPr>
              <a:t>8</a:t>
            </a:r>
            <a:r>
              <a:rPr lang="it-IT" sz="2800" b="1" i="0" dirty="0">
                <a:solidFill>
                  <a:srgbClr val="0B1F33"/>
                </a:solidFill>
                <a:latin typeface="Aptos Display"/>
              </a:rPr>
              <a:t> - 9</a:t>
            </a:r>
            <a:r>
              <a:rPr sz="2800" b="1" i="0" dirty="0">
                <a:solidFill>
                  <a:srgbClr val="0B1F33"/>
                </a:solidFill>
                <a:latin typeface="Aptos Display"/>
              </a:rPr>
              <a:t>: </a:t>
            </a:r>
            <a:r>
              <a:rPr sz="2800" b="1" i="0" dirty="0" err="1">
                <a:solidFill>
                  <a:srgbClr val="0B1F33"/>
                </a:solidFill>
                <a:latin typeface="Aptos Display"/>
              </a:rPr>
              <a:t>contesto</a:t>
            </a:r>
            <a:r>
              <a:rPr sz="2800" b="1" i="0" dirty="0">
                <a:solidFill>
                  <a:srgbClr val="0B1F33"/>
                </a:solidFill>
                <a:latin typeface="Aptos Display"/>
              </a:rPr>
              <a:t> </a:t>
            </a:r>
            <a:r>
              <a:rPr sz="2800" b="1" i="0" dirty="0" err="1">
                <a:solidFill>
                  <a:srgbClr val="0B1F33"/>
                </a:solidFill>
                <a:latin typeface="Aptos Display"/>
              </a:rPr>
              <a:t>diagnostico</a:t>
            </a:r>
            <a:r>
              <a:rPr sz="2800" b="1" i="0" dirty="0">
                <a:solidFill>
                  <a:srgbClr val="0B1F33"/>
                </a:solidFill>
                <a:latin typeface="Aptos Display"/>
              </a:rPr>
              <a:t> e </a:t>
            </a:r>
            <a:r>
              <a:rPr sz="2800" b="1" i="0" dirty="0" err="1">
                <a:solidFill>
                  <a:srgbClr val="0B1F33"/>
                </a:solidFill>
                <a:latin typeface="Aptos Display"/>
              </a:rPr>
              <a:t>agente</a:t>
            </a:r>
            <a:r>
              <a:rPr sz="2800" b="1" i="0" dirty="0">
                <a:solidFill>
                  <a:srgbClr val="0B1F33"/>
                </a:solidFill>
                <a:latin typeface="Aptos Display"/>
              </a:rPr>
              <a:t>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713232"/>
            <a:ext cx="9784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0" i="0">
                <a:solidFill>
                  <a:srgbClr val="0F766E"/>
                </a:solidFill>
                <a:latin typeface="Aptos"/>
              </a:rPr>
              <a:t>Il prompt arricchito è il pacchetto tecnico usato dalla chat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292608"/>
            <a:ext cx="1691640" cy="32004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40112" y="345040"/>
            <a:ext cx="1627632" cy="1877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lang="it-IT" sz="1100" b="1" i="0" dirty="0">
                <a:solidFill>
                  <a:srgbClr val="FFFFFF"/>
                </a:solidFill>
                <a:latin typeface="Aptos"/>
              </a:rPr>
              <a:t>05 / Diagnosi</a:t>
            </a:r>
            <a:endParaRPr sz="110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77240" y="1051560"/>
            <a:ext cx="3657600" cy="34747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1161288"/>
            <a:ext cx="3364992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 i="0" dirty="0">
                <a:solidFill>
                  <a:srgbClr val="14B8A6"/>
                </a:solidFill>
                <a:latin typeface="Aptos"/>
              </a:rPr>
              <a:t>[GRAPH SUMMARY]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554480"/>
            <a:ext cx="3657600" cy="34747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1664207"/>
            <a:ext cx="3364992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 i="0" dirty="0">
                <a:solidFill>
                  <a:srgbClr val="14B8A6"/>
                </a:solidFill>
                <a:latin typeface="Aptos"/>
              </a:rPr>
              <a:t>[NODE MAP]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057400"/>
            <a:ext cx="3657600" cy="34747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1832" y="2167128"/>
            <a:ext cx="3364992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 i="0" dirty="0">
                <a:solidFill>
                  <a:srgbClr val="14B8A6"/>
                </a:solidFill>
                <a:latin typeface="Aptos"/>
              </a:rPr>
              <a:t>[VALUES]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560320"/>
            <a:ext cx="3657600" cy="34747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41832" y="2670048"/>
            <a:ext cx="3364992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 i="0" dirty="0">
                <a:solidFill>
                  <a:srgbClr val="14B8A6"/>
                </a:solidFill>
                <a:latin typeface="Aptos"/>
              </a:rPr>
              <a:t>[SPICE]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063240"/>
            <a:ext cx="3657600" cy="34747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1832" y="3172968"/>
            <a:ext cx="3364992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 i="0" dirty="0">
                <a:solidFill>
                  <a:srgbClr val="14B8A6"/>
                </a:solidFill>
                <a:latin typeface="Aptos"/>
              </a:rPr>
              <a:t>[ELECTRICAL CHECKS]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566160"/>
            <a:ext cx="3657600" cy="34747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1832" y="3675887"/>
            <a:ext cx="3364992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 i="0" dirty="0">
                <a:solidFill>
                  <a:srgbClr val="14B8A6"/>
                </a:solidFill>
                <a:latin typeface="Aptos"/>
              </a:rPr>
              <a:t>[DEVICE PROFILES]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069080"/>
            <a:ext cx="3657600" cy="34747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1832" y="4178808"/>
            <a:ext cx="3364992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 i="0" dirty="0">
                <a:solidFill>
                  <a:srgbClr val="14B8A6"/>
                </a:solidFill>
                <a:latin typeface="Aptos"/>
              </a:rPr>
              <a:t>[USER QUESTION]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572000"/>
            <a:ext cx="3657600" cy="34747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1832" y="4681728"/>
            <a:ext cx="3364992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 i="0" dirty="0">
                <a:solidFill>
                  <a:srgbClr val="14B8A6"/>
                </a:solidFill>
                <a:latin typeface="Aptos"/>
              </a:rPr>
              <a:t>[TASK]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709160" y="2971800"/>
            <a:ext cx="868680" cy="0"/>
          </a:xfrm>
          <a:prstGeom prst="line">
            <a:avLst/>
          </a:prstGeom>
          <a:ln w="254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715000" y="1234440"/>
            <a:ext cx="5440680" cy="406908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879592" y="1344168"/>
            <a:ext cx="5148072" cy="2985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700" b="1" i="0" dirty="0" err="1">
                <a:solidFill>
                  <a:srgbClr val="0F766E"/>
                </a:solidFill>
                <a:latin typeface="Aptos"/>
              </a:rPr>
              <a:t>Agente</a:t>
            </a:r>
            <a:r>
              <a:rPr sz="1700" b="1" i="0" dirty="0">
                <a:solidFill>
                  <a:srgbClr val="0F766E"/>
                </a:solidFill>
                <a:latin typeface="Aptos"/>
              </a:rPr>
              <a:t> AI / GPT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79592" y="1691640"/>
            <a:ext cx="5148072" cy="3375283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500" b="0" dirty="0" err="1">
                <a:solidFill>
                  <a:srgbClr val="0F172A"/>
                </a:solidFill>
                <a:latin typeface="Aptos"/>
              </a:rPr>
              <a:t>usa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dati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certi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dal JSON</a:t>
            </a: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500" b="0" dirty="0" err="1">
                <a:solidFill>
                  <a:srgbClr val="0F172A"/>
                </a:solidFill>
                <a:latin typeface="Aptos"/>
              </a:rPr>
              <a:t>legge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valori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e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assunzioni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dal YAML</a:t>
            </a: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500" b="0" dirty="0">
                <a:solidFill>
                  <a:srgbClr val="0F172A"/>
                </a:solidFill>
                <a:latin typeface="Aptos"/>
              </a:rPr>
              <a:t>integra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risultati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SPICE e report</a:t>
            </a: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500" b="0" dirty="0" err="1">
                <a:solidFill>
                  <a:srgbClr val="0F172A"/>
                </a:solidFill>
                <a:latin typeface="Aptos"/>
              </a:rPr>
              <a:t>usa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datasheet/device profile per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gli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IC</a:t>
            </a: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500" b="0" dirty="0" err="1">
                <a:solidFill>
                  <a:srgbClr val="0F172A"/>
                </a:solidFill>
                <a:latin typeface="Aptos"/>
              </a:rPr>
              <a:t>risponde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distinguendo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fatti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,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simulazione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,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dati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mancanti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e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ipotesi</a:t>
            </a: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it-IT" sz="1500" dirty="0">
                <a:solidFill>
                  <a:srgbClr val="0F172A"/>
                </a:solidFill>
                <a:latin typeface="Aptos"/>
              </a:rPr>
              <a:t>propone scenari risolutivi</a:t>
            </a:r>
            <a:endParaRPr sz="1500" b="0" dirty="0">
              <a:solidFill>
                <a:srgbClr val="0F172A"/>
              </a:solidFill>
              <a:latin typeface="Apto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CBD5E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6583680"/>
            <a:ext cx="5486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Aptos"/>
              </a:rPr>
              <a:t>Integrazione JSON → SPICE → diagnosi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583680"/>
            <a:ext cx="6400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96926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0B1F33"/>
                </a:solidFill>
                <a:latin typeface="Aptos Display"/>
              </a:rPr>
              <a:t>Regola metodologica principale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713232"/>
            <a:ext cx="9784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0" i="0">
                <a:solidFill>
                  <a:srgbClr val="0F766E"/>
                </a:solidFill>
                <a:latin typeface="Aptos"/>
              </a:rPr>
              <a:t>La pipeline non deve inventare collegamenti o modelli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292608"/>
            <a:ext cx="1691640" cy="32004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40112" y="345040"/>
            <a:ext cx="1627632" cy="1877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Aptos"/>
              </a:rPr>
              <a:t>05 / </a:t>
            </a:r>
            <a:r>
              <a:rPr sz="1100" b="1" i="0" dirty="0" err="1">
                <a:solidFill>
                  <a:srgbClr val="FFFFFF"/>
                </a:solidFill>
                <a:latin typeface="Aptos"/>
              </a:rPr>
              <a:t>Diagnosi</a:t>
            </a:r>
            <a:endParaRPr sz="110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1143000"/>
            <a:ext cx="5166360" cy="3622695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1" y="1252728"/>
            <a:ext cx="4873752" cy="2985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700" b="1" i="0" dirty="0">
                <a:solidFill>
                  <a:srgbClr val="0F766E"/>
                </a:solidFill>
                <a:latin typeface="Aptos"/>
              </a:rPr>
              <a:t>Cosa è </a:t>
            </a:r>
            <a:r>
              <a:rPr sz="1700" b="1" i="0" dirty="0" err="1">
                <a:solidFill>
                  <a:srgbClr val="0F766E"/>
                </a:solidFill>
                <a:latin typeface="Aptos"/>
              </a:rPr>
              <a:t>ammesso</a:t>
            </a:r>
            <a:endParaRPr sz="1700" b="1" i="0" dirty="0">
              <a:solidFill>
                <a:srgbClr val="0F766E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04671" y="1600200"/>
            <a:ext cx="4873752" cy="260584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400"/>
              </a:spcAft>
            </a:pPr>
            <a:endParaRPr lang="it-IT" sz="14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400" b="0" dirty="0" err="1">
                <a:solidFill>
                  <a:srgbClr val="0F172A"/>
                </a:solidFill>
                <a:latin typeface="Aptos"/>
              </a:rPr>
              <a:t>Aggiungere</a:t>
            </a:r>
            <a:r>
              <a:rPr sz="14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Aptos"/>
              </a:rPr>
              <a:t>valori</a:t>
            </a:r>
            <a:r>
              <a:rPr sz="14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Aptos"/>
              </a:rPr>
              <a:t>manuali</a:t>
            </a:r>
            <a:r>
              <a:rPr sz="14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Aptos"/>
              </a:rPr>
              <a:t>nel</a:t>
            </a:r>
            <a:r>
              <a:rPr sz="1400" b="0" dirty="0">
                <a:solidFill>
                  <a:srgbClr val="0F172A"/>
                </a:solidFill>
                <a:latin typeface="Aptos"/>
              </a:rPr>
              <a:t> YAML come </a:t>
            </a:r>
            <a:r>
              <a:rPr sz="1400" b="0" dirty="0" err="1">
                <a:solidFill>
                  <a:srgbClr val="0F172A"/>
                </a:solidFill>
                <a:latin typeface="Aptos"/>
              </a:rPr>
              <a:t>assunzioni</a:t>
            </a:r>
            <a:r>
              <a:rPr sz="14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Aptos"/>
              </a:rPr>
              <a:t>dichiarate</a:t>
            </a:r>
            <a:r>
              <a:rPr sz="1400" b="0" dirty="0">
                <a:solidFill>
                  <a:srgbClr val="0F172A"/>
                </a:solidFill>
                <a:latin typeface="Aptos"/>
              </a:rPr>
              <a:t>.</a:t>
            </a:r>
          </a:p>
          <a:p>
            <a:pPr>
              <a:spcAft>
                <a:spcPts val="400"/>
              </a:spcAft>
            </a:pPr>
            <a:endParaRPr lang="it-IT" sz="14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400" b="0" dirty="0" err="1">
                <a:solidFill>
                  <a:srgbClr val="0F172A"/>
                </a:solidFill>
                <a:latin typeface="Aptos"/>
              </a:rPr>
              <a:t>Aggiungere</a:t>
            </a:r>
            <a:r>
              <a:rPr sz="1400" b="0" dirty="0">
                <a:solidFill>
                  <a:srgbClr val="0F172A"/>
                </a:solidFill>
                <a:latin typeface="Aptos"/>
              </a:rPr>
              <a:t> nodi </a:t>
            </a:r>
            <a:r>
              <a:rPr sz="1400" b="0" dirty="0" err="1">
                <a:solidFill>
                  <a:srgbClr val="0F172A"/>
                </a:solidFill>
                <a:latin typeface="Aptos"/>
              </a:rPr>
              <a:t>manuali</a:t>
            </a:r>
            <a:r>
              <a:rPr sz="1400" b="0" dirty="0">
                <a:solidFill>
                  <a:srgbClr val="0F172A"/>
                </a:solidFill>
                <a:latin typeface="Aptos"/>
              </a:rPr>
              <a:t> come VDD/VCC/GND/OUT se non </a:t>
            </a:r>
            <a:r>
              <a:rPr sz="1400" b="0" dirty="0" err="1">
                <a:solidFill>
                  <a:srgbClr val="0F172A"/>
                </a:solidFill>
                <a:latin typeface="Aptos"/>
              </a:rPr>
              <a:t>rilevati</a:t>
            </a:r>
            <a:r>
              <a:rPr sz="1400" b="0" dirty="0">
                <a:solidFill>
                  <a:srgbClr val="0F172A"/>
                </a:solidFill>
                <a:latin typeface="Aptos"/>
              </a:rPr>
              <a:t>.</a:t>
            </a:r>
          </a:p>
          <a:p>
            <a:pPr>
              <a:spcAft>
                <a:spcPts val="400"/>
              </a:spcAft>
            </a:pPr>
            <a:endParaRPr lang="it-IT" sz="14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400" b="0" dirty="0" err="1">
                <a:solidFill>
                  <a:srgbClr val="0F172A"/>
                </a:solidFill>
                <a:latin typeface="Aptos"/>
              </a:rPr>
              <a:t>Usare</a:t>
            </a:r>
            <a:r>
              <a:rPr sz="14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Aptos"/>
              </a:rPr>
              <a:t>modelli</a:t>
            </a:r>
            <a:r>
              <a:rPr sz="14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Aptos"/>
              </a:rPr>
              <a:t>semplificati</a:t>
            </a:r>
            <a:r>
              <a:rPr sz="14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Aptos"/>
              </a:rPr>
              <a:t>quando</a:t>
            </a:r>
            <a:r>
              <a:rPr sz="14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Aptos"/>
              </a:rPr>
              <a:t>dichiarati</a:t>
            </a:r>
            <a:r>
              <a:rPr sz="1400" b="0" dirty="0">
                <a:solidFill>
                  <a:srgbClr val="0F172A"/>
                </a:solidFill>
                <a:latin typeface="Aptos"/>
              </a:rPr>
              <a:t>.</a:t>
            </a:r>
          </a:p>
          <a:p>
            <a:pPr>
              <a:spcAft>
                <a:spcPts val="400"/>
              </a:spcAft>
            </a:pPr>
            <a:endParaRPr lang="it-IT" sz="14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400" b="0" dirty="0" err="1">
                <a:solidFill>
                  <a:srgbClr val="0F172A"/>
                </a:solidFill>
                <a:latin typeface="Aptos"/>
              </a:rPr>
              <a:t>Produrre</a:t>
            </a:r>
            <a:r>
              <a:rPr sz="1400" b="0" dirty="0">
                <a:solidFill>
                  <a:srgbClr val="0F172A"/>
                </a:solidFill>
                <a:latin typeface="Aptos"/>
              </a:rPr>
              <a:t> warning </a:t>
            </a:r>
            <a:r>
              <a:rPr sz="1400" b="0" dirty="0" err="1">
                <a:solidFill>
                  <a:srgbClr val="0F172A"/>
                </a:solidFill>
                <a:latin typeface="Aptos"/>
              </a:rPr>
              <a:t>quando</a:t>
            </a:r>
            <a:r>
              <a:rPr sz="14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Aptos"/>
              </a:rPr>
              <a:t>qualcosa</a:t>
            </a:r>
            <a:r>
              <a:rPr sz="1400" b="0" dirty="0">
                <a:solidFill>
                  <a:srgbClr val="0F172A"/>
                </a:solidFill>
                <a:latin typeface="Aptos"/>
              </a:rPr>
              <a:t> è </a:t>
            </a:r>
            <a:r>
              <a:rPr sz="1400" b="0" dirty="0" err="1">
                <a:solidFill>
                  <a:srgbClr val="0F172A"/>
                </a:solidFill>
                <a:latin typeface="Aptos"/>
              </a:rPr>
              <a:t>incerto</a:t>
            </a:r>
            <a:r>
              <a:rPr sz="1400" b="0" dirty="0">
                <a:solidFill>
                  <a:srgbClr val="0F172A"/>
                </a:solidFill>
                <a:latin typeface="Aptos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143000"/>
            <a:ext cx="5166360" cy="3622695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19672" y="1252728"/>
            <a:ext cx="4873752" cy="2985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700" b="1" i="0" dirty="0">
                <a:solidFill>
                  <a:srgbClr val="DC2626"/>
                </a:solidFill>
                <a:latin typeface="Aptos"/>
              </a:rPr>
              <a:t>Cosa non </a:t>
            </a:r>
            <a:r>
              <a:rPr sz="1700" b="1" i="0" dirty="0" err="1">
                <a:solidFill>
                  <a:srgbClr val="DC2626"/>
                </a:solidFill>
                <a:latin typeface="Aptos"/>
              </a:rPr>
              <a:t>va</a:t>
            </a:r>
            <a:r>
              <a:rPr sz="1700" b="1" i="0" dirty="0">
                <a:solidFill>
                  <a:srgbClr val="DC2626"/>
                </a:solidFill>
                <a:latin typeface="Aptos"/>
              </a:rPr>
              <a:t> </a:t>
            </a:r>
            <a:r>
              <a:rPr sz="1700" b="1" i="0" dirty="0" err="1">
                <a:solidFill>
                  <a:srgbClr val="DC2626"/>
                </a:solidFill>
                <a:latin typeface="Aptos"/>
              </a:rPr>
              <a:t>fatto</a:t>
            </a:r>
            <a:endParaRPr sz="1700" b="1" i="0" dirty="0">
              <a:solidFill>
                <a:srgbClr val="DC2626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19672" y="1600200"/>
            <a:ext cx="4873752" cy="275973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 err="1">
                <a:solidFill>
                  <a:srgbClr val="0F172A"/>
                </a:solidFill>
                <a:latin typeface="Aptos"/>
              </a:rPr>
              <a:t>Inventare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un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collegamento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assente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nel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graph JSON.</a:t>
            </a: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 err="1">
                <a:solidFill>
                  <a:srgbClr val="0F172A"/>
                </a:solidFill>
                <a:latin typeface="Aptos"/>
              </a:rPr>
              <a:t>Usare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un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modello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SPICE non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verificato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come se fosse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certo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.</a:t>
            </a: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 err="1">
                <a:solidFill>
                  <a:srgbClr val="0F172A"/>
                </a:solidFill>
                <a:latin typeface="Aptos"/>
              </a:rPr>
              <a:t>Simulare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internamente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IC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complessi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senza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modello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affidabile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.</a:t>
            </a: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 err="1">
                <a:solidFill>
                  <a:srgbClr val="0F172A"/>
                </a:solidFill>
                <a:latin typeface="Aptos"/>
              </a:rPr>
              <a:t>Nascondere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valori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assunti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manualmente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CBD5E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6583680"/>
            <a:ext cx="5486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Aptos"/>
              </a:rPr>
              <a:t>Integrazione JSON → SPICE → diagnosi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583680"/>
            <a:ext cx="6400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96926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0B1F33"/>
                </a:solidFill>
                <a:latin typeface="Aptos Display"/>
              </a:rPr>
              <a:t>Validazione a difficoltà crescente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713232"/>
            <a:ext cx="9784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0" i="0">
                <a:solidFill>
                  <a:srgbClr val="0F766E"/>
                </a:solidFill>
                <a:latin typeface="Aptos"/>
              </a:rPr>
              <a:t>Stessa pipeline, batch diversi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292608"/>
            <a:ext cx="1691640" cy="32004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40112" y="345040"/>
            <a:ext cx="1627632" cy="1877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Aptos"/>
              </a:rPr>
              <a:t>06 / Batch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99032"/>
            <a:ext cx="251460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527048"/>
            <a:ext cx="2221992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600" b="1" i="0" dirty="0">
                <a:solidFill>
                  <a:srgbClr val="0F766E"/>
                </a:solidFill>
                <a:latin typeface="Aptos"/>
              </a:rPr>
              <a:t>Batch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874519"/>
            <a:ext cx="2221992" cy="8987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endParaRPr lang="it-IT" sz="1400" dirty="0">
              <a:solidFill>
                <a:srgbClr val="0F172A"/>
              </a:solidFill>
              <a:latin typeface="Aptos"/>
            </a:endParaRPr>
          </a:p>
          <a:p>
            <a:pPr algn="l"/>
            <a:endParaRPr lang="it-IT" sz="1400" b="0" i="0" dirty="0">
              <a:solidFill>
                <a:srgbClr val="0F172A"/>
              </a:solidFill>
              <a:latin typeface="Aptos"/>
            </a:endParaRPr>
          </a:p>
          <a:p>
            <a:pPr algn="l"/>
            <a:r>
              <a:rPr sz="1400" b="0" i="0" dirty="0" err="1">
                <a:solidFill>
                  <a:srgbClr val="0F172A"/>
                </a:solidFill>
                <a:latin typeface="Aptos"/>
              </a:rPr>
              <a:t>Circuiti</a:t>
            </a:r>
            <a:r>
              <a:rPr sz="14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0F172A"/>
                </a:solidFill>
                <a:latin typeface="Aptos"/>
              </a:rPr>
              <a:t>discreti</a:t>
            </a:r>
            <a:r>
              <a:rPr sz="14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0F172A"/>
                </a:solidFill>
                <a:latin typeface="Aptos"/>
              </a:rPr>
              <a:t>semplici</a:t>
            </a:r>
            <a:r>
              <a:rPr sz="1400" b="0" i="0" dirty="0">
                <a:solidFill>
                  <a:srgbClr val="0F172A"/>
                </a:solidFill>
                <a:latin typeface="Aptos"/>
              </a:rPr>
              <a:t>: base JSON → nodi → SPICE.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00400" y="3429000"/>
            <a:ext cx="256032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474720" y="1417320"/>
            <a:ext cx="251460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39312" y="1527048"/>
            <a:ext cx="2221992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600" b="1" i="0" dirty="0">
                <a:solidFill>
                  <a:srgbClr val="2563EB"/>
                </a:solidFill>
                <a:latin typeface="Aptos"/>
              </a:rPr>
              <a:t>Batch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1874519"/>
            <a:ext cx="2221992" cy="219136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endParaRPr lang="it-IT" sz="1400" b="0" i="0" dirty="0">
              <a:solidFill>
                <a:srgbClr val="0F172A"/>
              </a:solidFill>
              <a:latin typeface="Aptos"/>
            </a:endParaRPr>
          </a:p>
          <a:p>
            <a:pPr algn="l"/>
            <a:endParaRPr lang="it-IT" sz="1400" dirty="0">
              <a:solidFill>
                <a:srgbClr val="0F172A"/>
              </a:solidFill>
              <a:latin typeface="Aptos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400" b="0" i="0" dirty="0" err="1">
                <a:solidFill>
                  <a:srgbClr val="0F172A"/>
                </a:solidFill>
                <a:latin typeface="Aptos"/>
              </a:rPr>
              <a:t>Semiconduttori</a:t>
            </a:r>
            <a:endParaRPr lang="it-IT" sz="1400" dirty="0">
              <a:solidFill>
                <a:srgbClr val="0F172A"/>
              </a:solidFill>
              <a:latin typeface="Aptos"/>
            </a:endParaRPr>
          </a:p>
          <a:p>
            <a:pPr algn="l"/>
            <a:endParaRPr lang="it-IT" sz="1400" b="0" i="0" dirty="0">
              <a:solidFill>
                <a:srgbClr val="0F172A"/>
              </a:solidFill>
              <a:latin typeface="Aptos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400" b="0" i="0" dirty="0">
                <a:solidFill>
                  <a:srgbClr val="0F172A"/>
                </a:solidFill>
                <a:latin typeface="Aptos"/>
              </a:rPr>
              <a:t>MOSFET</a:t>
            </a:r>
            <a:endParaRPr lang="it-IT" sz="1400" b="0" i="0" dirty="0">
              <a:solidFill>
                <a:srgbClr val="0F172A"/>
              </a:solidFill>
              <a:latin typeface="Aptos"/>
            </a:endParaRPr>
          </a:p>
          <a:p>
            <a:pPr algn="l"/>
            <a:endParaRPr lang="it-IT" sz="1400" b="0" i="0" dirty="0">
              <a:solidFill>
                <a:srgbClr val="0F172A"/>
              </a:solidFill>
              <a:latin typeface="Aptos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400" b="0" i="0" dirty="0">
                <a:solidFill>
                  <a:srgbClr val="0F172A"/>
                </a:solidFill>
                <a:latin typeface="Aptos"/>
              </a:rPr>
              <a:t>SCR</a:t>
            </a:r>
            <a:endParaRPr lang="it-IT" sz="1400" b="0" i="0" dirty="0">
              <a:solidFill>
                <a:srgbClr val="0F172A"/>
              </a:solidFill>
              <a:latin typeface="Aptos"/>
            </a:endParaRPr>
          </a:p>
          <a:p>
            <a:pPr algn="l"/>
            <a:endParaRPr lang="it-IT" sz="1400" b="0" i="0" dirty="0">
              <a:solidFill>
                <a:srgbClr val="0F172A"/>
              </a:solidFill>
              <a:latin typeface="Aptos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it-IT" sz="1400" dirty="0">
                <a:solidFill>
                  <a:srgbClr val="0F172A"/>
                </a:solidFill>
                <a:latin typeface="Aptos"/>
              </a:rPr>
              <a:t>C</a:t>
            </a:r>
            <a:r>
              <a:rPr sz="1400" b="0" i="0" dirty="0" err="1">
                <a:solidFill>
                  <a:srgbClr val="0F172A"/>
                </a:solidFill>
                <a:latin typeface="Aptos"/>
              </a:rPr>
              <a:t>ircuiti</a:t>
            </a:r>
            <a:r>
              <a:rPr sz="14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0F172A"/>
                </a:solidFill>
                <a:latin typeface="Aptos"/>
              </a:rPr>
              <a:t>discreti</a:t>
            </a:r>
            <a:r>
              <a:rPr sz="14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0F172A"/>
                </a:solidFill>
                <a:latin typeface="Aptos"/>
              </a:rPr>
              <a:t>più</a:t>
            </a:r>
            <a:r>
              <a:rPr sz="14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0F172A"/>
                </a:solidFill>
                <a:latin typeface="Aptos"/>
              </a:rPr>
              <a:t>complessi</a:t>
            </a:r>
            <a:r>
              <a:rPr sz="1400" b="0" i="0" dirty="0">
                <a:solidFill>
                  <a:srgbClr val="0F172A"/>
                </a:solidFill>
                <a:latin typeface="Aptos"/>
              </a:rPr>
              <a:t>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89320" y="3429000"/>
            <a:ext cx="256032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263640" y="1417320"/>
            <a:ext cx="251460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28231" y="1527048"/>
            <a:ext cx="2221992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600" b="1" i="0" dirty="0">
                <a:solidFill>
                  <a:srgbClr val="F59E0B"/>
                </a:solidFill>
                <a:latin typeface="Aptos"/>
              </a:rPr>
              <a:t>Batch C1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1" y="1874519"/>
            <a:ext cx="2221992" cy="240681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endParaRPr lang="it-IT" sz="1400" b="0" i="0" dirty="0">
              <a:solidFill>
                <a:srgbClr val="0F172A"/>
              </a:solidFill>
              <a:latin typeface="Aptos"/>
            </a:endParaRPr>
          </a:p>
          <a:p>
            <a:pPr algn="l"/>
            <a:endParaRPr lang="it-IT" sz="1400" dirty="0">
              <a:solidFill>
                <a:srgbClr val="0F172A"/>
              </a:solidFill>
              <a:latin typeface="Aptos"/>
            </a:endParaRPr>
          </a:p>
          <a:p>
            <a:pPr algn="l"/>
            <a:r>
              <a:rPr sz="1400" b="0" i="0" dirty="0">
                <a:solidFill>
                  <a:srgbClr val="0F172A"/>
                </a:solidFill>
                <a:latin typeface="Aptos"/>
              </a:rPr>
              <a:t>IC </a:t>
            </a:r>
            <a:r>
              <a:rPr sz="1400" b="0" i="0" dirty="0" err="1">
                <a:solidFill>
                  <a:srgbClr val="0F172A"/>
                </a:solidFill>
                <a:latin typeface="Aptos"/>
              </a:rPr>
              <a:t>semplici</a:t>
            </a:r>
            <a:r>
              <a:rPr sz="1400" b="0" i="0" dirty="0">
                <a:solidFill>
                  <a:srgbClr val="0F172A"/>
                </a:solidFill>
                <a:latin typeface="Aptos"/>
              </a:rPr>
              <a:t> o </a:t>
            </a:r>
            <a:r>
              <a:rPr sz="1400" b="0" i="0" dirty="0" err="1">
                <a:solidFill>
                  <a:srgbClr val="0F172A"/>
                </a:solidFill>
                <a:latin typeface="Aptos"/>
              </a:rPr>
              <a:t>misti</a:t>
            </a:r>
            <a:r>
              <a:rPr sz="1400" b="0" i="0" dirty="0">
                <a:solidFill>
                  <a:srgbClr val="0F172A"/>
                </a:solidFill>
                <a:latin typeface="Aptos"/>
              </a:rPr>
              <a:t>: </a:t>
            </a:r>
            <a:endParaRPr lang="it-IT" sz="1400" b="0" i="0" dirty="0">
              <a:solidFill>
                <a:srgbClr val="0F172A"/>
              </a:solidFill>
              <a:latin typeface="Aptos"/>
            </a:endParaRPr>
          </a:p>
          <a:p>
            <a:pPr algn="l"/>
            <a:endParaRPr lang="it-IT" sz="1400" b="0" i="0" dirty="0">
              <a:solidFill>
                <a:srgbClr val="0F172A"/>
              </a:solidFill>
              <a:latin typeface="Aptos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400" b="0" i="0" dirty="0">
                <a:solidFill>
                  <a:srgbClr val="0F172A"/>
                </a:solidFill>
                <a:latin typeface="Aptos"/>
              </a:rPr>
              <a:t>555</a:t>
            </a:r>
            <a:endParaRPr lang="it-IT" sz="1400" b="0" i="0" dirty="0">
              <a:solidFill>
                <a:srgbClr val="0F172A"/>
              </a:solidFill>
              <a:latin typeface="Aptos"/>
            </a:endParaRPr>
          </a:p>
          <a:p>
            <a:pPr algn="l"/>
            <a:endParaRPr lang="it-IT" sz="1400" b="0" i="0" dirty="0">
              <a:solidFill>
                <a:srgbClr val="0F172A"/>
              </a:solidFill>
              <a:latin typeface="Aptos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400" b="0" i="0" dirty="0">
                <a:solidFill>
                  <a:srgbClr val="0F172A"/>
                </a:solidFill>
                <a:latin typeface="Aptos"/>
              </a:rPr>
              <a:t>CD4017/CD4026</a:t>
            </a:r>
            <a:endParaRPr lang="it-IT" sz="1400" dirty="0">
              <a:solidFill>
                <a:srgbClr val="0F172A"/>
              </a:solidFill>
              <a:latin typeface="Aptos"/>
            </a:endParaRPr>
          </a:p>
          <a:p>
            <a:pPr algn="l"/>
            <a:endParaRPr lang="it-IT" sz="1400" b="0" i="0" dirty="0">
              <a:solidFill>
                <a:srgbClr val="0F172A"/>
              </a:solidFill>
              <a:latin typeface="Aptos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400" b="0" i="0" dirty="0">
                <a:solidFill>
                  <a:srgbClr val="0F172A"/>
                </a:solidFill>
                <a:latin typeface="Aptos"/>
              </a:rPr>
              <a:t>LM317</a:t>
            </a:r>
            <a:endParaRPr lang="it-IT" sz="1400" b="0" i="0" dirty="0">
              <a:solidFill>
                <a:srgbClr val="0F172A"/>
              </a:solidFill>
              <a:latin typeface="Aptos"/>
            </a:endParaRPr>
          </a:p>
          <a:p>
            <a:pPr algn="l"/>
            <a:endParaRPr lang="it-IT" sz="1400" b="0" i="0" dirty="0">
              <a:solidFill>
                <a:srgbClr val="0F172A"/>
              </a:solidFill>
              <a:latin typeface="Aptos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it-IT" sz="1400" dirty="0">
                <a:solidFill>
                  <a:srgbClr val="0F172A"/>
                </a:solidFill>
                <a:latin typeface="Aptos"/>
              </a:rPr>
              <a:t>O</a:t>
            </a:r>
            <a:r>
              <a:rPr sz="1400" b="0" i="0" dirty="0">
                <a:solidFill>
                  <a:srgbClr val="0F172A"/>
                </a:solidFill>
                <a:latin typeface="Aptos"/>
              </a:rPr>
              <a:t>p-amp.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778240" y="3429000"/>
            <a:ext cx="256032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052559" y="1417320"/>
            <a:ext cx="251460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17151" y="1527048"/>
            <a:ext cx="2221992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600" b="1" i="0" dirty="0">
                <a:solidFill>
                  <a:srgbClr val="7C3AED"/>
                </a:solidFill>
                <a:latin typeface="Aptos"/>
              </a:rPr>
              <a:t>Batch C2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7151" y="1874519"/>
            <a:ext cx="2221992" cy="240681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endParaRPr lang="it-IT" sz="1400" b="0" i="0" dirty="0">
              <a:solidFill>
                <a:srgbClr val="0F172A"/>
              </a:solidFill>
              <a:latin typeface="Aptos"/>
            </a:endParaRPr>
          </a:p>
          <a:p>
            <a:pPr algn="l"/>
            <a:endParaRPr lang="it-IT" sz="1400" b="0" i="0" dirty="0">
              <a:solidFill>
                <a:srgbClr val="0F172A"/>
              </a:solidFill>
              <a:latin typeface="Aptos"/>
            </a:endParaRPr>
          </a:p>
          <a:p>
            <a:pPr algn="l"/>
            <a:r>
              <a:rPr sz="1400" b="0" i="0" dirty="0">
                <a:solidFill>
                  <a:srgbClr val="0F172A"/>
                </a:solidFill>
                <a:latin typeface="Aptos"/>
              </a:rPr>
              <a:t>IC </a:t>
            </a:r>
            <a:r>
              <a:rPr sz="1400" b="0" i="0" dirty="0" err="1">
                <a:solidFill>
                  <a:srgbClr val="0F172A"/>
                </a:solidFill>
                <a:latin typeface="Aptos"/>
              </a:rPr>
              <a:t>applicativi</a:t>
            </a:r>
            <a:r>
              <a:rPr sz="1400" b="0" i="0" dirty="0">
                <a:solidFill>
                  <a:srgbClr val="0F172A"/>
                </a:solidFill>
                <a:latin typeface="Aptos"/>
              </a:rPr>
              <a:t>/</a:t>
            </a:r>
            <a:r>
              <a:rPr sz="1400" b="0" i="0" dirty="0" err="1">
                <a:solidFill>
                  <a:srgbClr val="0F172A"/>
                </a:solidFill>
                <a:latin typeface="Aptos"/>
              </a:rPr>
              <a:t>complessi</a:t>
            </a:r>
            <a:r>
              <a:rPr sz="1400" b="0" i="0" dirty="0">
                <a:solidFill>
                  <a:srgbClr val="0F172A"/>
                </a:solidFill>
                <a:latin typeface="Aptos"/>
              </a:rPr>
              <a:t>: </a:t>
            </a:r>
            <a:endParaRPr lang="it-IT" sz="1400" b="0" i="0" dirty="0">
              <a:solidFill>
                <a:srgbClr val="0F172A"/>
              </a:solidFill>
              <a:latin typeface="Aptos"/>
            </a:endParaRPr>
          </a:p>
          <a:p>
            <a:pPr algn="l"/>
            <a:endParaRPr lang="it-IT" sz="1400" b="0" i="0" dirty="0">
              <a:solidFill>
                <a:srgbClr val="0F172A"/>
              </a:solidFill>
              <a:latin typeface="Aptos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400" b="0" i="0" dirty="0">
                <a:solidFill>
                  <a:srgbClr val="0F172A"/>
                </a:solidFill>
                <a:latin typeface="Aptos"/>
              </a:rPr>
              <a:t>ADC</a:t>
            </a:r>
            <a:endParaRPr lang="it-IT" sz="1400" dirty="0">
              <a:solidFill>
                <a:srgbClr val="0F172A"/>
              </a:solidFill>
              <a:latin typeface="Aptos"/>
            </a:endParaRPr>
          </a:p>
          <a:p>
            <a:pPr algn="l"/>
            <a:endParaRPr lang="it-IT" sz="1400" b="0" i="0" dirty="0">
              <a:solidFill>
                <a:srgbClr val="0F172A"/>
              </a:solidFill>
              <a:latin typeface="Aptos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it-IT" sz="1400" b="0" i="0" dirty="0">
                <a:solidFill>
                  <a:srgbClr val="0F172A"/>
                </a:solidFill>
                <a:latin typeface="Aptos"/>
              </a:rPr>
              <a:t>M</a:t>
            </a:r>
            <a:r>
              <a:rPr sz="1400" b="0" i="0" dirty="0" err="1">
                <a:solidFill>
                  <a:srgbClr val="0F172A"/>
                </a:solidFill>
                <a:latin typeface="Aptos"/>
              </a:rPr>
              <a:t>icrocontrollori</a:t>
            </a:r>
            <a:endParaRPr lang="it-IT" sz="1400" dirty="0">
              <a:solidFill>
                <a:srgbClr val="0F172A"/>
              </a:solidFill>
              <a:latin typeface="Aptos"/>
            </a:endParaRPr>
          </a:p>
          <a:p>
            <a:pPr algn="l"/>
            <a:endParaRPr lang="it-IT" sz="1400" b="0" i="0" dirty="0">
              <a:solidFill>
                <a:srgbClr val="0F172A"/>
              </a:solidFill>
              <a:latin typeface="Aptos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it-IT" sz="1400" b="0" i="0" dirty="0">
                <a:solidFill>
                  <a:srgbClr val="0F172A"/>
                </a:solidFill>
                <a:latin typeface="Aptos"/>
              </a:rPr>
              <a:t>A</a:t>
            </a:r>
            <a:r>
              <a:rPr sz="1400" b="0" i="0" dirty="0" err="1">
                <a:solidFill>
                  <a:srgbClr val="0F172A"/>
                </a:solidFill>
                <a:latin typeface="Aptos"/>
              </a:rPr>
              <a:t>udio</a:t>
            </a:r>
            <a:endParaRPr lang="it-IT" sz="1400" b="0" i="0" dirty="0">
              <a:solidFill>
                <a:srgbClr val="0F172A"/>
              </a:solidFill>
              <a:latin typeface="Aptos"/>
            </a:endParaRPr>
          </a:p>
          <a:p>
            <a:pPr algn="l"/>
            <a:endParaRPr lang="it-IT" sz="1400" b="0" i="0" dirty="0">
              <a:solidFill>
                <a:srgbClr val="0F172A"/>
              </a:solidFill>
              <a:latin typeface="Aptos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it-IT" sz="1400" dirty="0">
                <a:solidFill>
                  <a:srgbClr val="0F172A"/>
                </a:solidFill>
                <a:latin typeface="Aptos"/>
              </a:rPr>
              <a:t>M</a:t>
            </a:r>
            <a:r>
              <a:rPr sz="1400" b="0" i="0" dirty="0" err="1">
                <a:solidFill>
                  <a:srgbClr val="0F172A"/>
                </a:solidFill>
                <a:latin typeface="Aptos"/>
              </a:rPr>
              <a:t>otori</a:t>
            </a:r>
            <a:r>
              <a:rPr sz="1400" b="0" i="0" dirty="0">
                <a:solidFill>
                  <a:srgbClr val="0F172A"/>
                </a:solidFill>
                <a:latin typeface="Aptos"/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715000"/>
            <a:ext cx="10698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 i="0">
                <a:solidFill>
                  <a:srgbClr val="0B1F33"/>
                </a:solidFill>
                <a:latin typeface="Aptos"/>
              </a:rPr>
              <a:t>I batch non sono pipeline separate: sono test progressivi della stessa architettura.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CBD5E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6583680"/>
            <a:ext cx="5486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Aptos"/>
              </a:rPr>
              <a:t>Integrazione JSON → SPICE → diagnosi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583680"/>
            <a:ext cx="6400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96926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0B1F33"/>
                </a:solidFill>
                <a:latin typeface="Aptos Display"/>
              </a:rPr>
              <a:t>Batch A — base della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713232"/>
            <a:ext cx="9784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0" i="0">
                <a:solidFill>
                  <a:srgbClr val="0F766E"/>
                </a:solidFill>
                <a:latin typeface="Aptos"/>
              </a:rPr>
              <a:t>Circuiti semplici e simulabili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292608"/>
            <a:ext cx="1691640" cy="32004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40112" y="345040"/>
            <a:ext cx="1627632" cy="1877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Aptos"/>
              </a:rPr>
              <a:t>06 / Batch</a:t>
            </a:r>
          </a:p>
        </p:txBody>
      </p:sp>
      <p:pic>
        <p:nvPicPr>
          <p:cNvPr id="6" name="Picture 5" descr="schema_dei_circuiti_batch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206" y="1005840"/>
            <a:ext cx="3720307" cy="5257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1005840"/>
            <a:ext cx="4754880" cy="5257800"/>
          </a:xfrm>
          <a:prstGeom prst="rect">
            <a:avLst/>
          </a:prstGeom>
          <a:noFill/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532120" y="1051560"/>
            <a:ext cx="598932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96712" y="1161288"/>
            <a:ext cx="5696712" cy="2985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700" b="1" i="0" dirty="0" err="1">
                <a:solidFill>
                  <a:srgbClr val="0F766E"/>
                </a:solidFill>
                <a:latin typeface="Aptos"/>
              </a:rPr>
              <a:t>Obiettivo</a:t>
            </a:r>
            <a:r>
              <a:rPr sz="1700" b="1" i="0" dirty="0">
                <a:solidFill>
                  <a:srgbClr val="0F766E"/>
                </a:solidFill>
                <a:latin typeface="Aptos"/>
              </a:rPr>
              <a:t> del Batch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96712" y="1508760"/>
            <a:ext cx="5696712" cy="342657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 err="1">
                <a:solidFill>
                  <a:srgbClr val="0F172A"/>
                </a:solidFill>
                <a:latin typeface="Aptos"/>
              </a:rPr>
              <a:t>Validare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la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ricostruzione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dei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nodi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elettrici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.</a:t>
            </a: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 err="1">
                <a:solidFill>
                  <a:srgbClr val="0F172A"/>
                </a:solidFill>
                <a:latin typeface="Aptos"/>
              </a:rPr>
              <a:t>Gestire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GND,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alimentazioni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e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componenti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discreti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.</a:t>
            </a: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 err="1">
                <a:solidFill>
                  <a:srgbClr val="0F172A"/>
                </a:solidFill>
                <a:latin typeface="Aptos"/>
              </a:rPr>
              <a:t>Generare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le prime netlist SPICE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eseguibili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.</a:t>
            </a: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 err="1">
                <a:solidFill>
                  <a:srgbClr val="0F172A"/>
                </a:solidFill>
                <a:latin typeface="Aptos"/>
              </a:rPr>
              <a:t>Eseguire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.op e .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tran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dove utile.</a:t>
            </a: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 err="1">
                <a:solidFill>
                  <a:srgbClr val="0F172A"/>
                </a:solidFill>
                <a:latin typeface="Aptos"/>
              </a:rPr>
              <a:t>Produrre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report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elettrici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leggibili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.</a:t>
            </a: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 err="1">
                <a:solidFill>
                  <a:srgbClr val="0F172A"/>
                </a:solidFill>
                <a:latin typeface="Aptos"/>
              </a:rPr>
              <a:t>Partire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dai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casi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più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semplici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, poi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introdurre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transistor e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casi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parziali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CBD5E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6583680"/>
            <a:ext cx="5486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Aptos"/>
              </a:rPr>
              <a:t>Integrazione JSON → SPICE → diagnosi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583680"/>
            <a:ext cx="6400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96926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0B1F33"/>
                </a:solidFill>
                <a:latin typeface="Aptos Display"/>
              </a:rPr>
              <a:t>Batch B — componenti discreti più complessi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713232"/>
            <a:ext cx="9784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0" i="0">
                <a:solidFill>
                  <a:srgbClr val="0F766E"/>
                </a:solidFill>
                <a:latin typeface="Aptos"/>
              </a:rPr>
              <a:t>Semiconduttori, MOSFET, SCR e segnali variabili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292608"/>
            <a:ext cx="1691640" cy="32004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40112" y="345040"/>
            <a:ext cx="1627632" cy="1877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Aptos"/>
              </a:rPr>
              <a:t>06 / Batch</a:t>
            </a:r>
          </a:p>
        </p:txBody>
      </p:sp>
      <p:pic>
        <p:nvPicPr>
          <p:cNvPr id="6" name="Picture 5" descr="circuiti_elettronici_batch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8131" y="1005840"/>
            <a:ext cx="3004457" cy="5257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1005840"/>
            <a:ext cx="4754880" cy="5257800"/>
          </a:xfrm>
          <a:prstGeom prst="rect">
            <a:avLst/>
          </a:prstGeom>
          <a:noFill/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532120" y="1051560"/>
            <a:ext cx="598932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96712" y="1161288"/>
            <a:ext cx="5696712" cy="2985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700" b="1" i="0" dirty="0" err="1">
                <a:solidFill>
                  <a:srgbClr val="2563EB"/>
                </a:solidFill>
                <a:latin typeface="Aptos"/>
              </a:rPr>
              <a:t>Obiettivo</a:t>
            </a:r>
            <a:r>
              <a:rPr sz="1700" b="1" i="0" dirty="0">
                <a:solidFill>
                  <a:srgbClr val="2563EB"/>
                </a:solidFill>
                <a:latin typeface="Aptos"/>
              </a:rPr>
              <a:t> del Batch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96712" y="1508760"/>
            <a:ext cx="5696712" cy="309315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 err="1">
                <a:solidFill>
                  <a:srgbClr val="0F172A"/>
                </a:solidFill>
                <a:latin typeface="Aptos"/>
              </a:rPr>
              <a:t>Aggiungere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modelli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generici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per BJT, MOSFET,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diodi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e LED.</a:t>
            </a: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 err="1">
                <a:solidFill>
                  <a:srgbClr val="0F172A"/>
                </a:solidFill>
                <a:latin typeface="Aptos"/>
              </a:rPr>
              <a:t>Gestire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circuiti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con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polarità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,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carichi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,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fusibili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e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sorgenti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variabili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.</a:t>
            </a: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 err="1">
                <a:solidFill>
                  <a:srgbClr val="0F172A"/>
                </a:solidFill>
                <a:latin typeface="Aptos"/>
              </a:rPr>
              <a:t>Usare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1" dirty="0" err="1">
                <a:solidFill>
                  <a:srgbClr val="0F172A"/>
                </a:solidFill>
                <a:latin typeface="Aptos"/>
              </a:rPr>
              <a:t>values.yaml</a:t>
            </a:r>
            <a:r>
              <a:rPr sz="1500" b="1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per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valori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e nodi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manuali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.</a:t>
            </a: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 err="1">
                <a:solidFill>
                  <a:srgbClr val="0F172A"/>
                </a:solidFill>
                <a:latin typeface="Aptos"/>
              </a:rPr>
              <a:t>Gestire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casi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con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terminali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non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collegati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o label non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rilevate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.</a:t>
            </a: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 err="1">
                <a:solidFill>
                  <a:srgbClr val="0F172A"/>
                </a:solidFill>
                <a:latin typeface="Aptos"/>
              </a:rPr>
              <a:t>Passare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da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conversione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topologica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a prima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analisi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elettrica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significativa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CBD5E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6583680"/>
            <a:ext cx="5486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Aptos"/>
              </a:rPr>
              <a:t>Integrazione JSON → SPICE → diagnosi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583680"/>
            <a:ext cx="6400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96926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0B1F33"/>
                </a:solidFill>
                <a:latin typeface="Aptos Display"/>
              </a:rPr>
              <a:t>Batch C1 — IC semplici o misti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713232"/>
            <a:ext cx="9784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0" i="0">
                <a:solidFill>
                  <a:srgbClr val="0F766E"/>
                </a:solidFill>
                <a:latin typeface="Aptos"/>
              </a:rPr>
              <a:t>Timer, contatori, display e circuiti ibridi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292608"/>
            <a:ext cx="1691640" cy="32004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40112" y="345040"/>
            <a:ext cx="1627632" cy="1877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Aptos"/>
              </a:rPr>
              <a:t>06 / Batch</a:t>
            </a:r>
          </a:p>
        </p:txBody>
      </p:sp>
      <p:pic>
        <p:nvPicPr>
          <p:cNvPr id="6" name="Picture 5" descr="circuiti_semplici_e_misti_batch_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206" y="1005840"/>
            <a:ext cx="3720307" cy="5257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1005840"/>
            <a:ext cx="4754880" cy="5257800"/>
          </a:xfrm>
          <a:prstGeom prst="rect">
            <a:avLst/>
          </a:prstGeom>
          <a:noFill/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532120" y="1051560"/>
            <a:ext cx="598932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96712" y="1161288"/>
            <a:ext cx="5696712" cy="2985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700" b="1" i="0" dirty="0" err="1">
                <a:solidFill>
                  <a:srgbClr val="F59E0B"/>
                </a:solidFill>
                <a:latin typeface="Aptos"/>
              </a:rPr>
              <a:t>Obiettivo</a:t>
            </a:r>
            <a:r>
              <a:rPr sz="1700" b="1" i="0" dirty="0">
                <a:solidFill>
                  <a:srgbClr val="F59E0B"/>
                </a:solidFill>
                <a:latin typeface="Aptos"/>
              </a:rPr>
              <a:t> del Batch C1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96712" y="1508760"/>
            <a:ext cx="5696712" cy="309315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 err="1">
                <a:solidFill>
                  <a:srgbClr val="0F172A"/>
                </a:solidFill>
                <a:latin typeface="Aptos"/>
              </a:rPr>
              <a:t>Introdurre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device profile per IC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noti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.</a:t>
            </a: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Aptos"/>
              </a:rPr>
              <a:t>555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: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modello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comportamentale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o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macromodello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se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disponibile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.</a:t>
            </a: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Aptos"/>
              </a:rPr>
              <a:t>CD4017/CD4026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: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controllo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pin-aware di clock/reset/inhibit/display.</a:t>
            </a: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Aptos"/>
              </a:rPr>
              <a:t>LM317</a:t>
            </a:r>
            <a:r>
              <a:rPr lang="it-IT" sz="1500" b="1" dirty="0">
                <a:solidFill>
                  <a:srgbClr val="0F172A"/>
                </a:solidFill>
                <a:latin typeface="Aptos"/>
              </a:rPr>
              <a:t> e </a:t>
            </a:r>
            <a:r>
              <a:rPr sz="1500" b="1" dirty="0">
                <a:solidFill>
                  <a:srgbClr val="0F172A"/>
                </a:solidFill>
                <a:latin typeface="Aptos"/>
              </a:rPr>
              <a:t>op-amp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: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simulazione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semplificata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dove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possibile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.</a:t>
            </a: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 err="1">
                <a:solidFill>
                  <a:srgbClr val="0F172A"/>
                </a:solidFill>
                <a:latin typeface="Aptos"/>
              </a:rPr>
              <a:t>Distinguere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chiaramente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simulazione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completa,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semplificata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e report.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CBD5E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6583680"/>
            <a:ext cx="5486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Aptos"/>
              </a:rPr>
              <a:t>Integrazione JSON → SPICE → diagnosi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583680"/>
            <a:ext cx="6400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96926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0B1F33"/>
                </a:solidFill>
                <a:latin typeface="Aptos Display"/>
              </a:rPr>
              <a:t>Batch C2 — IC applicativi e complessi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713232"/>
            <a:ext cx="9784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0" i="0">
                <a:solidFill>
                  <a:srgbClr val="0F766E"/>
                </a:solidFill>
                <a:latin typeface="Aptos"/>
              </a:rPr>
              <a:t>Audio, motori, ADC, microcontrollori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292608"/>
            <a:ext cx="1691640" cy="32004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40112" y="345040"/>
            <a:ext cx="1627632" cy="1877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Aptos"/>
              </a:rPr>
              <a:t>06 / Batch</a:t>
            </a:r>
          </a:p>
        </p:txBody>
      </p:sp>
      <p:pic>
        <p:nvPicPr>
          <p:cNvPr id="6" name="Picture 5" descr="schemi_circuitali_elettronici_batch_c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206" y="1005840"/>
            <a:ext cx="3720307" cy="5257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1005840"/>
            <a:ext cx="4754880" cy="5257800"/>
          </a:xfrm>
          <a:prstGeom prst="rect">
            <a:avLst/>
          </a:prstGeom>
          <a:noFill/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532120" y="1051560"/>
            <a:ext cx="598932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96712" y="1161288"/>
            <a:ext cx="5696712" cy="2985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 i="0" dirty="0" err="1">
                <a:solidFill>
                  <a:srgbClr val="7C3AED"/>
                </a:solidFill>
                <a:latin typeface="Aptos"/>
              </a:rPr>
              <a:t>Obiettivo</a:t>
            </a:r>
            <a:r>
              <a:rPr sz="1500" b="1" i="0" dirty="0">
                <a:solidFill>
                  <a:srgbClr val="7C3AED"/>
                </a:solidFill>
                <a:latin typeface="Aptos"/>
              </a:rPr>
              <a:t> </a:t>
            </a:r>
            <a:r>
              <a:rPr sz="1700" b="1" i="0" dirty="0">
                <a:solidFill>
                  <a:srgbClr val="7C3AED"/>
                </a:solidFill>
                <a:latin typeface="Aptos"/>
              </a:rPr>
              <a:t>del</a:t>
            </a:r>
            <a:r>
              <a:rPr sz="1500" b="1" i="0" dirty="0">
                <a:solidFill>
                  <a:srgbClr val="7C3AED"/>
                </a:solidFill>
                <a:latin typeface="Aptos"/>
              </a:rPr>
              <a:t> Batch C2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96712" y="1508760"/>
            <a:ext cx="5696712" cy="3323987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>
                <a:solidFill>
                  <a:srgbClr val="0F172A"/>
                </a:solidFill>
                <a:latin typeface="Aptos"/>
              </a:rPr>
              <a:t>Non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puntare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alla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simulazione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interna completa di ogni IC.</a:t>
            </a: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 err="1">
                <a:solidFill>
                  <a:srgbClr val="0F172A"/>
                </a:solidFill>
                <a:latin typeface="Aptos"/>
              </a:rPr>
              <a:t>Usare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1" dirty="0">
                <a:solidFill>
                  <a:srgbClr val="0F172A"/>
                </a:solidFill>
                <a:latin typeface="Aptos"/>
              </a:rPr>
              <a:t>datasheet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e </a:t>
            </a:r>
            <a:r>
              <a:rPr sz="1500" b="1" dirty="0">
                <a:solidFill>
                  <a:srgbClr val="0F172A"/>
                </a:solidFill>
                <a:latin typeface="Aptos"/>
              </a:rPr>
              <a:t>device profile 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per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controlli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sui pin.</a:t>
            </a: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 err="1">
                <a:solidFill>
                  <a:srgbClr val="0F172A"/>
                </a:solidFill>
                <a:latin typeface="Aptos"/>
              </a:rPr>
              <a:t>Simulare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1" dirty="0" err="1">
                <a:solidFill>
                  <a:srgbClr val="0F172A"/>
                </a:solidFill>
                <a:latin typeface="Aptos"/>
              </a:rPr>
              <a:t>sottocircuiti</a:t>
            </a:r>
            <a:r>
              <a:rPr sz="1500" b="1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1" dirty="0" err="1">
                <a:solidFill>
                  <a:srgbClr val="0F172A"/>
                </a:solidFill>
                <a:latin typeface="Aptos"/>
              </a:rPr>
              <a:t>esterni</a:t>
            </a:r>
            <a:r>
              <a:rPr sz="1500" b="1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e </a:t>
            </a:r>
            <a:r>
              <a:rPr sz="1500" b="1" dirty="0" err="1">
                <a:solidFill>
                  <a:srgbClr val="0F172A"/>
                </a:solidFill>
                <a:latin typeface="Aptos"/>
              </a:rPr>
              <a:t>carichi</a:t>
            </a:r>
            <a:r>
              <a:rPr sz="1500" b="1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1" dirty="0" err="1">
                <a:solidFill>
                  <a:srgbClr val="0F172A"/>
                </a:solidFill>
                <a:latin typeface="Aptos"/>
              </a:rPr>
              <a:t>quando</a:t>
            </a:r>
            <a:r>
              <a:rPr sz="1500" b="1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possibile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.</a:t>
            </a: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>
                <a:solidFill>
                  <a:srgbClr val="0F172A"/>
                </a:solidFill>
                <a:latin typeface="Aptos"/>
              </a:rPr>
              <a:t>Per </a:t>
            </a:r>
            <a:r>
              <a:rPr sz="1500" b="1" dirty="0" err="1">
                <a:solidFill>
                  <a:srgbClr val="0F172A"/>
                </a:solidFill>
                <a:latin typeface="Aptos"/>
              </a:rPr>
              <a:t>microcontrollori</a:t>
            </a:r>
            <a:r>
              <a:rPr sz="1500" b="1" dirty="0">
                <a:solidFill>
                  <a:srgbClr val="0F172A"/>
                </a:solidFill>
                <a:latin typeface="Aptos"/>
              </a:rPr>
              <a:t>/ADC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: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controlli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su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VCC, GND, reset, clock, bus e I/O.</a:t>
            </a: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>
                <a:solidFill>
                  <a:srgbClr val="0F172A"/>
                </a:solidFill>
                <a:latin typeface="Aptos"/>
              </a:rPr>
              <a:t>Per </a:t>
            </a:r>
            <a:r>
              <a:rPr sz="1500" b="1" dirty="0">
                <a:solidFill>
                  <a:srgbClr val="0F172A"/>
                </a:solidFill>
                <a:latin typeface="Aptos"/>
              </a:rPr>
              <a:t>audio/</a:t>
            </a:r>
            <a:r>
              <a:rPr sz="1500" b="1" dirty="0" err="1">
                <a:solidFill>
                  <a:srgbClr val="0F172A"/>
                </a:solidFill>
                <a:latin typeface="Aptos"/>
              </a:rPr>
              <a:t>motori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: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controlli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su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alimentazione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, enable, speaker/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motore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,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diodi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CBD5E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6583680"/>
            <a:ext cx="5486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Aptos"/>
              </a:rPr>
              <a:t>Integrazione JSON → SPICE → diagnosi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583680"/>
            <a:ext cx="6400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  <a:latin typeface="Apto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96926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0B1F33"/>
                </a:solidFill>
                <a:latin typeface="Aptos Display"/>
              </a:rPr>
              <a:t>Roadmap pratica di implementazione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713232"/>
            <a:ext cx="9784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0" i="0">
                <a:solidFill>
                  <a:srgbClr val="0F766E"/>
                </a:solidFill>
                <a:latin typeface="Aptos"/>
              </a:rPr>
              <a:t>Costruire poco alla volta, ma in modo generale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292608"/>
            <a:ext cx="1691640" cy="32004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40112" y="345040"/>
            <a:ext cx="1627632" cy="1877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Aptos"/>
              </a:rPr>
              <a:t>07 / Piano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97280"/>
            <a:ext cx="24688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097280"/>
            <a:ext cx="73152" cy="96012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1" y="1207007"/>
            <a:ext cx="2176272" cy="72943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 i="0" dirty="0">
                <a:solidFill>
                  <a:srgbClr val="0B1F33"/>
                </a:solidFill>
                <a:latin typeface="Aptos"/>
              </a:rPr>
              <a:t>1. primo JSON → </a:t>
            </a:r>
            <a:r>
              <a:rPr sz="1500" b="1" i="0" dirty="0" err="1">
                <a:solidFill>
                  <a:srgbClr val="0B1F33"/>
                </a:solidFill>
                <a:latin typeface="Aptos"/>
              </a:rPr>
              <a:t>node_map</a:t>
            </a:r>
            <a:r>
              <a:rPr lang="it-IT" sz="1500" b="1" i="0" dirty="0">
                <a:solidFill>
                  <a:srgbClr val="0B1F33"/>
                </a:solidFill>
                <a:latin typeface="Aptos"/>
              </a:rPr>
              <a:t> su un circuito semplice</a:t>
            </a:r>
            <a:endParaRPr sz="1500" b="1" i="0" dirty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474720" y="1097280"/>
            <a:ext cx="24688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74720" y="1097280"/>
            <a:ext cx="73152" cy="96012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39312" y="1207007"/>
            <a:ext cx="2176272" cy="49859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 i="0" dirty="0">
                <a:solidFill>
                  <a:srgbClr val="0B1F33"/>
                </a:solidFill>
                <a:latin typeface="Aptos"/>
              </a:rPr>
              <a:t>2. </a:t>
            </a:r>
            <a:r>
              <a:rPr sz="1500" b="1" i="0" dirty="0" err="1">
                <a:solidFill>
                  <a:srgbClr val="0B1F33"/>
                </a:solidFill>
                <a:latin typeface="Aptos"/>
              </a:rPr>
              <a:t>values.yaml</a:t>
            </a:r>
            <a:r>
              <a:rPr sz="1500" b="1" i="0" dirty="0">
                <a:solidFill>
                  <a:srgbClr val="0B1F33"/>
                </a:solidFill>
                <a:latin typeface="Aptos"/>
              </a:rPr>
              <a:t> + nodi </a:t>
            </a:r>
            <a:r>
              <a:rPr sz="1500" b="1" i="0" dirty="0" err="1">
                <a:solidFill>
                  <a:srgbClr val="0B1F33"/>
                </a:solidFill>
                <a:latin typeface="Aptos"/>
              </a:rPr>
              <a:t>manuali</a:t>
            </a:r>
            <a:endParaRPr sz="1500" b="1" i="0" dirty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309360" y="1097280"/>
            <a:ext cx="24688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60" y="1097280"/>
            <a:ext cx="73152" cy="96012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73952" y="1207007"/>
            <a:ext cx="2176272" cy="2677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 i="0" dirty="0">
                <a:solidFill>
                  <a:srgbClr val="0B1F33"/>
                </a:solidFill>
                <a:latin typeface="Aptos"/>
              </a:rPr>
              <a:t>3. prima netlist SPICE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1097280"/>
            <a:ext cx="24688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144000" y="1097280"/>
            <a:ext cx="73152" cy="96012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08592" y="1207007"/>
            <a:ext cx="2176272" cy="2677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 i="0" dirty="0">
                <a:solidFill>
                  <a:srgbClr val="0B1F33"/>
                </a:solidFill>
                <a:latin typeface="Aptos"/>
              </a:rPr>
              <a:t>4. </a:t>
            </a:r>
            <a:r>
              <a:rPr sz="1500" b="1" i="0" dirty="0" err="1">
                <a:solidFill>
                  <a:srgbClr val="0B1F33"/>
                </a:solidFill>
                <a:latin typeface="Aptos"/>
              </a:rPr>
              <a:t>esecuzione</a:t>
            </a:r>
            <a:r>
              <a:rPr sz="1500" b="1" i="0" dirty="0">
                <a:solidFill>
                  <a:srgbClr val="0B1F33"/>
                </a:solidFill>
                <a:latin typeface="Aptos"/>
              </a:rPr>
              <a:t> </a:t>
            </a:r>
            <a:r>
              <a:rPr sz="1500" b="1" i="0" dirty="0" err="1">
                <a:solidFill>
                  <a:srgbClr val="0B1F33"/>
                </a:solidFill>
                <a:latin typeface="Aptos"/>
              </a:rPr>
              <a:t>ngspice</a:t>
            </a:r>
            <a:endParaRPr sz="1500" b="1" i="0" dirty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40080" y="2560320"/>
            <a:ext cx="24688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2560320"/>
            <a:ext cx="73152" cy="96012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1" y="2670048"/>
            <a:ext cx="2176272" cy="2677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 i="0" dirty="0">
                <a:solidFill>
                  <a:srgbClr val="0B1F33"/>
                </a:solidFill>
                <a:latin typeface="Aptos"/>
              </a:rPr>
              <a:t>5. report </a:t>
            </a:r>
            <a:r>
              <a:rPr sz="1500" b="1" i="0" dirty="0" err="1">
                <a:solidFill>
                  <a:srgbClr val="0B1F33"/>
                </a:solidFill>
                <a:latin typeface="Aptos"/>
              </a:rPr>
              <a:t>elettrico</a:t>
            </a:r>
            <a:endParaRPr sz="1500" b="1" i="0" dirty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3474720" y="2560320"/>
            <a:ext cx="24688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474720" y="2560320"/>
            <a:ext cx="73152" cy="9601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39312" y="2670048"/>
            <a:ext cx="2176272" cy="49859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 i="0" dirty="0">
                <a:solidFill>
                  <a:srgbClr val="0B1F33"/>
                </a:solidFill>
                <a:latin typeface="Aptos"/>
              </a:rPr>
              <a:t>6. </a:t>
            </a:r>
            <a:r>
              <a:rPr sz="1500" b="1" i="0" dirty="0" err="1">
                <a:solidFill>
                  <a:srgbClr val="0B1F33"/>
                </a:solidFill>
                <a:latin typeface="Aptos"/>
              </a:rPr>
              <a:t>estensione</a:t>
            </a:r>
            <a:r>
              <a:rPr sz="1500" b="1" i="0" dirty="0">
                <a:solidFill>
                  <a:srgbClr val="0B1F33"/>
                </a:solidFill>
                <a:latin typeface="Aptos"/>
              </a:rPr>
              <a:t> a </a:t>
            </a:r>
            <a:r>
              <a:rPr sz="1500" b="1" i="0" dirty="0" err="1">
                <a:solidFill>
                  <a:srgbClr val="0B1F33"/>
                </a:solidFill>
                <a:latin typeface="Aptos"/>
              </a:rPr>
              <a:t>tutto</a:t>
            </a:r>
            <a:r>
              <a:rPr sz="1500" b="1" i="0" dirty="0">
                <a:solidFill>
                  <a:srgbClr val="0B1F33"/>
                </a:solidFill>
                <a:latin typeface="Aptos"/>
              </a:rPr>
              <a:t> Batch 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2560320"/>
            <a:ext cx="24688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309360" y="2560320"/>
            <a:ext cx="73152" cy="9601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73952" y="2670048"/>
            <a:ext cx="2176272" cy="49859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 i="0" dirty="0">
                <a:solidFill>
                  <a:srgbClr val="0B1F33"/>
                </a:solidFill>
                <a:latin typeface="Aptos"/>
              </a:rPr>
              <a:t>7. transistor / MOSFET / SCR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0" y="2560320"/>
            <a:ext cx="24688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144000" y="2560320"/>
            <a:ext cx="73152" cy="9601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308592" y="2670048"/>
            <a:ext cx="2176272" cy="2677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 i="0" dirty="0">
                <a:solidFill>
                  <a:srgbClr val="0B1F33"/>
                </a:solidFill>
                <a:latin typeface="Aptos"/>
              </a:rPr>
              <a:t>8. Batch B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023360"/>
            <a:ext cx="24688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40080" y="4023360"/>
            <a:ext cx="73152" cy="9601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04671" y="4133088"/>
            <a:ext cx="2176272" cy="2677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 i="0" dirty="0">
                <a:solidFill>
                  <a:srgbClr val="0B1F33"/>
                </a:solidFill>
                <a:latin typeface="Aptos"/>
              </a:rPr>
              <a:t>9. device profile IC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74720" y="4023360"/>
            <a:ext cx="24688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474720" y="4023360"/>
            <a:ext cx="73152" cy="9601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39312" y="4133088"/>
            <a:ext cx="2176272" cy="2677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 i="0" dirty="0">
                <a:solidFill>
                  <a:srgbClr val="0B1F33"/>
                </a:solidFill>
                <a:latin typeface="Aptos"/>
              </a:rPr>
              <a:t>10. Batch C1 e C2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9360" y="4023360"/>
            <a:ext cx="24688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309360" y="4023360"/>
            <a:ext cx="73152" cy="96012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73952" y="4133088"/>
            <a:ext cx="2176272" cy="2677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 i="0" dirty="0">
                <a:solidFill>
                  <a:srgbClr val="0B1F33"/>
                </a:solidFill>
                <a:latin typeface="Aptos"/>
              </a:rPr>
              <a:t>11. </a:t>
            </a:r>
            <a:r>
              <a:rPr sz="1500" b="1" i="0" dirty="0" err="1">
                <a:solidFill>
                  <a:srgbClr val="0B1F33"/>
                </a:solidFill>
                <a:latin typeface="Aptos"/>
              </a:rPr>
              <a:t>contesto</a:t>
            </a:r>
            <a:r>
              <a:rPr sz="1500" b="1" i="0" dirty="0">
                <a:solidFill>
                  <a:srgbClr val="0B1F33"/>
                </a:solidFill>
                <a:latin typeface="Aptos"/>
              </a:rPr>
              <a:t> GPT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023360"/>
            <a:ext cx="24688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4000" y="4023360"/>
            <a:ext cx="73152" cy="96012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308592" y="4133088"/>
            <a:ext cx="2176272" cy="2677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 i="0" dirty="0">
                <a:solidFill>
                  <a:srgbClr val="0B1F33"/>
                </a:solidFill>
                <a:latin typeface="Aptos"/>
              </a:rPr>
              <a:t>12. </a:t>
            </a:r>
            <a:r>
              <a:rPr sz="1500" b="1" i="0" dirty="0" err="1">
                <a:solidFill>
                  <a:srgbClr val="0B1F33"/>
                </a:solidFill>
                <a:latin typeface="Aptos"/>
              </a:rPr>
              <a:t>agente</a:t>
            </a:r>
            <a:r>
              <a:rPr sz="1500" b="1" i="0" dirty="0">
                <a:solidFill>
                  <a:srgbClr val="0B1F33"/>
                </a:solidFill>
                <a:latin typeface="Aptos"/>
              </a:rPr>
              <a:t> </a:t>
            </a:r>
            <a:r>
              <a:rPr sz="1500" b="1" i="0" dirty="0" err="1">
                <a:solidFill>
                  <a:srgbClr val="0B1F33"/>
                </a:solidFill>
                <a:latin typeface="Aptos"/>
              </a:rPr>
              <a:t>diagnostico</a:t>
            </a:r>
            <a:endParaRPr sz="1500" b="1" i="0" dirty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CBD5E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57200" y="6583680"/>
            <a:ext cx="5486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Aptos"/>
              </a:rPr>
              <a:t>Integrazione JSON → SPICE → diagnosi AI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64240" y="6583680"/>
            <a:ext cx="6400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96926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0B1F33"/>
                </a:solidFill>
                <a:latin typeface="Aptos Display"/>
              </a:rPr>
              <a:t>Fattibilità, limiti e scelte semplici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713232"/>
            <a:ext cx="9784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0" i="0">
                <a:solidFill>
                  <a:srgbClr val="0F766E"/>
                </a:solidFill>
                <a:latin typeface="Aptos"/>
              </a:rPr>
              <a:t>Cosa rende il progetto realizzabile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292608"/>
            <a:ext cx="1691640" cy="32004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40112" y="345040"/>
            <a:ext cx="1627632" cy="1877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Aptos"/>
              </a:rPr>
              <a:t>07 / Piano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97280"/>
            <a:ext cx="3474720" cy="452628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1" y="1207007"/>
            <a:ext cx="3182112" cy="2985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700" b="1" i="0" dirty="0" err="1">
                <a:solidFill>
                  <a:srgbClr val="0F766E"/>
                </a:solidFill>
                <a:latin typeface="Aptos"/>
              </a:rPr>
              <a:t>Fattibile</a:t>
            </a:r>
            <a:r>
              <a:rPr sz="1700" b="1" i="0" dirty="0">
                <a:solidFill>
                  <a:srgbClr val="0F766E"/>
                </a:solidFill>
                <a:latin typeface="Aptos"/>
              </a:rPr>
              <a:t> </a:t>
            </a:r>
            <a:r>
              <a:rPr sz="1700" b="1" i="0" dirty="0" err="1">
                <a:solidFill>
                  <a:srgbClr val="0F766E"/>
                </a:solidFill>
                <a:latin typeface="Aptos"/>
              </a:rPr>
              <a:t>perché</a:t>
            </a:r>
            <a:r>
              <a:rPr sz="1700" b="1" i="0" dirty="0">
                <a:solidFill>
                  <a:srgbClr val="0F766E"/>
                </a:solidFill>
                <a:latin typeface="Aptos"/>
              </a:rPr>
              <a:t>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1554479"/>
            <a:ext cx="3182112" cy="3323987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>
                <a:solidFill>
                  <a:srgbClr val="0F172A"/>
                </a:solidFill>
                <a:latin typeface="Aptos"/>
              </a:rPr>
              <a:t>la pipeline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parte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da JSON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già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prodotto</a:t>
            </a:r>
            <a:endParaRPr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 err="1">
                <a:solidFill>
                  <a:srgbClr val="0F172A"/>
                </a:solidFill>
                <a:latin typeface="Aptos"/>
              </a:rPr>
              <a:t>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valori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si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inseriscono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manualmente</a:t>
            </a:r>
            <a:endParaRPr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 err="1">
                <a:solidFill>
                  <a:srgbClr val="0F172A"/>
                </a:solidFill>
                <a:latin typeface="Aptos"/>
              </a:rPr>
              <a:t>ngspice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è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automatizzabile</a:t>
            </a:r>
            <a:endParaRPr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 err="1">
                <a:solidFill>
                  <a:srgbClr val="0F172A"/>
                </a:solidFill>
                <a:latin typeface="Aptos"/>
              </a:rPr>
              <a:t>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circuiti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complessi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possono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restare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parziali</a:t>
            </a:r>
            <a:endParaRPr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>
                <a:solidFill>
                  <a:srgbClr val="0F172A"/>
                </a:solidFill>
                <a:latin typeface="Aptos"/>
              </a:rPr>
              <a:t>il report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viene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prodotto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sempre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097280"/>
            <a:ext cx="3474720" cy="45262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9431" y="1207007"/>
            <a:ext cx="3182112" cy="2985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700" b="1" i="0" dirty="0" err="1">
                <a:solidFill>
                  <a:srgbClr val="F59E0B"/>
                </a:solidFill>
                <a:latin typeface="Aptos"/>
              </a:rPr>
              <a:t>Limiti</a:t>
            </a:r>
            <a:r>
              <a:rPr sz="1700" b="1" i="0" dirty="0">
                <a:solidFill>
                  <a:srgbClr val="F59E0B"/>
                </a:solidFill>
                <a:latin typeface="Aptos"/>
              </a:rPr>
              <a:t> </a:t>
            </a:r>
            <a:r>
              <a:rPr sz="1700" b="1" i="0" dirty="0" err="1">
                <a:solidFill>
                  <a:srgbClr val="F59E0B"/>
                </a:solidFill>
                <a:latin typeface="Aptos"/>
              </a:rPr>
              <a:t>gestiti</a:t>
            </a:r>
            <a:endParaRPr sz="1700" b="1" i="0" dirty="0">
              <a:solidFill>
                <a:srgbClr val="F59E0B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99431" y="1554479"/>
            <a:ext cx="3182112" cy="3323987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>
                <a:solidFill>
                  <a:srgbClr val="0F172A"/>
                </a:solidFill>
                <a:latin typeface="Aptos"/>
              </a:rPr>
              <a:t>OCR </a:t>
            </a:r>
            <a:r>
              <a:rPr lang="it-IT" sz="1500" b="0" dirty="0">
                <a:solidFill>
                  <a:srgbClr val="0F172A"/>
                </a:solidFill>
                <a:latin typeface="Aptos"/>
              </a:rPr>
              <a:t>dei valori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escluso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dalla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prima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versione</a:t>
            </a:r>
            <a:endParaRPr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 err="1">
                <a:solidFill>
                  <a:srgbClr val="0F172A"/>
                </a:solidFill>
                <a:latin typeface="Aptos"/>
              </a:rPr>
              <a:t>modelli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IC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verificati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caso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per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caso</a:t>
            </a:r>
            <a:endParaRPr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 err="1">
                <a:solidFill>
                  <a:srgbClr val="0F172A"/>
                </a:solidFill>
                <a:latin typeface="Aptos"/>
              </a:rPr>
              <a:t>microcontrollori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senza firmware = pin-aware</a:t>
            </a: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 err="1">
                <a:solidFill>
                  <a:srgbClr val="0F172A"/>
                </a:solidFill>
                <a:latin typeface="Aptos"/>
              </a:rPr>
              <a:t>LTspice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export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opzionale</a:t>
            </a:r>
            <a:endParaRPr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 err="1">
                <a:solidFill>
                  <a:srgbClr val="0F172A"/>
                </a:solidFill>
                <a:latin typeface="Aptos"/>
              </a:rPr>
              <a:t>valori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assunti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sempre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dichiarati</a:t>
            </a:r>
            <a:endParaRPr sz="1500" b="0" dirty="0">
              <a:solidFill>
                <a:srgbClr val="0F172A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229600" y="1097280"/>
            <a:ext cx="3474720" cy="45262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94192" y="1207007"/>
            <a:ext cx="3182112" cy="2985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700" b="1" i="0" dirty="0">
                <a:solidFill>
                  <a:srgbClr val="2563EB"/>
                </a:solidFill>
                <a:latin typeface="Aptos"/>
              </a:rPr>
              <a:t>Valore per la </a:t>
            </a:r>
            <a:r>
              <a:rPr sz="1700" b="1" i="0" dirty="0" err="1">
                <a:solidFill>
                  <a:srgbClr val="2563EB"/>
                </a:solidFill>
                <a:latin typeface="Aptos"/>
              </a:rPr>
              <a:t>tesi</a:t>
            </a:r>
            <a:endParaRPr sz="1700" b="1" i="0" dirty="0">
              <a:solidFill>
                <a:srgbClr val="2563EB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394192" y="1554479"/>
            <a:ext cx="3182112" cy="309315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 err="1">
                <a:solidFill>
                  <a:srgbClr val="0F172A"/>
                </a:solidFill>
                <a:latin typeface="Aptos"/>
              </a:rPr>
              <a:t>integrazione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CV +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simulazione</a:t>
            </a:r>
            <a:endParaRPr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>
                <a:solidFill>
                  <a:srgbClr val="0F172A"/>
                </a:solidFill>
                <a:latin typeface="Aptos"/>
              </a:rPr>
              <a:t>pipeline robusta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anche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con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dati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incompleti</a:t>
            </a:r>
            <a:endParaRPr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 err="1">
                <a:solidFill>
                  <a:srgbClr val="0F172A"/>
                </a:solidFill>
                <a:latin typeface="Aptos"/>
              </a:rPr>
              <a:t>diagnosi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GPT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più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fondata</a:t>
            </a:r>
            <a:endParaRPr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>
                <a:solidFill>
                  <a:srgbClr val="0F172A"/>
                </a:solidFill>
                <a:latin typeface="Aptos"/>
              </a:rPr>
              <a:t>batch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progressivi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e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confrontabili</a:t>
            </a:r>
            <a:endParaRPr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endParaRPr lang="it-IT" sz="1500" b="0" dirty="0">
              <a:solidFill>
                <a:srgbClr val="0F172A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500" b="0" dirty="0">
                <a:solidFill>
                  <a:srgbClr val="0F172A"/>
                </a:solidFill>
                <a:latin typeface="Aptos"/>
              </a:rPr>
              <a:t>base per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sviluppi</a:t>
            </a:r>
            <a:r>
              <a:rPr sz="15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Aptos"/>
              </a:rPr>
              <a:t>futuri</a:t>
            </a:r>
            <a:endParaRPr sz="1500" b="0" dirty="0">
              <a:solidFill>
                <a:srgbClr val="0F172A"/>
              </a:solidFill>
              <a:latin typeface="Apto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CBD5E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6583680"/>
            <a:ext cx="5486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Aptos"/>
              </a:rPr>
              <a:t>Integrazione JSON → SPICE → diagnosi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583680"/>
            <a:ext cx="6400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  <a:latin typeface="Apto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685800"/>
            <a:ext cx="107899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3600" b="1" i="0" dirty="0" err="1">
                <a:solidFill>
                  <a:srgbClr val="FFFFFF"/>
                </a:solidFill>
                <a:latin typeface="Aptos Display"/>
              </a:rPr>
              <a:t>Sintesi</a:t>
            </a:r>
            <a:r>
              <a:rPr sz="3600" b="1" i="0" dirty="0">
                <a:solidFill>
                  <a:srgbClr val="FFFFFF"/>
                </a:solidFill>
                <a:latin typeface="Aptos Display"/>
              </a:rPr>
              <a:t> finale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691640"/>
            <a:ext cx="99669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200" b="1" i="0" dirty="0">
                <a:solidFill>
                  <a:srgbClr val="14B8A6"/>
                </a:solidFill>
                <a:latin typeface="Aptos"/>
              </a:rPr>
              <a:t>La </a:t>
            </a:r>
            <a:r>
              <a:rPr sz="2200" b="1" i="0" dirty="0" err="1">
                <a:solidFill>
                  <a:srgbClr val="14B8A6"/>
                </a:solidFill>
                <a:latin typeface="Aptos"/>
              </a:rPr>
              <a:t>proposta</a:t>
            </a:r>
            <a:r>
              <a:rPr sz="2200" b="1" i="0" dirty="0">
                <a:solidFill>
                  <a:srgbClr val="14B8A6"/>
                </a:solidFill>
                <a:latin typeface="Aptos"/>
              </a:rPr>
              <a:t> è </a:t>
            </a:r>
            <a:r>
              <a:rPr sz="2200" b="1" i="0" dirty="0" err="1">
                <a:solidFill>
                  <a:srgbClr val="14B8A6"/>
                </a:solidFill>
                <a:latin typeface="Aptos"/>
              </a:rPr>
              <a:t>realistica</a:t>
            </a:r>
            <a:r>
              <a:rPr sz="2200" b="1" i="0" dirty="0">
                <a:solidFill>
                  <a:srgbClr val="14B8A6"/>
                </a:solidFill>
                <a:latin typeface="Aptos"/>
              </a:rPr>
              <a:t> se la </a:t>
            </a:r>
            <a:r>
              <a:rPr sz="2200" b="1" i="0" dirty="0" err="1">
                <a:solidFill>
                  <a:srgbClr val="14B8A6"/>
                </a:solidFill>
                <a:latin typeface="Aptos"/>
              </a:rPr>
              <a:t>interpretiamo</a:t>
            </a:r>
            <a:r>
              <a:rPr sz="2200" b="1" i="0" dirty="0">
                <a:solidFill>
                  <a:srgbClr val="14B8A6"/>
                </a:solidFill>
                <a:latin typeface="Aptos"/>
              </a:rPr>
              <a:t> come pipeline progressiva e </a:t>
            </a:r>
            <a:r>
              <a:rPr sz="2200" b="1" i="0" dirty="0" err="1">
                <a:solidFill>
                  <a:srgbClr val="14B8A6"/>
                </a:solidFill>
                <a:latin typeface="Aptos"/>
              </a:rPr>
              <a:t>controllata</a:t>
            </a:r>
            <a:r>
              <a:rPr sz="2200" b="1" i="0" dirty="0">
                <a:solidFill>
                  <a:srgbClr val="14B8A6"/>
                </a:solidFill>
                <a:latin typeface="Aptos"/>
              </a:rPr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3278665"/>
            <a:ext cx="47091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97280" y="3278665"/>
            <a:ext cx="73152" cy="8686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61872" y="3388393"/>
            <a:ext cx="4416552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 i="0" dirty="0">
                <a:solidFill>
                  <a:srgbClr val="2563EB"/>
                </a:solidFill>
                <a:latin typeface="Aptos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3735865"/>
            <a:ext cx="4416552" cy="2369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 dirty="0">
                <a:solidFill>
                  <a:srgbClr val="0F172A"/>
                </a:solidFill>
                <a:latin typeface="Aptos"/>
              </a:rPr>
              <a:t>graph JSON + YAML + device profile + datasheet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3278665"/>
            <a:ext cx="47091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355080" y="3278665"/>
            <a:ext cx="73152" cy="86868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19672" y="3388393"/>
            <a:ext cx="4416552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 i="0" dirty="0" err="1">
                <a:solidFill>
                  <a:srgbClr val="0F766E"/>
                </a:solidFill>
                <a:latin typeface="Aptos"/>
              </a:rPr>
              <a:t>Elaborazione</a:t>
            </a:r>
            <a:endParaRPr sz="1500" b="1" i="0" dirty="0">
              <a:solidFill>
                <a:srgbClr val="0F766E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19672" y="3735865"/>
            <a:ext cx="4416552" cy="2369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 dirty="0">
                <a:solidFill>
                  <a:srgbClr val="0F172A"/>
                </a:solidFill>
                <a:latin typeface="Aptos"/>
              </a:rPr>
              <a:t>node map → netlist → </a:t>
            </a:r>
            <a:r>
              <a:rPr sz="1300" b="0" i="0" dirty="0" err="1">
                <a:solidFill>
                  <a:srgbClr val="0F172A"/>
                </a:solidFill>
                <a:latin typeface="Aptos"/>
              </a:rPr>
              <a:t>ngspice</a:t>
            </a:r>
            <a:r>
              <a:rPr sz="1300" b="0" i="0" dirty="0">
                <a:solidFill>
                  <a:srgbClr val="0F172A"/>
                </a:solidFill>
                <a:latin typeface="Aptos"/>
              </a:rPr>
              <a:t> → report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421665"/>
            <a:ext cx="47091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97280" y="4421665"/>
            <a:ext cx="73152" cy="86868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61872" y="4531393"/>
            <a:ext cx="4416552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 i="0" dirty="0">
                <a:solidFill>
                  <a:srgbClr val="F59E0B"/>
                </a:solidFill>
                <a:latin typeface="Aptos"/>
              </a:rP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4878865"/>
            <a:ext cx="4416552" cy="2369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lang="it-IT" sz="1300" b="0" i="0" dirty="0">
                <a:solidFill>
                  <a:srgbClr val="0F172A"/>
                </a:solidFill>
                <a:latin typeface="Aptos"/>
              </a:rPr>
              <a:t>risultati, visualizzazioni, warning e contesto GPT</a:t>
            </a:r>
            <a:endParaRPr sz="1300" b="0" i="0" dirty="0">
              <a:solidFill>
                <a:srgbClr val="0F172A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355080" y="4421665"/>
            <a:ext cx="47091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55080" y="4421665"/>
            <a:ext cx="73152" cy="86868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19672" y="4531393"/>
            <a:ext cx="4416552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 i="0" dirty="0" err="1">
                <a:solidFill>
                  <a:srgbClr val="7C3AED"/>
                </a:solidFill>
                <a:latin typeface="Aptos"/>
              </a:rPr>
              <a:t>Diagnosi</a:t>
            </a:r>
            <a:endParaRPr sz="1500" b="1" i="0" dirty="0">
              <a:solidFill>
                <a:srgbClr val="7C3AED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519672" y="4878865"/>
            <a:ext cx="4416552" cy="2369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 dirty="0" err="1">
                <a:solidFill>
                  <a:srgbClr val="0F172A"/>
                </a:solidFill>
                <a:latin typeface="Aptos"/>
              </a:rPr>
              <a:t>agente</a:t>
            </a:r>
            <a:r>
              <a:rPr sz="1300" b="0" i="0" dirty="0">
                <a:solidFill>
                  <a:srgbClr val="0F172A"/>
                </a:solidFill>
                <a:latin typeface="Aptos"/>
              </a:rPr>
              <a:t> AI </a:t>
            </a:r>
            <a:r>
              <a:rPr sz="1300" b="0" i="0" dirty="0" err="1">
                <a:solidFill>
                  <a:srgbClr val="0F172A"/>
                </a:solidFill>
                <a:latin typeface="Aptos"/>
              </a:rPr>
              <a:t>guidato</a:t>
            </a:r>
            <a:r>
              <a:rPr sz="1300" b="0" i="0" dirty="0">
                <a:solidFill>
                  <a:srgbClr val="0F172A"/>
                </a:solidFill>
                <a:latin typeface="Aptos"/>
              </a:rPr>
              <a:t> da </a:t>
            </a:r>
            <a:r>
              <a:rPr sz="1300" b="0" i="0" dirty="0" err="1">
                <a:solidFill>
                  <a:srgbClr val="0F172A"/>
                </a:solidFill>
                <a:latin typeface="Aptos"/>
              </a:rPr>
              <a:t>evidenze</a:t>
            </a:r>
            <a:r>
              <a:rPr sz="1300" b="0" i="0" dirty="0">
                <a:solidFill>
                  <a:srgbClr val="0F172A"/>
                </a:solidFill>
                <a:latin typeface="Aptos"/>
              </a:rPr>
              <a:t>, non da </a:t>
            </a:r>
            <a:r>
              <a:rPr sz="1300" b="0" i="0" dirty="0" err="1">
                <a:solidFill>
                  <a:srgbClr val="0F172A"/>
                </a:solidFill>
                <a:latin typeface="Aptos"/>
              </a:rPr>
              <a:t>ipotesi</a:t>
            </a:r>
            <a:r>
              <a:rPr sz="13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300" b="0" i="0" dirty="0" err="1">
                <a:solidFill>
                  <a:srgbClr val="0F172A"/>
                </a:solidFill>
                <a:latin typeface="Aptos"/>
              </a:rPr>
              <a:t>libere</a:t>
            </a:r>
            <a:endParaRPr sz="1300" b="0" i="0" dirty="0">
              <a:solidFill>
                <a:srgbClr val="0F172A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96926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0B1F33"/>
                </a:solidFill>
                <a:latin typeface="Aptos Display"/>
              </a:rPr>
              <a:t>Deliverable della prima versione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713232"/>
            <a:ext cx="9784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0" i="0">
                <a:solidFill>
                  <a:srgbClr val="0F766E"/>
                </a:solidFill>
                <a:latin typeface="Aptos"/>
              </a:rPr>
              <a:t>File, script e risultati da produrre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292608"/>
            <a:ext cx="1691640" cy="32004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40112" y="345040"/>
            <a:ext cx="1627632" cy="1877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100" b="1" i="0" dirty="0" err="1">
                <a:solidFill>
                  <a:srgbClr val="FFFFFF"/>
                </a:solidFill>
                <a:latin typeface="Aptos"/>
              </a:rPr>
              <a:t>Appendice</a:t>
            </a:r>
            <a:endParaRPr sz="110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1901657"/>
            <a:ext cx="5303520" cy="305468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1" y="2011384"/>
            <a:ext cx="5010912" cy="2985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700" b="1" i="0" dirty="0">
                <a:solidFill>
                  <a:srgbClr val="0B1F33"/>
                </a:solidFill>
                <a:latin typeface="Aptos"/>
              </a:rPr>
              <a:t>Script </a:t>
            </a:r>
            <a:r>
              <a:rPr sz="1700" b="1" i="0" dirty="0" err="1">
                <a:solidFill>
                  <a:srgbClr val="0B1F33"/>
                </a:solidFill>
                <a:latin typeface="Aptos"/>
              </a:rPr>
              <a:t>principali</a:t>
            </a:r>
            <a:endParaRPr sz="1700" b="1" i="0" dirty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04671" y="2503469"/>
            <a:ext cx="5010912" cy="212365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600" b="0" dirty="0">
                <a:solidFill>
                  <a:srgbClr val="0F172A"/>
                </a:solidFill>
                <a:latin typeface="Aptos"/>
              </a:rPr>
              <a:t>normalize_json.py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600" b="0" dirty="0">
                <a:solidFill>
                  <a:srgbClr val="0F172A"/>
                </a:solidFill>
                <a:latin typeface="Aptos"/>
              </a:rPr>
              <a:t>build_node_map.py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600" b="0" dirty="0">
                <a:solidFill>
                  <a:srgbClr val="0F172A"/>
                </a:solidFill>
                <a:latin typeface="Aptos"/>
              </a:rPr>
              <a:t>bind_values.py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600" b="0" dirty="0">
                <a:solidFill>
                  <a:srgbClr val="0F172A"/>
                </a:solidFill>
                <a:latin typeface="Aptos"/>
              </a:rPr>
              <a:t>emit_spice.py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600" b="0" dirty="0">
                <a:solidFill>
                  <a:srgbClr val="0F172A"/>
                </a:solidFill>
                <a:latin typeface="Aptos"/>
              </a:rPr>
              <a:t>run_ngspice.py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600" b="0" dirty="0">
                <a:solidFill>
                  <a:srgbClr val="0F172A"/>
                </a:solidFill>
                <a:latin typeface="Aptos"/>
              </a:rPr>
              <a:t>build_report.py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600" b="0" dirty="0">
                <a:solidFill>
                  <a:srgbClr val="0F172A"/>
                </a:solidFill>
                <a:latin typeface="Aptos"/>
              </a:rPr>
              <a:t>build_diagnostic_context.py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901657"/>
            <a:ext cx="5303520" cy="305468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73952" y="2011384"/>
            <a:ext cx="5010912" cy="2985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700" b="1" i="0" dirty="0">
                <a:solidFill>
                  <a:srgbClr val="0B1F33"/>
                </a:solidFill>
                <a:latin typeface="Aptos"/>
              </a:rPr>
              <a:t>File per </a:t>
            </a:r>
            <a:r>
              <a:rPr sz="1700" b="1" i="0" dirty="0" err="1">
                <a:solidFill>
                  <a:srgbClr val="0B1F33"/>
                </a:solidFill>
                <a:latin typeface="Aptos"/>
              </a:rPr>
              <a:t>circuito</a:t>
            </a:r>
            <a:endParaRPr sz="1700" b="1" i="0" dirty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73952" y="2358856"/>
            <a:ext cx="5010912" cy="242117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600" b="0" dirty="0" err="1">
                <a:solidFill>
                  <a:srgbClr val="0F172A"/>
                </a:solidFill>
                <a:latin typeface="Aptos"/>
              </a:rPr>
              <a:t>graph.json</a:t>
            </a:r>
            <a:endParaRPr sz="1600" b="0" dirty="0">
              <a:solidFill>
                <a:srgbClr val="0F172A"/>
              </a:solidFill>
              <a:latin typeface="Aptos"/>
            </a:endParaRP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600" b="0" dirty="0" err="1">
                <a:solidFill>
                  <a:srgbClr val="0F172A"/>
                </a:solidFill>
                <a:latin typeface="Aptos"/>
              </a:rPr>
              <a:t>values.yaml</a:t>
            </a:r>
            <a:endParaRPr sz="1600" b="0" dirty="0">
              <a:solidFill>
                <a:srgbClr val="0F172A"/>
              </a:solidFill>
              <a:latin typeface="Aptos"/>
            </a:endParaRP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600" b="0" dirty="0" err="1">
                <a:solidFill>
                  <a:srgbClr val="0F172A"/>
                </a:solidFill>
                <a:latin typeface="Aptos"/>
              </a:rPr>
              <a:t>node_map.json</a:t>
            </a:r>
            <a:endParaRPr sz="1600" b="0" dirty="0">
              <a:solidFill>
                <a:srgbClr val="0F172A"/>
              </a:solidFill>
              <a:latin typeface="Aptos"/>
            </a:endParaRP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600" b="0" dirty="0" err="1">
                <a:solidFill>
                  <a:srgbClr val="0F172A"/>
                </a:solidFill>
                <a:latin typeface="Aptos"/>
              </a:rPr>
              <a:t>spice_netlist.cir</a:t>
            </a:r>
            <a:endParaRPr sz="1600" b="0" dirty="0">
              <a:solidFill>
                <a:srgbClr val="0F172A"/>
              </a:solidFill>
              <a:latin typeface="Aptos"/>
            </a:endParaRP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600" b="0" dirty="0" err="1">
                <a:solidFill>
                  <a:srgbClr val="0F172A"/>
                </a:solidFill>
                <a:latin typeface="Aptos"/>
              </a:rPr>
              <a:t>spice_results.json</a:t>
            </a:r>
            <a:endParaRPr sz="1600" b="0" dirty="0">
              <a:solidFill>
                <a:srgbClr val="0F172A"/>
              </a:solidFill>
              <a:latin typeface="Aptos"/>
            </a:endParaRP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600" b="0" dirty="0" err="1">
                <a:solidFill>
                  <a:srgbClr val="0F172A"/>
                </a:solidFill>
                <a:latin typeface="Aptos"/>
              </a:rPr>
              <a:t>electrical_check_report.json</a:t>
            </a:r>
            <a:endParaRPr sz="1600" b="0" dirty="0">
              <a:solidFill>
                <a:srgbClr val="0F172A"/>
              </a:solidFill>
              <a:latin typeface="Aptos"/>
            </a:endParaRP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600" b="0" dirty="0">
                <a:solidFill>
                  <a:srgbClr val="0F172A"/>
                </a:solidFill>
                <a:latin typeface="Aptos"/>
              </a:rPr>
              <a:t>circuit_graph.png/</a:t>
            </a:r>
            <a:r>
              <a:rPr sz="1600" b="0" dirty="0" err="1">
                <a:solidFill>
                  <a:srgbClr val="0F172A"/>
                </a:solidFill>
                <a:latin typeface="Aptos"/>
              </a:rPr>
              <a:t>svg</a:t>
            </a:r>
            <a:endParaRPr sz="1600" b="0" dirty="0">
              <a:solidFill>
                <a:srgbClr val="0F172A"/>
              </a:solidFill>
              <a:latin typeface="Aptos"/>
            </a:endParaRP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600" b="0" dirty="0">
                <a:solidFill>
                  <a:srgbClr val="0F172A"/>
                </a:solidFill>
                <a:latin typeface="Aptos"/>
              </a:rPr>
              <a:t>prompt_arricchito.txt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CBD5E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6583680"/>
            <a:ext cx="5486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Aptos"/>
              </a:rPr>
              <a:t>Integrazione JSON → SPICE → diagnosi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583680"/>
            <a:ext cx="6400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  <a:latin typeface="Aptos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96926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0B1F33"/>
                </a:solidFill>
                <a:latin typeface="Aptos Display"/>
              </a:rPr>
              <a:t>Esempio tecnico: da collegamenti a nodi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713232"/>
            <a:ext cx="9784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0" i="0">
                <a:solidFill>
                  <a:srgbClr val="0F766E"/>
                </a:solidFill>
                <a:latin typeface="Aptos"/>
              </a:rPr>
              <a:t>Come si passa dal graph JSON a SPICE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292608"/>
            <a:ext cx="1691640" cy="32004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40112" y="345040"/>
            <a:ext cx="1627632" cy="1877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100" b="1" i="0" dirty="0" err="1">
                <a:solidFill>
                  <a:srgbClr val="FFFFFF"/>
                </a:solidFill>
                <a:latin typeface="Aptos"/>
              </a:rPr>
              <a:t>Appendice</a:t>
            </a:r>
            <a:endParaRPr sz="110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1143000"/>
            <a:ext cx="5029200" cy="4480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252728"/>
            <a:ext cx="4736592" cy="2985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700" b="1" i="0" dirty="0">
                <a:solidFill>
                  <a:srgbClr val="14B8A6"/>
                </a:solidFill>
                <a:latin typeface="Aptos"/>
              </a:rPr>
              <a:t>Dal 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74815"/>
            <a:ext cx="4480560" cy="34747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800" b="0" i="0" dirty="0">
                <a:solidFill>
                  <a:srgbClr val="FFFFFF"/>
                </a:solidFill>
                <a:latin typeface="Consolas"/>
              </a:rPr>
              <a:t>R1.t2 → D1.anode</a:t>
            </a:r>
            <a:br>
              <a:rPr dirty="0"/>
            </a:br>
            <a:r>
              <a:rPr sz="1800" b="0" i="0" dirty="0">
                <a:solidFill>
                  <a:srgbClr val="FFFFFF"/>
                </a:solidFill>
                <a:latin typeface="Consolas"/>
              </a:rPr>
              <a:t>D1.cathode → GND</a:t>
            </a:r>
            <a:br>
              <a:rPr dirty="0"/>
            </a:br>
            <a:r>
              <a:rPr sz="1800" b="0" i="0" dirty="0">
                <a:solidFill>
                  <a:srgbClr val="FFFFFF"/>
                </a:solidFill>
                <a:latin typeface="Consolas"/>
              </a:rPr>
              <a:t>V1.positive → R1.t1</a:t>
            </a:r>
            <a:br>
              <a:rPr dirty="0"/>
            </a:br>
            <a:r>
              <a:rPr sz="1800" b="0" i="0" dirty="0">
                <a:solidFill>
                  <a:srgbClr val="FFFFFF"/>
                </a:solidFill>
                <a:latin typeface="Consolas"/>
              </a:rPr>
              <a:t>V1.negative → GND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89320" y="3337560"/>
            <a:ext cx="594360" cy="0"/>
          </a:xfrm>
          <a:prstGeom prst="line">
            <a:avLst/>
          </a:prstGeom>
          <a:ln w="254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812280" y="1143000"/>
            <a:ext cx="4617720" cy="4480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76872" y="1252728"/>
            <a:ext cx="4325112" cy="2985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700" b="1" i="0" dirty="0">
                <a:solidFill>
                  <a:srgbClr val="F59E0B"/>
                </a:solidFill>
                <a:latin typeface="Aptos"/>
              </a:rPr>
              <a:t>A SPICE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2474815"/>
            <a:ext cx="4160520" cy="34747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800" b="0" i="0" dirty="0">
                <a:solidFill>
                  <a:srgbClr val="FFFFFF"/>
                </a:solidFill>
                <a:latin typeface="Consolas"/>
              </a:rPr>
              <a:t>V1 </a:t>
            </a:r>
            <a:r>
              <a:rPr sz="1800" b="0" i="0" dirty="0" err="1">
                <a:solidFill>
                  <a:srgbClr val="FFFFFF"/>
                </a:solidFill>
                <a:latin typeface="Consolas"/>
              </a:rPr>
              <a:t>vcc</a:t>
            </a:r>
            <a:r>
              <a:rPr sz="1800" b="0" i="0" dirty="0">
                <a:solidFill>
                  <a:srgbClr val="FFFFFF"/>
                </a:solidFill>
                <a:latin typeface="Consolas"/>
              </a:rPr>
              <a:t> 0 DC 5</a:t>
            </a:r>
            <a:br>
              <a:rPr dirty="0"/>
            </a:br>
            <a:r>
              <a:rPr sz="1800" b="0" i="0" dirty="0">
                <a:solidFill>
                  <a:srgbClr val="FFFFFF"/>
                </a:solidFill>
                <a:latin typeface="Consolas"/>
              </a:rPr>
              <a:t>R1 </a:t>
            </a:r>
            <a:r>
              <a:rPr sz="1800" b="0" i="0" dirty="0" err="1">
                <a:solidFill>
                  <a:srgbClr val="FFFFFF"/>
                </a:solidFill>
                <a:latin typeface="Consolas"/>
              </a:rPr>
              <a:t>vcc</a:t>
            </a:r>
            <a:r>
              <a:rPr sz="1800" b="0" i="0" dirty="0">
                <a:solidFill>
                  <a:srgbClr val="FFFFFF"/>
                </a:solidFill>
                <a:latin typeface="Consolas"/>
              </a:rPr>
              <a:t> n1 330</a:t>
            </a:r>
            <a:br>
              <a:rPr dirty="0"/>
            </a:br>
            <a:r>
              <a:rPr sz="1800" b="0" i="0" dirty="0">
                <a:solidFill>
                  <a:srgbClr val="FFFFFF"/>
                </a:solidFill>
                <a:latin typeface="Consolas"/>
              </a:rPr>
              <a:t>D1 n1 0 LED_RED</a:t>
            </a:r>
            <a:br>
              <a:rPr dirty="0"/>
            </a:br>
            <a:br>
              <a:rPr dirty="0"/>
            </a:br>
            <a:r>
              <a:rPr sz="1800" b="0" i="0" dirty="0">
                <a:solidFill>
                  <a:srgbClr val="FFFFFF"/>
                </a:solidFill>
                <a:latin typeface="Consolas"/>
              </a:rPr>
              <a:t>.op</a:t>
            </a:r>
            <a:br>
              <a:rPr dirty="0"/>
            </a:br>
            <a:r>
              <a:rPr sz="1800" b="0" i="0" dirty="0">
                <a:solidFill>
                  <a:srgbClr val="FFFFFF"/>
                </a:solidFill>
                <a:latin typeface="Consolas"/>
              </a:rPr>
              <a:t>.measure op </a:t>
            </a:r>
            <a:r>
              <a:rPr sz="1800" b="0" i="0" dirty="0" err="1">
                <a:solidFill>
                  <a:srgbClr val="FFFFFF"/>
                </a:solidFill>
                <a:latin typeface="Consolas"/>
              </a:rPr>
              <a:t>Iled</a:t>
            </a:r>
            <a:r>
              <a:rPr sz="1800" b="0" i="0" dirty="0">
                <a:solidFill>
                  <a:srgbClr val="FFFFFF"/>
                </a:solidFill>
                <a:latin typeface="Consolas"/>
              </a:rPr>
              <a:t> FIND I(D1)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CBD5E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6583680"/>
            <a:ext cx="5486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Aptos"/>
              </a:rPr>
              <a:t>Integrazione JSON → SPICE → diagnosi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583680"/>
            <a:ext cx="6400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  <a:latin typeface="Aptos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96926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0B1F33"/>
                </a:solidFill>
                <a:latin typeface="Aptos Display"/>
              </a:rPr>
              <a:t>Strategia per i modelli SPICE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713232"/>
            <a:ext cx="9784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0" i="0">
                <a:solidFill>
                  <a:srgbClr val="0F766E"/>
                </a:solidFill>
                <a:latin typeface="Aptos"/>
              </a:rPr>
              <a:t>Ricerca manuale e fallback dichiarati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292608"/>
            <a:ext cx="1691640" cy="32004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40112" y="345040"/>
            <a:ext cx="1627632" cy="18774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100" b="1" i="0" dirty="0" err="1">
                <a:solidFill>
                  <a:srgbClr val="FFFFFF"/>
                </a:solidFill>
                <a:latin typeface="Aptos"/>
              </a:rPr>
              <a:t>Appendice</a:t>
            </a:r>
            <a:endParaRPr sz="110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77240" y="1920240"/>
            <a:ext cx="1874519" cy="23774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2029968"/>
            <a:ext cx="1581911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2563EB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377440"/>
            <a:ext cx="1581911" cy="102181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endParaRPr lang="it-IT" sz="1600" b="0" i="0" dirty="0">
              <a:solidFill>
                <a:srgbClr val="0F172A"/>
              </a:solidFill>
              <a:latin typeface="Aptos"/>
            </a:endParaRPr>
          </a:p>
          <a:p>
            <a:pPr algn="l"/>
            <a:r>
              <a:rPr sz="1600" b="0" i="0" dirty="0" err="1">
                <a:solidFill>
                  <a:srgbClr val="0F172A"/>
                </a:solidFill>
                <a:latin typeface="Aptos"/>
              </a:rPr>
              <a:t>Cerco</a:t>
            </a:r>
            <a:r>
              <a:rPr sz="16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0F172A"/>
                </a:solidFill>
                <a:latin typeface="Aptos"/>
              </a:rPr>
              <a:t>modello</a:t>
            </a:r>
            <a:r>
              <a:rPr sz="1600" b="0" i="0" dirty="0">
                <a:solidFill>
                  <a:srgbClr val="0F172A"/>
                </a:solidFill>
                <a:latin typeface="Aptos"/>
              </a:rPr>
              <a:t> vendor o </a:t>
            </a:r>
            <a:r>
              <a:rPr sz="1600" b="0" i="0" dirty="0" err="1">
                <a:solidFill>
                  <a:srgbClr val="0F172A"/>
                </a:solidFill>
                <a:latin typeface="Aptos"/>
              </a:rPr>
              <a:t>compatibile</a:t>
            </a:r>
            <a:endParaRPr sz="1600" b="0" i="0" dirty="0">
              <a:solidFill>
                <a:srgbClr val="0F172A"/>
              </a:solidFill>
              <a:latin typeface="Aptos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2651760" y="3108960"/>
            <a:ext cx="27432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017520" y="1920240"/>
            <a:ext cx="1874519" cy="237744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182112" y="2029968"/>
            <a:ext cx="1581911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0F766E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82112" y="2377440"/>
            <a:ext cx="1581911" cy="96026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endParaRPr lang="it-IT" sz="1500" b="0" i="0" dirty="0">
              <a:solidFill>
                <a:srgbClr val="0F172A"/>
              </a:solidFill>
              <a:latin typeface="Aptos"/>
            </a:endParaRPr>
          </a:p>
          <a:p>
            <a:pPr algn="l"/>
            <a:r>
              <a:rPr sz="1500" b="0" i="0" dirty="0" err="1">
                <a:solidFill>
                  <a:srgbClr val="0F172A"/>
                </a:solidFill>
                <a:latin typeface="Aptos"/>
              </a:rPr>
              <a:t>Controllo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</a:t>
            </a:r>
            <a:endParaRPr lang="it-IT" sz="1500" b="0" i="0" dirty="0">
              <a:solidFill>
                <a:srgbClr val="0F172A"/>
              </a:solidFill>
              <a:latin typeface="Aptos"/>
            </a:endParaRPr>
          </a:p>
          <a:p>
            <a:pPr algn="l"/>
            <a:r>
              <a:rPr sz="1500" b="0" i="0" dirty="0">
                <a:solidFill>
                  <a:srgbClr val="0F172A"/>
                </a:solidFill>
                <a:latin typeface="Aptos"/>
              </a:rPr>
              <a:t>.model / .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subckt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e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ordine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pin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892040" y="3108960"/>
            <a:ext cx="27432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257800" y="1920240"/>
            <a:ext cx="1874519" cy="23774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22392" y="2029968"/>
            <a:ext cx="1581911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F59E0B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22392" y="2377440"/>
            <a:ext cx="1581911" cy="72943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endParaRPr lang="it-IT" sz="1500" b="0" i="0" dirty="0">
              <a:solidFill>
                <a:srgbClr val="0F172A"/>
              </a:solidFill>
              <a:latin typeface="Aptos"/>
            </a:endParaRPr>
          </a:p>
          <a:p>
            <a:pPr algn="l"/>
            <a:r>
              <a:rPr sz="1500" b="0" i="0" dirty="0">
                <a:solidFill>
                  <a:srgbClr val="0F172A"/>
                </a:solidFill>
                <a:latin typeface="Aptos"/>
              </a:rPr>
              <a:t>Test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minimo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in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ngspice</a:t>
            </a:r>
            <a:endParaRPr sz="1500" b="0" i="0" dirty="0">
              <a:solidFill>
                <a:srgbClr val="0F172A"/>
              </a:solidFill>
              <a:latin typeface="Aptos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7132320" y="3108960"/>
            <a:ext cx="27432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498080" y="1920240"/>
            <a:ext cx="1874519" cy="2377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62672" y="2029968"/>
            <a:ext cx="1581911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64748B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62672" y="2377440"/>
            <a:ext cx="1581911" cy="96026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endParaRPr lang="it-IT" sz="1500" b="0" i="0" dirty="0">
              <a:solidFill>
                <a:srgbClr val="0F172A"/>
              </a:solidFill>
              <a:latin typeface="Aptos"/>
            </a:endParaRPr>
          </a:p>
          <a:p>
            <a:pPr algn="l"/>
            <a:r>
              <a:rPr sz="1500" b="0" i="0" dirty="0">
                <a:solidFill>
                  <a:srgbClr val="0F172A"/>
                </a:solidFill>
                <a:latin typeface="Aptos"/>
              </a:rPr>
              <a:t>Se non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funziona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: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modello</a:t>
            </a:r>
            <a:r>
              <a:rPr sz="1500" b="0" i="0" dirty="0">
                <a:solidFill>
                  <a:srgbClr val="0F172A"/>
                </a:solidFill>
                <a:latin typeface="Aptos"/>
              </a:rPr>
              <a:t> </a:t>
            </a:r>
            <a:r>
              <a:rPr sz="1500" b="0" i="0" dirty="0" err="1">
                <a:solidFill>
                  <a:srgbClr val="0F172A"/>
                </a:solidFill>
                <a:latin typeface="Aptos"/>
              </a:rPr>
              <a:t>comportamentale</a:t>
            </a:r>
            <a:endParaRPr sz="1500" b="0" i="0" dirty="0">
              <a:solidFill>
                <a:srgbClr val="0F172A"/>
              </a:solidFill>
              <a:latin typeface="Aptos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9372600" y="3108960"/>
            <a:ext cx="27432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738360" y="1920240"/>
            <a:ext cx="1874519" cy="237744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902952" y="2029968"/>
            <a:ext cx="1581911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DC2626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02952" y="2377440"/>
            <a:ext cx="1581911" cy="96026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endParaRPr lang="it-IT" sz="1500" b="0" i="0" dirty="0">
              <a:solidFill>
                <a:srgbClr val="0F172A"/>
              </a:solidFill>
              <a:latin typeface="Aptos"/>
            </a:endParaRPr>
          </a:p>
          <a:p>
            <a:pPr algn="l"/>
            <a:r>
              <a:rPr sz="1500" b="0" i="0" dirty="0">
                <a:solidFill>
                  <a:srgbClr val="0F172A"/>
                </a:solidFill>
                <a:latin typeface="Aptos"/>
              </a:rPr>
              <a:t>Se non ha senso: </a:t>
            </a:r>
            <a:r>
              <a:rPr sz="1500" b="1" i="0" dirty="0">
                <a:solidFill>
                  <a:srgbClr val="0F172A"/>
                </a:solidFill>
                <a:latin typeface="Aptos"/>
              </a:rPr>
              <a:t>black box pin-aware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166360"/>
            <a:ext cx="100584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 i="0" dirty="0">
                <a:solidFill>
                  <a:srgbClr val="0B1F33"/>
                </a:solidFill>
                <a:latin typeface="Aptos"/>
              </a:rPr>
              <a:t>Il datasheet non </a:t>
            </a:r>
            <a:r>
              <a:rPr sz="1600" b="1" i="0" dirty="0" err="1">
                <a:solidFill>
                  <a:srgbClr val="0B1F33"/>
                </a:solidFill>
                <a:latin typeface="Aptos"/>
              </a:rPr>
              <a:t>garantisce</a:t>
            </a:r>
            <a:r>
              <a:rPr sz="1600" b="1" i="0" dirty="0">
                <a:solidFill>
                  <a:srgbClr val="0B1F33"/>
                </a:solidFill>
                <a:latin typeface="Aptos"/>
              </a:rPr>
              <a:t> un </a:t>
            </a:r>
            <a:r>
              <a:rPr sz="1600" b="1" i="0" dirty="0" err="1">
                <a:solidFill>
                  <a:srgbClr val="0B1F33"/>
                </a:solidFill>
                <a:latin typeface="Aptos"/>
              </a:rPr>
              <a:t>modello</a:t>
            </a:r>
            <a:r>
              <a:rPr sz="1600" b="1" i="0" dirty="0">
                <a:solidFill>
                  <a:srgbClr val="0B1F33"/>
                </a:solidFill>
                <a:latin typeface="Aptos"/>
              </a:rPr>
              <a:t> SPICE, ma </a:t>
            </a:r>
            <a:r>
              <a:rPr sz="1600" b="1" i="0" dirty="0" err="1">
                <a:solidFill>
                  <a:srgbClr val="0B1F33"/>
                </a:solidFill>
                <a:latin typeface="Aptos"/>
              </a:rPr>
              <a:t>fornisce</a:t>
            </a:r>
            <a:r>
              <a:rPr sz="1600" b="1" i="0" dirty="0">
                <a:solidFill>
                  <a:srgbClr val="0B1F33"/>
                </a:solidFill>
                <a:latin typeface="Aptos"/>
              </a:rPr>
              <a:t> pin, </a:t>
            </a:r>
            <a:r>
              <a:rPr sz="1600" b="1" i="0" dirty="0" err="1">
                <a:solidFill>
                  <a:srgbClr val="0B1F33"/>
                </a:solidFill>
                <a:latin typeface="Aptos"/>
              </a:rPr>
              <a:t>vincoli</a:t>
            </a:r>
            <a:r>
              <a:rPr sz="1600" b="1" i="0" dirty="0">
                <a:solidFill>
                  <a:srgbClr val="0B1F33"/>
                </a:solidFill>
                <a:latin typeface="Aptos"/>
              </a:rPr>
              <a:t> e </a:t>
            </a:r>
            <a:r>
              <a:rPr sz="1600" b="1" i="0" dirty="0" err="1">
                <a:solidFill>
                  <a:srgbClr val="0B1F33"/>
                </a:solidFill>
                <a:latin typeface="Aptos"/>
              </a:rPr>
              <a:t>informazioni</a:t>
            </a:r>
            <a:r>
              <a:rPr sz="1600" b="1" i="0" dirty="0">
                <a:solidFill>
                  <a:srgbClr val="0B1F33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0B1F33"/>
                </a:solidFill>
                <a:latin typeface="Aptos"/>
              </a:rPr>
              <a:t>utili</a:t>
            </a:r>
            <a:r>
              <a:rPr sz="1600" b="1" i="0" dirty="0">
                <a:solidFill>
                  <a:srgbClr val="0B1F33"/>
                </a:solidFill>
                <a:latin typeface="Aptos"/>
              </a:rPr>
              <a:t> per device profile e </a:t>
            </a:r>
            <a:r>
              <a:rPr sz="1600" b="1" i="0" dirty="0" err="1">
                <a:solidFill>
                  <a:srgbClr val="0B1F33"/>
                </a:solidFill>
                <a:latin typeface="Aptos"/>
              </a:rPr>
              <a:t>controlli</a:t>
            </a:r>
            <a:r>
              <a:rPr sz="1600" b="1" i="0" dirty="0">
                <a:solidFill>
                  <a:srgbClr val="0B1F33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0B1F33"/>
                </a:solidFill>
                <a:latin typeface="Aptos"/>
              </a:rPr>
              <a:t>diagnostici</a:t>
            </a:r>
            <a:r>
              <a:rPr sz="1600" b="1" i="0" dirty="0">
                <a:solidFill>
                  <a:srgbClr val="0B1F33"/>
                </a:solidFill>
                <a:latin typeface="Aptos"/>
              </a:rPr>
              <a:t>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CBD5E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6583680"/>
            <a:ext cx="5486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Aptos"/>
              </a:rPr>
              <a:t>Integrazione JSON → SPICE → diagnosi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583680"/>
            <a:ext cx="6400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  <a:latin typeface="Aptos"/>
              </a:rPr>
              <a:t>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2823</Words>
  <Application>Microsoft Office PowerPoint</Application>
  <PresentationFormat>Widescreen</PresentationFormat>
  <Paragraphs>595</Paragraphs>
  <Slides>30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30</vt:i4>
      </vt:variant>
    </vt:vector>
  </HeadingPairs>
  <TitlesOfParts>
    <vt:vector size="36" baseType="lpstr">
      <vt:lpstr>Aptos</vt:lpstr>
      <vt:lpstr>Aptos Display</vt:lpstr>
      <vt:lpstr>Arial</vt:lpstr>
      <vt:lpstr>Calibri</vt:lpstr>
      <vt:lpstr>Consolas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Marco Profilo</cp:lastModifiedBy>
  <cp:revision>5</cp:revision>
  <dcterms:created xsi:type="dcterms:W3CDTF">2013-01-27T09:14:16Z</dcterms:created>
  <dcterms:modified xsi:type="dcterms:W3CDTF">2026-06-15T09:56:43Z</dcterms:modified>
  <cp:category/>
</cp:coreProperties>
</file>