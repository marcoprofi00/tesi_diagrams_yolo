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76852" y="617220"/>
            <a:ext cx="2575068" cy="533154"/>
          </a:xfrm>
          <a:prstGeom prst="roundRect">
            <a:avLst/>
          </a:prstGeom>
          <a:solidFill>
            <a:srgbClr val="0F766E"/>
          </a:solidFill>
          <a:ln w="12700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76852" y="1943100"/>
            <a:ext cx="2631112" cy="868926"/>
          </a:xfrm>
          <a:prstGeom prst="roundRect">
            <a:avLst/>
          </a:prstGeom>
          <a:solidFill>
            <a:srgbClr val="2563EB"/>
          </a:solidFill>
          <a:ln w="12700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868697" y="3650226"/>
            <a:ext cx="2727468" cy="868926"/>
          </a:xfrm>
          <a:prstGeom prst="roundRect">
            <a:avLst/>
          </a:prstGeom>
          <a:solidFill>
            <a:srgbClr val="F59E0B"/>
          </a:solidFill>
          <a:ln w="1270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8696" y="5143500"/>
            <a:ext cx="2683223" cy="1097280"/>
          </a:xfrm>
          <a:prstGeom prst="roundRect">
            <a:avLst/>
          </a:prstGeom>
          <a:solidFill>
            <a:srgbClr val="7C3AED"/>
          </a:solidFill>
          <a:ln w="12700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67665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Integrazione JSON → SPICE → diagnosi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6285271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0" i="0" dirty="0">
                <a:solidFill>
                  <a:srgbClr val="FFFFFF"/>
                </a:solidFill>
                <a:latin typeface="Aptos"/>
              </a:rPr>
              <a:t>Dal graph JSON </a:t>
            </a:r>
            <a:r>
              <a:rPr sz="2300" b="0" i="0" dirty="0" err="1">
                <a:solidFill>
                  <a:srgbClr val="FFFFFF"/>
                </a:solidFill>
                <a:latin typeface="Aptos"/>
              </a:rPr>
              <a:t>prodotto</a:t>
            </a:r>
            <a:r>
              <a:rPr sz="2300" b="0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2300" b="0" i="0" dirty="0" err="1">
                <a:solidFill>
                  <a:srgbClr val="FFFFFF"/>
                </a:solidFill>
                <a:latin typeface="Aptos"/>
              </a:rPr>
              <a:t>dalla</a:t>
            </a:r>
            <a:r>
              <a:rPr sz="2300" b="0" i="0" dirty="0">
                <a:solidFill>
                  <a:srgbClr val="FFFFFF"/>
                </a:solidFill>
                <a:latin typeface="Aptos"/>
              </a:rPr>
              <a:t> pipeline </a:t>
            </a:r>
            <a:r>
              <a:rPr sz="2300" b="0" i="0" dirty="0" err="1">
                <a:solidFill>
                  <a:srgbClr val="FFFFFF"/>
                </a:solidFill>
                <a:latin typeface="Aptos"/>
              </a:rPr>
              <a:t>attuale</a:t>
            </a:r>
            <a:r>
              <a:rPr sz="2300" b="0" i="0" dirty="0">
                <a:solidFill>
                  <a:srgbClr val="FFFFFF"/>
                </a:solidFill>
                <a:latin typeface="Aptos"/>
              </a:rPr>
              <a:t> a netlist SPICE, report </a:t>
            </a:r>
            <a:r>
              <a:rPr sz="2300" b="0" i="0" dirty="0" err="1">
                <a:solidFill>
                  <a:srgbClr val="FFFFFF"/>
                </a:solidFill>
                <a:latin typeface="Aptos"/>
              </a:rPr>
              <a:t>elettrici</a:t>
            </a:r>
            <a:r>
              <a:rPr sz="2300" b="0" i="0" dirty="0">
                <a:solidFill>
                  <a:srgbClr val="FFFFFF"/>
                </a:solidFill>
                <a:latin typeface="Aptos"/>
              </a:rPr>
              <a:t> e </a:t>
            </a:r>
            <a:r>
              <a:rPr sz="2300" b="0" i="0" dirty="0" err="1">
                <a:solidFill>
                  <a:srgbClr val="FFFFFF"/>
                </a:solidFill>
                <a:latin typeface="Aptos"/>
              </a:rPr>
              <a:t>agente</a:t>
            </a:r>
            <a:r>
              <a:rPr sz="2300" b="0" i="0" dirty="0">
                <a:solidFill>
                  <a:srgbClr val="FFFFFF"/>
                </a:solidFill>
                <a:latin typeface="Aptos"/>
              </a:rPr>
              <a:t> GPT </a:t>
            </a:r>
            <a:r>
              <a:rPr sz="2300" b="0" i="0" dirty="0" err="1">
                <a:solidFill>
                  <a:srgbClr val="FFFFFF"/>
                </a:solidFill>
                <a:latin typeface="Aptos"/>
              </a:rPr>
              <a:t>diagnostico</a:t>
            </a:r>
            <a:r>
              <a:rPr sz="2300" b="0" i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709160"/>
            <a:ext cx="15087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7777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graph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4709160"/>
            <a:ext cx="150876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47777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values.yaml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87952" y="4709160"/>
            <a:ext cx="1508760" cy="3200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24528" y="47777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ngspice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3232" y="5166360"/>
            <a:ext cx="1508760" cy="3200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52349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device 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1" y="5166360"/>
            <a:ext cx="1508760" cy="3200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87168" y="52349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5166360"/>
            <a:ext cx="1508760" cy="3200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52349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GPT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Aptos"/>
              </a:rPr>
              <a:t>Documento di progetto / base per stesura e presentazione finale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Obiettivo della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Estendere la pipeline senza sostituirla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01 / Visione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4251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32735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Punto di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partenza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3273552" cy="270843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Pipeline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attuale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immagine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rilevamento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graph JSON.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Il JSON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descrive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collegamenti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warning.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Oggi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viene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usato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come input per GPT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sintomo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datasheet.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66160" cy="4251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14469"/>
            <a:ext cx="32735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Nuovo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strato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elettrico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1691640"/>
            <a:ext cx="3273552" cy="242630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Dal graph JSON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ricostruiscono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mancanti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vengono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inseriti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in YAML.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Quando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genera ed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esegue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una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netlist SPICE.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520440" cy="4251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8764" y="1413092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B1F33"/>
                </a:solidFill>
                <a:latin typeface="Aptos"/>
              </a:rPr>
              <a:t>Risultato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atteso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1691640"/>
            <a:ext cx="3227832" cy="219547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Report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visualizzazioni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Contesto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diagnostico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strutturato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per GPT.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Risposte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vincolate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datasheet.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Messaggio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Non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simulazione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perfetta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, ma pipeline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controllabile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01 / Visione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L’obiettivo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non è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trasformare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ogni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immagine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in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una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simulazione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perfetta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874519"/>
            <a:ext cx="0" cy="548641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51560" y="2487168"/>
            <a:ext cx="10058400" cy="1463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1" y="2596896"/>
            <a:ext cx="97657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realistico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6151" y="2944368"/>
            <a:ext cx="9765792" cy="8961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il graph JSON come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rappresentazione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intermedia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tra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computer vision,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analisi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elettrica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, SPICE e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diagnosi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43400"/>
            <a:ext cx="100584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La pipeline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deve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funzionare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per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qualsiasi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circuito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inviato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, ma il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livello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analisi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può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cambiare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800" b="1" dirty="0" err="1">
                <a:solidFill>
                  <a:srgbClr val="0B1F33"/>
                </a:solidFill>
                <a:latin typeface="Aptos"/>
              </a:rPr>
              <a:t>simulazione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completa →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simulazione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semplificata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→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simulazione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parziale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→ solo report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diagnostico</a:t>
            </a:r>
            <a:endParaRPr sz="180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Pipeline attuale e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La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nuova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parte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parte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dal graph JSON, non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dall’immagine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6132" y="1271016"/>
            <a:ext cx="50109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600" b="1" i="0" dirty="0">
                <a:solidFill>
                  <a:srgbClr val="0B1F33"/>
                </a:solidFill>
                <a:latin typeface="Aptos"/>
              </a:rPr>
              <a:t>Pipeline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attuale</a:t>
            </a:r>
            <a:endParaRPr sz="16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16916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1" y="18013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B1F33"/>
                </a:solidFill>
                <a:latin typeface="Aptos"/>
              </a:rPr>
              <a:t>Immagine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0B1F33"/>
                </a:solidFill>
                <a:latin typeface="Aptos"/>
              </a:rPr>
              <a:t>circuito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084832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51560" y="23774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1" y="24871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Script 01–06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2770632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1560" y="30632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16151" y="31729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Graph 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3456432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1560" y="3749039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216151" y="38587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Prompt GPT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400" y="4142231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1560" y="44348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16151" y="45445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B1F33"/>
                </a:solidFill>
                <a:latin typeface="Aptos"/>
              </a:rPr>
              <a:t>Diagnosi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0B1F33"/>
                </a:solidFill>
                <a:latin typeface="Aptos"/>
              </a:rPr>
              <a:t>topologica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62572" y="1271016"/>
            <a:ext cx="50109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0B1F33"/>
                </a:solidFill>
                <a:latin typeface="Aptos"/>
              </a:rPr>
              <a:t>Pipeline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estesa</a:t>
            </a:r>
            <a:endParaRPr sz="16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58000" y="1600200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22592" y="170992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Graph 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1947672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000" y="2167128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22592" y="2276856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Node map + YAML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06840" y="2514600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0" y="2734056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22592" y="2843784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Netlist SPICE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06840" y="3081528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0" y="3300984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2592" y="3410712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B1F33"/>
                </a:solidFill>
                <a:latin typeface="Aptos"/>
              </a:rPr>
              <a:t>ngspice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+ </a:t>
            </a:r>
            <a:r>
              <a:rPr sz="1200" b="1" i="0" dirty="0" err="1">
                <a:solidFill>
                  <a:srgbClr val="0B1F33"/>
                </a:solidFill>
                <a:latin typeface="Aptos"/>
              </a:rPr>
              <a:t>risultati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3648456"/>
            <a:ext cx="0" cy="173735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0" y="3867912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22592" y="3977640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Report + </a:t>
            </a:r>
            <a:r>
              <a:rPr sz="1200" b="1" i="0" dirty="0" err="1">
                <a:solidFill>
                  <a:srgbClr val="0B1F33"/>
                </a:solidFill>
                <a:latin typeface="Aptos"/>
              </a:rPr>
              <a:t>contesto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GPT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06840" y="4215384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58000" y="4434840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22592" y="45445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B1F33"/>
                </a:solidFill>
                <a:latin typeface="Aptos"/>
              </a:rPr>
              <a:t>Agente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Perché partire dal graph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È il ponte tra immagine, SPICE e diagnosi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004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252728"/>
            <a:ext cx="290779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 err="1">
                <a:solidFill>
                  <a:srgbClr val="0B1F33"/>
                </a:solidFill>
                <a:latin typeface="Aptos"/>
              </a:rPr>
              <a:t>Immagine</a:t>
            </a:r>
            <a:endParaRPr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1600200"/>
            <a:ext cx="2907792" cy="22980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Input della pipeline 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visione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Utile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umano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Futuro OCR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Overlay di warning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risultati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097280"/>
            <a:ext cx="3200400" cy="4389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252728"/>
            <a:ext cx="290779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>
                <a:solidFill>
                  <a:srgbClr val="0B1F33"/>
                </a:solidFill>
                <a:latin typeface="Aptos"/>
              </a:rPr>
              <a:t>Graph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600200"/>
            <a:ext cx="2907792" cy="22980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Rappresentazione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strutturata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terminali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Grafo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collegamenti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Warning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riconosciuti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20" y="1143000"/>
            <a:ext cx="32004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252728"/>
            <a:ext cx="290779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>
                <a:solidFill>
                  <a:srgbClr val="0B1F33"/>
                </a:solidFill>
                <a:latin typeface="Aptos"/>
              </a:rPr>
              <a:t>SPICE / GPT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600200"/>
            <a:ext cx="2907792" cy="22980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SPICE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richiede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nodi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valori</a:t>
            </a:r>
            <a:endParaRPr sz="1500" b="1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GPT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usa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evidenze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organizzate</a:t>
            </a:r>
            <a:endParaRPr sz="1500" b="1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Report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confrontabile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tra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circuiti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Diagnosi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controllata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32918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32918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Input della nuova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Il JSON non basta: viene completato in modo tracciabile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14977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2563EB"/>
                </a:solidFill>
                <a:latin typeface="Aptos"/>
              </a:rPr>
              <a:t>graph.json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1554479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Output della pipeline 01–06: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collegamenti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207007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values.yaml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8232" y="1554479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Valori,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sorgenti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switch e nodi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non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riconosciuti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8309" y="240030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532888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F59E0B"/>
                </a:solidFill>
                <a:latin typeface="Aptos"/>
              </a:rPr>
              <a:t>device_profiles.yaml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1" y="2880360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Profili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IC: pin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GND, reset, clock, enable,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ingressi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uscite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2316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459736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532888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7C3AED"/>
                </a:solidFill>
                <a:latin typeface="Aptos"/>
              </a:rPr>
              <a:t>datasheet_extract.txt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80360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Estratti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datasheet per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pin-aware e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vincoli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minimi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funzionamento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8309" y="3749039"/>
            <a:ext cx="73152" cy="9601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858768"/>
            <a:ext cx="104058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64748B"/>
                </a:solidFill>
                <a:latin typeface="Aptos"/>
              </a:rPr>
              <a:t>immagine</a:t>
            </a:r>
            <a:r>
              <a:rPr sz="17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64748B"/>
                </a:solidFill>
                <a:latin typeface="Aptos"/>
              </a:rPr>
              <a:t>originale</a:t>
            </a:r>
            <a:endParaRPr sz="17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1" y="4206240"/>
            <a:ext cx="1040587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Supporto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per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verifica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umana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futuro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OCR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Il ruolo di values.yaml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Valori elettrici, nodi manuali e assunzioni dichiarate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486400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161288"/>
            <a:ext cx="51937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4B8A6"/>
                </a:solidFill>
                <a:latin typeface="Aptos"/>
              </a:rPr>
              <a:t>Esempio</a:t>
            </a:r>
            <a:r>
              <a:rPr sz="1500" b="1" i="0" dirty="0">
                <a:solidFill>
                  <a:srgbClr val="14B8A6"/>
                </a:solidFill>
                <a:latin typeface="Aptos"/>
              </a:rPr>
              <a:t>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983480" cy="4160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onsolas"/>
              </a:rPr>
              <a:t>A10: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supplies: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VCC_5V: { value: 5, unit: V }</a:t>
            </a:r>
            <a:br>
              <a:rPr dirty="0"/>
            </a:b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components: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resistor22.1: { value: 330, unit: ohm, source: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image_label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}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lamp13.1:    { value: 250, unit: ohm, source: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manual_assumption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}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led12.1:     { model: LED_RED }</a:t>
            </a:r>
            <a:br>
              <a:rPr dirty="0"/>
            </a:b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manual_nodes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connector5.1_pin1: VCC_5V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connector5.1_pin4: GND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051560"/>
            <a:ext cx="5074920" cy="11887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1161288"/>
            <a:ext cx="47823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0F766E"/>
                </a:solidFill>
                <a:latin typeface="Aptos"/>
              </a:rPr>
              <a:t>Perché</a:t>
            </a:r>
            <a:r>
              <a:rPr sz="1500" b="1" i="0" dirty="0">
                <a:solidFill>
                  <a:srgbClr val="0F766E"/>
                </a:solidFill>
                <a:latin typeface="Aptos"/>
              </a:rPr>
              <a:t> è </a:t>
            </a:r>
            <a:r>
              <a:rPr sz="1500" b="1" i="0" dirty="0" err="1">
                <a:solidFill>
                  <a:srgbClr val="0F766E"/>
                </a:solidFill>
                <a:latin typeface="Aptos"/>
              </a:rPr>
              <a:t>importante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1112" y="1508760"/>
            <a:ext cx="478231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 err="1">
                <a:solidFill>
                  <a:srgbClr val="0F172A"/>
                </a:solidFill>
                <a:latin typeface="Aptos"/>
              </a:rPr>
              <a:t>Permette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separare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il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problema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topologico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dal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problema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OCR/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514600"/>
            <a:ext cx="507492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624328"/>
            <a:ext cx="47823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2563EB"/>
                </a:solidFill>
                <a:latin typeface="Aptos"/>
              </a:rPr>
              <a:t>Nodi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manuali</a:t>
            </a:r>
            <a:endParaRPr sz="16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11112" y="2971800"/>
            <a:ext cx="478231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 err="1">
                <a:solidFill>
                  <a:srgbClr val="0F172A"/>
                </a:solidFill>
                <a:latin typeface="Aptos"/>
              </a:rPr>
              <a:t>Gestisce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label non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rilevate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JSON: VDD, VCC,</a:t>
            </a:r>
            <a:r>
              <a:rPr lang="it-IT"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esterni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977639"/>
            <a:ext cx="507492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4087368"/>
            <a:ext cx="47823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F59E0B"/>
                </a:solidFill>
                <a:latin typeface="Aptos"/>
              </a:rPr>
              <a:t>Tracciabilità</a:t>
            </a:r>
            <a:endParaRPr sz="16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4434840"/>
            <a:ext cx="478231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0F172A"/>
                </a:solidFill>
                <a:latin typeface="Aptos"/>
              </a:rPr>
              <a:t>Ogni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valore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può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essere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etichettato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come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ricavato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dallo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schema o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assunto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manualmente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Output prodotti per ogni circuito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La pipeline produce sempre un risultato, anche se SPICE non gira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93776" y="177393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773936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0F766E"/>
                </a:solidFill>
                <a:latin typeface="Aptos"/>
              </a:rPr>
              <a:t>node_map.json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23113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0F172A"/>
                </a:solidFill>
                <a:latin typeface="Aptos"/>
              </a:rPr>
              <a:t>nodi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ricostruiti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9976" y="177393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1773936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8366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2563EB"/>
                </a:solidFill>
                <a:latin typeface="Aptos"/>
              </a:rPr>
              <a:t>conversion_report.json</a:t>
            </a:r>
            <a:endParaRPr sz="15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23113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conversione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semplificazioni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66175" y="177393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66175" y="1773936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7" y="188366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F59E0B"/>
                </a:solidFill>
                <a:latin typeface="Aptos"/>
              </a:rPr>
              <a:t>missing_parameters.json</a:t>
            </a:r>
            <a:endParaRPr sz="15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30767" y="223113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mancanti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3776" y="309981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6" y="3099816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0954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7C3AED"/>
                </a:solidFill>
                <a:latin typeface="Aptos"/>
              </a:rPr>
              <a:t>spice_netlist.cir</a:t>
            </a:r>
            <a:endParaRPr sz="1500" b="1" i="0" dirty="0">
              <a:solidFill>
                <a:srgbClr val="7C3AE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55701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0F172A"/>
                </a:solidFill>
                <a:latin typeface="Aptos"/>
              </a:rPr>
              <a:t>netlist completa o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parziale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79976" y="309981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9976" y="3099816"/>
            <a:ext cx="73152" cy="9601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20954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16A34A"/>
                </a:solidFill>
                <a:latin typeface="Aptos"/>
              </a:rPr>
              <a:t>spice_results.json</a:t>
            </a:r>
            <a:endParaRPr sz="1500" b="1" i="0" dirty="0">
              <a:solidFill>
                <a:srgbClr val="16A34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5701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esito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.op / .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tran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/ .measure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309981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66175" y="3099816"/>
            <a:ext cx="73152" cy="9601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0767" y="320954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DC2626"/>
                </a:solidFill>
                <a:latin typeface="Aptos"/>
              </a:rPr>
              <a:t>electrical_check_report.json</a:t>
            </a:r>
            <a:endParaRPr sz="1500" b="1" i="0" dirty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30767" y="355701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automatici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93776" y="442569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776" y="4425696"/>
            <a:ext cx="73152" cy="9601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53542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64748B"/>
                </a:solidFill>
                <a:latin typeface="Aptos"/>
              </a:rPr>
              <a:t>circuit_graph.svg</a:t>
            </a:r>
            <a:r>
              <a:rPr sz="1500" b="1" i="0" dirty="0">
                <a:solidFill>
                  <a:srgbClr val="64748B"/>
                </a:solidFill>
                <a:latin typeface="Aptos"/>
              </a:rPr>
              <a:t>/</a:t>
            </a:r>
            <a:r>
              <a:rPr sz="1500" b="1" i="0" dirty="0" err="1">
                <a:solidFill>
                  <a:srgbClr val="64748B"/>
                </a:solidFill>
                <a:latin typeface="Aptos"/>
              </a:rPr>
              <a:t>png</a:t>
            </a:r>
            <a:endParaRPr sz="15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488289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topologica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379976" y="442569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9976" y="4425696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44568" y="453542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F766E"/>
                </a:solidFill>
                <a:latin typeface="Aptos"/>
              </a:rPr>
              <a:t>prompt_arricchito.txt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88289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contesto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GPT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strutturato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66175" y="442569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66175" y="4425696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0767" y="453542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2563EB"/>
                </a:solidFill>
                <a:latin typeface="Aptos"/>
              </a:rPr>
              <a:t>diagnosi_gpt.txt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7" y="488289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risposta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finale </a:t>
            </a:r>
            <a:r>
              <a:rPr lang="it-IT" sz="1200" b="0" i="0" dirty="0">
                <a:solidFill>
                  <a:srgbClr val="0F172A"/>
                </a:solidFill>
                <a:latin typeface="Aptos"/>
              </a:rPr>
              <a:t>o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agente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/GPT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Stati della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Non tutti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i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circuiti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devono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essere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simulabili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allo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stesso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livello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lang="it-IT" sz="1100" b="1" i="0" dirty="0">
                <a:solidFill>
                  <a:srgbClr val="FFFFFF"/>
                </a:solidFill>
                <a:latin typeface="Aptos"/>
              </a:rPr>
              <a:t>02 / 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221270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30906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F766E"/>
                </a:solidFill>
                <a:latin typeface="Aptos"/>
              </a:rPr>
              <a:t>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3090672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Valori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sufficienti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netlist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eseguibile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SPICE completa o quasi completa.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226757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30906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F59E0B"/>
                </a:solidFill>
                <a:latin typeface="Aptos"/>
              </a:rPr>
              <a:t>PARTIAL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74519"/>
            <a:ext cx="3090672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Manca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qualcosa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produce netlist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parziale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report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elettrico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warning sui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limiti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226757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30906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DC2626"/>
                </a:solidFill>
                <a:latin typeface="Aptos"/>
              </a:rPr>
              <a:t>NOT_READY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74519"/>
            <a:ext cx="3090672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Dati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insufficienti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niente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utile, ma report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che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spiega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il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motivo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786813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 err="1">
                <a:solidFill>
                  <a:srgbClr val="0B1F33"/>
                </a:solidFill>
                <a:latin typeface="Aptos"/>
              </a:rPr>
              <a:t>Regola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: ogni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circuito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attraversa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 la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stessa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 pipeline e produce il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massimo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livello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possibile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 di </a:t>
            </a:r>
            <a:r>
              <a:rPr sz="1800" b="1" i="0" dirty="0" err="1">
                <a:solidFill>
                  <a:srgbClr val="0B1F33"/>
                </a:solidFill>
                <a:latin typeface="Aptos"/>
              </a:rPr>
              <a:t>analisi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Moduli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principali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da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sviluppare</a:t>
            </a:r>
            <a:endParaRPr sz="2800" b="1" i="0" dirty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Architettura semplice, modulare e controllabile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39"/>
            <a:ext cx="2560320" cy="14447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1399032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8"/>
            <a:ext cx="164592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Normalizzatore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94767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56432" y="1234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139903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143560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Costruttore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nodi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16752" y="194767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4224" y="1234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01384" y="1399032"/>
            <a:ext cx="411480" cy="4114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43560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Binder YAML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24544" y="194767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72016" y="1234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09176" y="1399032"/>
            <a:ext cx="411480" cy="4114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9176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143560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Generatore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netlist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38328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3547872"/>
            <a:ext cx="411480" cy="4114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63931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58444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Esecutore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SPICE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409651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56432" y="338328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93592" y="3547872"/>
            <a:ext cx="411480" cy="41148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93592" y="363931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358444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Report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elettrico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016752" y="409651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64224" y="338328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01384" y="3547872"/>
            <a:ext cx="411480" cy="411480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01384" y="363931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3584448"/>
            <a:ext cx="164592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Contesto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diagnostico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8924544" y="409651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272016" y="338328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09176" y="3547872"/>
            <a:ext cx="411480" cy="411480"/>
          </a:xfrm>
          <a:prstGeom prst="ellipse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09176" y="363931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7816" y="358444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Agente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</a:t>
            </a:r>
            <a:r>
              <a:rPr lang="it-IT" sz="2800" b="1" dirty="0">
                <a:solidFill>
                  <a:srgbClr val="0B1F33"/>
                </a:solidFill>
                <a:latin typeface="Aptos Display"/>
              </a:rPr>
              <a:t>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1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–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2: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normalizzazione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e node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Dal grafo dei terminali ai nodi SPICE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29718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207007"/>
            <a:ext cx="267919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Input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54479"/>
            <a:ext cx="2679192" cy="25299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graph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collegamenti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switch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097280"/>
            <a:ext cx="2971800" cy="4389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1207007"/>
            <a:ext cx="267919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Node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554479"/>
            <a:ext cx="2679192" cy="20220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raggruppa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connessi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identifica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GND =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nodo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0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crea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N001, N002, ...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segnala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flottanti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41080" y="1097280"/>
            <a:ext cx="29718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05672" y="1207007"/>
            <a:ext cx="267919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B1F33"/>
                </a:solidFill>
                <a:latin typeface="Aptos"/>
              </a:rPr>
              <a:t>node_map.json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05672" y="1554479"/>
            <a:ext cx="2679192" cy="20220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→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nodo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lista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principali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warning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preservati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base per la netlist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3291840"/>
            <a:ext cx="96012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35240" y="3291840"/>
            <a:ext cx="96012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3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–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4: dal YAML alla netlist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Nessun valore viene inventato: tutto è dichiarato o segnalato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49194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B1F33"/>
                </a:solidFill>
                <a:latin typeface="Aptos"/>
              </a:rPr>
              <a:t>Conversioni</a:t>
            </a:r>
            <a:r>
              <a:rPr sz="17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iniziali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1554479"/>
            <a:ext cx="4919472" cy="34265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Resistenza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R n1 n2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Condensatore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C n1 n2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Batteria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/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sorgente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V n+ n- DC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LED/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diodo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D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anodo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catodo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Lampada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/speaker →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carico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equivalente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Transistor → Q / M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generico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specifico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207007"/>
            <a:ext cx="49194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14B8A6"/>
                </a:solidFill>
                <a:latin typeface="Aptos"/>
              </a:rPr>
              <a:t>Esempio</a:t>
            </a:r>
            <a:r>
              <a:rPr sz="1700" b="1" i="0" dirty="0">
                <a:solidFill>
                  <a:srgbClr val="14B8A6"/>
                </a:solidFill>
                <a:latin typeface="Aptos"/>
              </a:rPr>
              <a:t> di netlist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0784"/>
            <a:ext cx="4663440" cy="23637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endParaRPr lang="it-IT" sz="1500" b="0" i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500" b="0" i="0" dirty="0">
                <a:solidFill>
                  <a:srgbClr val="FFFFFF"/>
                </a:solidFill>
                <a:latin typeface="Consolas"/>
              </a:rPr>
              <a:t>V1 </a:t>
            </a:r>
            <a:r>
              <a:rPr sz="15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500" b="0" i="0" dirty="0">
                <a:solidFill>
                  <a:srgbClr val="FFFFFF"/>
                </a:solidFill>
                <a:latin typeface="Consolas"/>
              </a:rPr>
              <a:t> 0 DC 5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R1 </a:t>
            </a:r>
            <a:r>
              <a:rPr sz="15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500" b="0" i="0" dirty="0">
                <a:solidFill>
                  <a:srgbClr val="FFFFFF"/>
                </a:solidFill>
                <a:latin typeface="Consolas"/>
              </a:rPr>
              <a:t> n1 330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D1 n1 0 LED_RED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C1 n2 0 100n</a:t>
            </a:r>
            <a:br>
              <a:rPr sz="1500" dirty="0"/>
            </a:br>
            <a:br>
              <a:rPr sz="1500" dirty="0"/>
            </a:br>
            <a:endParaRPr lang="it-IT" sz="1500" dirty="0"/>
          </a:p>
          <a:p>
            <a:pPr algn="l"/>
            <a:r>
              <a:rPr sz="1500" b="0" i="0" dirty="0">
                <a:solidFill>
                  <a:srgbClr val="FFFFFF"/>
                </a:solidFill>
                <a:latin typeface="Consolas"/>
              </a:rPr>
              <a:t>.model LED_RED D(Is=1e-14 N=2)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.op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.end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Modulo 5: esecuzione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Prima versione: .op, .tran e .measure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9" y="2021512"/>
            <a:ext cx="3474720" cy="2656297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31239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2563EB"/>
                </a:solidFill>
                <a:latin typeface="Aptos"/>
              </a:rPr>
              <a:t>.op</a:t>
            </a:r>
            <a:r>
              <a:rPr lang="it-IT" sz="1700" b="1" i="0" dirty="0">
                <a:solidFill>
                  <a:srgbClr val="2563EB"/>
                </a:solidFill>
                <a:latin typeface="Aptos"/>
              </a:rPr>
              <a:t> - 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operating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78711"/>
            <a:ext cx="3182112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Calcola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tensioni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correnti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statiche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Utile per LED, transistor,</a:t>
            </a:r>
            <a:r>
              <a:rPr lang="it-IT"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alimentazioni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polarizzazione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9" y="2021512"/>
            <a:ext cx="3474720" cy="2656297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131239"/>
            <a:ext cx="318211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>
                <a:solidFill>
                  <a:srgbClr val="0F766E"/>
                </a:solidFill>
                <a:latin typeface="Aptos"/>
              </a:rPr>
              <a:t>.</a:t>
            </a:r>
            <a:r>
              <a:rPr b="1" i="0" dirty="0" err="1">
                <a:solidFill>
                  <a:srgbClr val="0F766E"/>
                </a:solidFill>
                <a:latin typeface="Aptos"/>
              </a:rPr>
              <a:t>tran</a:t>
            </a:r>
            <a:r>
              <a:rPr lang="it-IT" b="1" i="0" dirty="0">
                <a:solidFill>
                  <a:srgbClr val="0F766E"/>
                </a:solidFill>
                <a:latin typeface="Aptos"/>
              </a:rPr>
              <a:t> - </a:t>
            </a:r>
            <a:r>
              <a:rPr b="1" i="0" dirty="0">
                <a:solidFill>
                  <a:srgbClr val="0F766E"/>
                </a:solidFill>
                <a:latin typeface="Aptos"/>
              </a:rPr>
              <a:t>transient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78711"/>
            <a:ext cx="318211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Simula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l’evoluzione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tempo.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5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Utile per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condensatori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switch, timer,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lampeggiatori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segnali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variabili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9" y="2021512"/>
            <a:ext cx="3474720" cy="2649359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1" y="2131239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F59E0B"/>
                </a:solidFill>
                <a:latin typeface="Aptos"/>
              </a:rPr>
              <a:t>.measure</a:t>
            </a:r>
            <a:r>
              <a:rPr lang="it-IT" sz="1700" b="1" i="0" dirty="0">
                <a:solidFill>
                  <a:srgbClr val="F59E0B"/>
                </a:solidFill>
                <a:latin typeface="Aptos"/>
              </a:rPr>
              <a:t> -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misure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automatiche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1" y="2478711"/>
            <a:ext cx="3182112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Estrae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numeri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dai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risultati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: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6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Vout_max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,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Iled_avg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,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0F172A"/>
                </a:solidFill>
                <a:latin typeface="Aptos"/>
              </a:rPr>
              <a:t>tempi di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salita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,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tensioni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medie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 dirty="0" err="1">
                <a:solidFill>
                  <a:srgbClr val="64748B"/>
                </a:solidFill>
                <a:latin typeface="Aptos"/>
              </a:rPr>
              <a:t>Analisi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più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avanzate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come .ac o sweep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parametrici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restano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possibili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, ma non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necessarie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nella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prima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versione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Visualizzazione: risultati e circuito ricostruito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SPICE simula una netlist; lo schema grafico è un livello separato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971620"/>
            <a:ext cx="3246120" cy="291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" y="2081348"/>
            <a:ext cx="29535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1. Netlist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" y="2428820"/>
            <a:ext cx="295351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Rappresentazione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testuale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del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circuito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nodi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  <a:br>
              <a:rPr sz="1500" dirty="0"/>
            </a:b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Output: </a:t>
            </a:r>
            <a:r>
              <a:rPr sz="1500" b="1" i="0" dirty="0" err="1">
                <a:solidFill>
                  <a:srgbClr val="0F172A"/>
                </a:solidFill>
                <a:latin typeface="Aptos"/>
              </a:rPr>
              <a:t>spice_netlist.cir</a:t>
            </a:r>
            <a:endParaRPr sz="1500" b="1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03420" y="1971620"/>
            <a:ext cx="3246120" cy="291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8012" y="2081348"/>
            <a:ext cx="29535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2.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Risultati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8012" y="2428820"/>
            <a:ext cx="295351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Grafici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numerici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tensioni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correnti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forme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d’onda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misure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  <a:br>
              <a:rPr sz="1500" dirty="0"/>
            </a:b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Output: </a:t>
            </a:r>
            <a:r>
              <a:rPr sz="1500" b="1" i="0" dirty="0" err="1">
                <a:solidFill>
                  <a:srgbClr val="0F172A"/>
                </a:solidFill>
                <a:latin typeface="Aptos"/>
              </a:rPr>
              <a:t>spice_results.json</a:t>
            </a:r>
            <a:r>
              <a:rPr sz="1500" b="1" i="0" dirty="0">
                <a:solidFill>
                  <a:srgbClr val="0F172A"/>
                </a:solidFill>
                <a:latin typeface="Aptos"/>
              </a:rPr>
              <a:t> + 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9620" y="1971620"/>
            <a:ext cx="3246120" cy="291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54212" y="2081348"/>
            <a:ext cx="29535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3.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212" y="2428820"/>
            <a:ext cx="2953512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topologica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dal JSON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export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LTspice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opzionale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  <a:br>
              <a:rPr sz="1500" dirty="0"/>
            </a:b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Output: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circuit_graph.svg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/ .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asc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Gestione dei componenti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Tre strategie per mantenere la pipeline semplice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04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Componenti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57784" y="2126225"/>
            <a:ext cx="3520440" cy="272721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5" y="2235953"/>
            <a:ext cx="322783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Conversione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diretta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2375" y="2583425"/>
            <a:ext cx="3227832" cy="1652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Passivi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semplice:</a:t>
            </a:r>
            <a:br>
              <a:rPr sz="1500" dirty="0"/>
            </a:br>
            <a:endParaRPr lang="it-IT" sz="1500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resistenze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condensatori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LED,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sorgenti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switch,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lampade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lang="it-IT" sz="1500" b="0" i="0" dirty="0">
                <a:solidFill>
                  <a:srgbClr val="0F172A"/>
                </a:solidFill>
                <a:latin typeface="Aptos"/>
              </a:rPr>
              <a:t>come carico.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126225"/>
            <a:ext cx="3520440" cy="272721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7135" y="2235953"/>
            <a:ext cx="322783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F59E0B"/>
                </a:solidFill>
                <a:latin typeface="Aptos"/>
              </a:rPr>
              <a:t>Modello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semplificato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5" y="2583425"/>
            <a:ext cx="3227832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perfetti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ma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approssimabili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</a:t>
            </a:r>
            <a:br>
              <a:rPr sz="1500" dirty="0"/>
            </a:br>
            <a:endParaRPr lang="it-IT" sz="1500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555, LM317, op-amp, BJT, MOSFET, driver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2126225"/>
            <a:ext cx="3520440" cy="272721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6" y="2235953"/>
            <a:ext cx="322783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2563EB"/>
                </a:solidFill>
                <a:latin typeface="Aptos"/>
              </a:rPr>
              <a:t>Black</a:t>
            </a:r>
            <a:r>
              <a:rPr sz="1500" b="1" i="0" dirty="0">
                <a:solidFill>
                  <a:srgbClr val="2563EB"/>
                </a:solidFill>
                <a:latin typeface="Aptos"/>
              </a:rPr>
              <a:t> box pin-aware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583425"/>
            <a:ext cx="322783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IC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senza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</a:t>
            </a: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non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simuliamo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l’interno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ma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controlliamo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pin,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alimentazioni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reset, clock, enable,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Circuiti integrati e device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Il datasheet diventa vincolo diagnostico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04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Componenti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73152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252728"/>
            <a:ext cx="106801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Simulabili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/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semplificabili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10680192" cy="5437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0F766E"/>
                </a:solidFill>
                <a:latin typeface="Aptos"/>
              </a:rPr>
              <a:t>Esempi</a:t>
            </a:r>
            <a:r>
              <a:rPr sz="1300" b="1" dirty="0">
                <a:solidFill>
                  <a:srgbClr val="0F766E"/>
                </a:solidFill>
                <a:latin typeface="Aptos"/>
              </a:rPr>
              <a:t>: NE555, LM555, TS555, LM317T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0F172A"/>
                </a:solidFill>
                <a:latin typeface="Aptos"/>
              </a:rPr>
              <a:t>macromodello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comportamento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semplificato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106801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2563EB"/>
                </a:solidFill>
                <a:latin typeface="Aptos"/>
              </a:rPr>
              <a:t>Pin-aware </a:t>
            </a:r>
            <a:r>
              <a:rPr sz="1700" b="1" i="0" dirty="0" err="1">
                <a:solidFill>
                  <a:srgbClr val="2563EB"/>
                </a:solidFill>
                <a:latin typeface="Aptos"/>
              </a:rPr>
              <a:t>digitali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/</a:t>
            </a:r>
            <a:r>
              <a:rPr sz="1700" b="1" i="0" dirty="0" err="1">
                <a:solidFill>
                  <a:srgbClr val="2563EB"/>
                </a:solidFill>
                <a:latin typeface="Aptos"/>
              </a:rPr>
              <a:t>misti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0680192" cy="5437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2563EB"/>
                </a:solidFill>
                <a:latin typeface="Aptos"/>
              </a:rPr>
              <a:t>Esempi</a:t>
            </a:r>
            <a:r>
              <a:rPr sz="1300" b="1" dirty="0">
                <a:solidFill>
                  <a:srgbClr val="2563EB"/>
                </a:solidFill>
                <a:latin typeface="Aptos"/>
              </a:rPr>
              <a:t>: CD4017, CD4026, ADC0804, AT89S51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, clock, reset,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uscite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087368"/>
            <a:ext cx="106801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F59E0B"/>
                </a:solidFill>
                <a:latin typeface="Aptos"/>
              </a:rPr>
              <a:t>Potenza / audio /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motore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6112" y="4434840"/>
            <a:ext cx="10680192" cy="5437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F59E0B"/>
                </a:solidFill>
                <a:latin typeface="Aptos"/>
              </a:rPr>
              <a:t>Esempi</a:t>
            </a:r>
            <a:r>
              <a:rPr sz="1300" b="1" dirty="0">
                <a:solidFill>
                  <a:srgbClr val="F59E0B"/>
                </a:solidFill>
                <a:latin typeface="Aptos"/>
              </a:rPr>
              <a:t>: HT82V733, TDA1553, LM1875, TC4423, L298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enable, supply, load, speaker/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motore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La presenza del datasheet non implica automaticamente un modello SPICE: prima si verifica, poi si decide la strategia.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Modulo 6: report elettrico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Output uniforme anche per circuiti non simulabili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05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Diagnosi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051560"/>
            <a:ext cx="73152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61288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2563EB"/>
                </a:solidFill>
                <a:latin typeface="Aptos"/>
              </a:rPr>
              <a:t>Struttura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1428445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nodi,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stato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READY/PARTIAL/NOT_READY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20239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920239"/>
            <a:ext cx="73152" cy="6583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029967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Controlli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926" y="2309872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massa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aperti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nodi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flottanti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788920"/>
            <a:ext cx="73152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898648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F59E0B"/>
                </a:solidFill>
                <a:latin typeface="Aptos"/>
              </a:rPr>
              <a:t>Controlli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elettrici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3926" y="3165805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LED/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polarità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switch, transistor,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carichi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657599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657599"/>
            <a:ext cx="73152" cy="6583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3767327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16A34A"/>
                </a:solidFill>
                <a:latin typeface="Aptos"/>
              </a:rPr>
              <a:t>Risultati</a:t>
            </a:r>
            <a:r>
              <a:rPr sz="1700" b="1" i="0" dirty="0">
                <a:solidFill>
                  <a:srgbClr val="16A34A"/>
                </a:solidFill>
                <a:latin typeface="Aptos"/>
              </a:rPr>
              <a:t> SPICE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65870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.op,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grafici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.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tran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misure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.measure, log/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errori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79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526279"/>
            <a:ext cx="73152" cy="6583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636007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DC2626"/>
                </a:solidFill>
                <a:latin typeface="Aptos"/>
              </a:rPr>
              <a:t>Limiti</a:t>
            </a:r>
            <a:endParaRPr sz="1700" b="1" i="0" dirty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3926" y="4908047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manca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è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assunto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manualmente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non è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simulato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7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–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8: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contesto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diagnostico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e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agente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Il prompt arricchito è il pacchetto tecnico usato dalla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lang="it-IT" sz="1100" b="1" i="0" dirty="0">
                <a:solidFill>
                  <a:srgbClr val="FFFFFF"/>
                </a:solidFill>
                <a:latin typeface="Aptos"/>
              </a:rPr>
              <a:t>05 / Diagnosi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16128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[GRAPH SUMMARY]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64207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[NODE MAP]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6712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[VALUES]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6032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67004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[SPICE]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6324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17296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[ELECTRICAL CHECKS]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675887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[DEVICE PROFILES]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17880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[USER QUESTION]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7200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68172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[TASK]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9160" y="2971800"/>
            <a:ext cx="86868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715000" y="1234440"/>
            <a:ext cx="5440680" cy="40690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9592" y="1344168"/>
            <a:ext cx="51480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Agente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AI / 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1691640"/>
            <a:ext cx="5148072" cy="281102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certi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dal JSON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legge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assunzioni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dal YAML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integra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risultati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SPICE e report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datasheet/device profile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IC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risponde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distinguendo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fatti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mancanti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ipotesi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Regola metodologica principale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La pipeline non deve inventare collegamenti o modelli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05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Diagnosi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166360" cy="3622695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52728"/>
            <a:ext cx="48737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F766E"/>
                </a:solidFill>
                <a:latin typeface="Aptos"/>
              </a:rPr>
              <a:t>Cosa è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ammesso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1600200"/>
            <a:ext cx="4873752" cy="260584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Aggiungere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YAML come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assunzioni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dichiarate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Aggiungere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come VDD/VCC/GND/OUT se non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rilevati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semplificati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quando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dichiarati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Produrre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warning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quando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qualcosa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è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incerto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166360" cy="3622695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252728"/>
            <a:ext cx="48737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DC2626"/>
                </a:solidFill>
                <a:latin typeface="Aptos"/>
              </a:rPr>
              <a:t>Cosa non </a:t>
            </a:r>
            <a:r>
              <a:rPr sz="1700" b="1" i="0" dirty="0" err="1">
                <a:solidFill>
                  <a:srgbClr val="DC2626"/>
                </a:solidFill>
                <a:latin typeface="Aptos"/>
              </a:rPr>
              <a:t>va</a:t>
            </a:r>
            <a:r>
              <a:rPr sz="1700" b="1" i="0" dirty="0">
                <a:solidFill>
                  <a:srgbClr val="DC2626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DC2626"/>
                </a:solidFill>
                <a:latin typeface="Aptos"/>
              </a:rPr>
              <a:t>fatto</a:t>
            </a:r>
            <a:endParaRPr sz="1700" b="1" i="0" dirty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672" y="1600200"/>
            <a:ext cx="4873752" cy="27597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Inventare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un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collegamento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graph JSON.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un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SPICE 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verificato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come se fosse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certo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Simulare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internamente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senza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affidabile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Nascondere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assunti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manualmente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Validazione a difficoltà crescente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Stessa pipeline, batch diversi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99032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0F766E"/>
                </a:solidFill>
                <a:latin typeface="Aptos"/>
              </a:rPr>
              <a:t>Batch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74519"/>
            <a:ext cx="2221992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400" b="0" i="0" dirty="0" err="1">
                <a:solidFill>
                  <a:srgbClr val="0F172A"/>
                </a:solidFill>
                <a:latin typeface="Aptos"/>
              </a:rPr>
              <a:t>Circuiti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: base JSON → nodi → SPICE.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429000"/>
            <a:ext cx="25603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4173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2563EB"/>
                </a:solidFill>
                <a:latin typeface="Aptos"/>
              </a:rPr>
              <a:t>Batch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874519"/>
            <a:ext cx="2221992" cy="21913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 err="1">
                <a:solidFill>
                  <a:srgbClr val="0F172A"/>
                </a:solidFill>
                <a:latin typeface="Aptos"/>
              </a:rPr>
              <a:t>Semiconduttori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MOSFET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SCR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0F172A"/>
                </a:solidFill>
                <a:latin typeface="Aptos"/>
              </a:rPr>
              <a:t>C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ircuiti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429000"/>
            <a:ext cx="25603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14173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F59E0B"/>
                </a:solidFill>
                <a:latin typeface="Aptos"/>
              </a:rPr>
              <a:t>Batch 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1874519"/>
            <a:ext cx="2221992" cy="240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0F172A"/>
                </a:solidFill>
                <a:latin typeface="Aptos"/>
              </a:rPr>
              <a:t>IC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misti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: 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555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CD4017/CD4026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LM317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0F172A"/>
                </a:solidFill>
                <a:latin typeface="Aptos"/>
              </a:rPr>
              <a:t>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p-amp.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3429000"/>
            <a:ext cx="25603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59" y="14173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1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7C3AED"/>
                </a:solidFill>
                <a:latin typeface="Aptos"/>
              </a:rPr>
              <a:t>Batch 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1874519"/>
            <a:ext cx="2221992" cy="240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0F172A"/>
                </a:solidFill>
                <a:latin typeface="Aptos"/>
              </a:rPr>
              <a:t>IC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applicativi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/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: 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ADC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b="0" i="0" dirty="0">
                <a:solidFill>
                  <a:srgbClr val="0F172A"/>
                </a:solidFill>
                <a:latin typeface="Aptos"/>
              </a:rPr>
              <a:t>M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icrocontrollori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b="0" i="0" dirty="0">
                <a:solidFill>
                  <a:srgbClr val="0F172A"/>
                </a:solidFill>
                <a:latin typeface="Aptos"/>
              </a:rPr>
              <a:t>A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udio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0F172A"/>
                </a:solidFill>
                <a:latin typeface="Aptos"/>
              </a:rPr>
              <a:t>M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otori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I batch non sono pipeline separate: sono test progressivi della stessa architettura.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A — base della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Circuiti semplici e simulabili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schema_dei_circuiti_batc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06" y="1005840"/>
            <a:ext cx="372030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del Batch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4265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Validare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la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ricostruzione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Gestire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GND,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alimentazioni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Generare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le prime netlist SPICE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eseguibili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Eseguire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.op e .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tran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dove utile.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Produrre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report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leggibili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Partire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poi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introdurre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transistor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parziali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B — componenti discreti più complessi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Semiconduttori, MOSFET, SCR e segnali variabili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circuiti_elettronici_batch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131" y="1005840"/>
            <a:ext cx="300445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2563EB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 del Batch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0931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Aggiungere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generici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per BJT, MOSFET,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LED.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Gestire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circuiti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polarità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fusibili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sorgenti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variabili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values.yaml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nodi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Gestire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o label 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rilevate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Passare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conversione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topologica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a prima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analisi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significativa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C1 — IC semplici o misti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Timer, contatori, display e circuiti ibridi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circuiti_semplici_e_misti_batch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06" y="1005840"/>
            <a:ext cx="372030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F59E0B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del Batch 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0931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Introdurre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device profile per IC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noti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Aptos"/>
              </a:rPr>
              <a:t>555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comportamentale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macromodello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disponibile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Aptos"/>
              </a:rPr>
              <a:t>CD4017/CD4026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pin-aware di clock/reset/inhibit/display.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Aptos"/>
              </a:rPr>
              <a:t>LM317</a:t>
            </a:r>
            <a:r>
              <a:rPr lang="it-IT" sz="1500" b="1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op-amp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semplificata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dove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Distinguere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chiaramente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completa,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semplificata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C2 — IC applicativi e complessi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Audio, motori, ADC, microcontrollori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schemi_circuitali_elettronici_batch_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06" y="1005840"/>
            <a:ext cx="372030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 err="1">
                <a:solidFill>
                  <a:srgbClr val="7C3AED"/>
                </a:solidFill>
                <a:latin typeface="Aptos"/>
              </a:rPr>
              <a:t>Obiettivo</a:t>
            </a:r>
            <a:r>
              <a:rPr sz="1500" b="1" i="0" dirty="0">
                <a:solidFill>
                  <a:srgbClr val="7C3AED"/>
                </a:solidFill>
                <a:latin typeface="Aptos"/>
              </a:rPr>
              <a:t> </a:t>
            </a:r>
            <a:r>
              <a:rPr sz="1700" b="1" i="0" dirty="0">
                <a:solidFill>
                  <a:srgbClr val="7C3AED"/>
                </a:solidFill>
                <a:latin typeface="Aptos"/>
              </a:rPr>
              <a:t>del</a:t>
            </a:r>
            <a:r>
              <a:rPr sz="1500" b="1" i="0" dirty="0">
                <a:solidFill>
                  <a:srgbClr val="7C3AED"/>
                </a:solidFill>
                <a:latin typeface="Aptos"/>
              </a:rPr>
              <a:t> Batch 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3239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puntare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alla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interna completa di ogni IC.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datasheet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device profile 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sui pin.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Simulare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sottocircuiti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esterni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e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quando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microcontrollori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/ADC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VCC, GND, reset, clock, bus e I/O.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audio/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motori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enable, speaker/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motore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Roadmap pratica di implementazione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Costruire poco alla volta, ma in modo generale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07 / Piano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2176272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1. primo JSON →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node_map</a:t>
            </a:r>
            <a:r>
              <a:rPr lang="it-IT" sz="1500" b="1" i="0" dirty="0">
                <a:solidFill>
                  <a:srgbClr val="0B1F33"/>
                </a:solidFill>
                <a:latin typeface="Aptos"/>
              </a:rPr>
              <a:t> su un circuito semplice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472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207007"/>
            <a:ext cx="2176272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2.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values.yaml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+ nodi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manuali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207007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3. prima netlist SPICE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592" y="1207007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4.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esecuzione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ngspice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56032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67004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5. report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elettrico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47472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0" y="256032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2" y="2670048"/>
            <a:ext cx="2176272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6.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estensione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a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tutto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Batch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56032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2670048"/>
            <a:ext cx="2176272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7. transistor / MOSFET / SCR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256032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267004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8. Batch 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02336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9. device profile 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4720" y="402336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9312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10. Batch C1 e C2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402336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11.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contesto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GPT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0" y="402336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08592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12.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agente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diagnostico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Fattibilità, limiti e scelte semplici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Cosa rende il progetto realizzabile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07 / Piano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74720" cy="45262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07007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Fattibile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perché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554479"/>
            <a:ext cx="3182112" cy="33239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la pipeline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parte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 JSON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già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prodotto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inseriscono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manualmente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ngspice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è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automatizzabile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circuiti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restare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parziali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il report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viene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prodotto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sempre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474720" cy="4526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207007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F59E0B"/>
                </a:solidFill>
                <a:latin typeface="Aptos"/>
              </a:rPr>
              <a:t>Limiti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gestiti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9431" y="1554479"/>
            <a:ext cx="3182112" cy="33239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OCR </a:t>
            </a:r>
            <a:r>
              <a:rPr lang="it-IT" sz="1500" b="0" dirty="0">
                <a:solidFill>
                  <a:srgbClr val="0F172A"/>
                </a:solidFill>
                <a:latin typeface="Aptos"/>
              </a:rPr>
              <a:t>dei valori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escluso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dalla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prima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versione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verificati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microcontrollori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senza firmware = pin-aware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LTspice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export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opzionale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assunti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sempre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dichiarati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74720" cy="4526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207007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2563EB"/>
                </a:solidFill>
                <a:latin typeface="Aptos"/>
              </a:rPr>
              <a:t>Valore per la </a:t>
            </a:r>
            <a:r>
              <a:rPr sz="1700" b="1" i="0" dirty="0" err="1">
                <a:solidFill>
                  <a:srgbClr val="2563EB"/>
                </a:solidFill>
                <a:latin typeface="Aptos"/>
              </a:rPr>
              <a:t>tesi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94192" y="1554479"/>
            <a:ext cx="3182112" cy="30931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integrazione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CV +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pipeline robusta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anche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incompleti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diagnosi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GPT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fondata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batch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progressivi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confrontabili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base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sviluppi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futuri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 dirty="0" err="1">
                <a:solidFill>
                  <a:srgbClr val="FFFFFF"/>
                </a:solidFill>
                <a:latin typeface="Aptos Display"/>
              </a:rPr>
              <a:t>Sintesi</a:t>
            </a:r>
            <a:r>
              <a:rPr sz="3600" b="1" i="0" dirty="0">
                <a:solidFill>
                  <a:srgbClr val="FFFFFF"/>
                </a:solidFill>
                <a:latin typeface="Aptos Display"/>
              </a:rPr>
              <a:t>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 dirty="0">
                <a:solidFill>
                  <a:srgbClr val="14B8A6"/>
                </a:solidFill>
                <a:latin typeface="Aptos"/>
              </a:rPr>
              <a:t>La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proposta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 è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realistica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 se la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interpretiamo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 come pipeline progressiva e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controllata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278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3278665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2" y="3388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35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graph JSON + YAML + device profile + datasheet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278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3278665"/>
            <a:ext cx="73152" cy="8686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3388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0F766E"/>
                </a:solidFill>
                <a:latin typeface="Aptos"/>
              </a:rPr>
              <a:t>Elaborazione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672" y="3735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node map → netlist →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ngspice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→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421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4421665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4531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F59E0B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78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it-IT" sz="1300" b="0" i="0" dirty="0">
                <a:solidFill>
                  <a:srgbClr val="0F172A"/>
                </a:solidFill>
                <a:latin typeface="Aptos"/>
              </a:rPr>
              <a:t>risultati, visualizzazioni, warning e contesto GPT</a:t>
            </a:r>
            <a:endParaRPr sz="13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5080" y="4421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4421665"/>
            <a:ext cx="73152" cy="868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4531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7C3AED"/>
                </a:solidFill>
                <a:latin typeface="Aptos"/>
              </a:rPr>
              <a:t>Diagnosi</a:t>
            </a:r>
            <a:endParaRPr sz="1500" b="1" i="0" dirty="0">
              <a:solidFill>
                <a:srgbClr val="7C3AE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4878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agente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AI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guidato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da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evidenze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non da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ipotesi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libere</a:t>
            </a:r>
            <a:endParaRPr sz="1300" b="0" i="0" dirty="0">
              <a:solidFill>
                <a:srgbClr val="0F172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Deliverable della prima versione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File, script e risultati da produrre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Appendice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901657"/>
            <a:ext cx="5303520" cy="30546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11384"/>
            <a:ext cx="50109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Script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principali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503469"/>
            <a:ext cx="5010912" cy="212365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normalize_json.py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build_node_map.py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bind_values.py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emit_spice.py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run_ngspice.py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build_report.py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build_diagnostic_context.py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01657"/>
            <a:ext cx="5303520" cy="30546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011384"/>
            <a:ext cx="50109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File per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circuito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952" y="2358856"/>
            <a:ext cx="5010912" cy="24211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graph.json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values.yaml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node_map.json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spice_netlist.cir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spice_results.json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electrical_check_report.json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circuit_graph.png/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svg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prompt_arricchito.txt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Esempio tecnico: da collegamenti a nodi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Come si passa dal graph JSON a SPICE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Appendice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02920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252728"/>
            <a:ext cx="47365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14B8A6"/>
                </a:solidFill>
                <a:latin typeface="Aptos"/>
              </a:rPr>
              <a:t>Dal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74815"/>
            <a:ext cx="4480560" cy="3474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i="0" dirty="0">
                <a:solidFill>
                  <a:srgbClr val="FFFFFF"/>
                </a:solidFill>
                <a:latin typeface="Consolas"/>
              </a:rPr>
              <a:t>R1.t2 → D1.anode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D1.cathode → GND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V1.positive → R1.t1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V1.negative → GND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3337560"/>
            <a:ext cx="59436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12280" y="1143000"/>
            <a:ext cx="46177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6872" y="1252728"/>
            <a:ext cx="4325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F59E0B"/>
                </a:solidFill>
                <a:latin typeface="Aptos"/>
              </a:rPr>
              <a:t>A SPICE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74815"/>
            <a:ext cx="4160520" cy="3474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i="0" dirty="0">
                <a:solidFill>
                  <a:srgbClr val="FFFFFF"/>
                </a:solidFill>
                <a:latin typeface="Consolas"/>
              </a:rPr>
              <a:t>V1 </a:t>
            </a:r>
            <a:r>
              <a:rPr sz="18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800" b="0" i="0" dirty="0">
                <a:solidFill>
                  <a:srgbClr val="FFFFFF"/>
                </a:solidFill>
                <a:latin typeface="Consolas"/>
              </a:rPr>
              <a:t> 0 DC 5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R1 </a:t>
            </a:r>
            <a:r>
              <a:rPr sz="18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800" b="0" i="0" dirty="0">
                <a:solidFill>
                  <a:srgbClr val="FFFFFF"/>
                </a:solidFill>
                <a:latin typeface="Consolas"/>
              </a:rPr>
              <a:t> n1 330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D1 n1 0 LED_RED</a:t>
            </a:r>
            <a:br>
              <a:rPr dirty="0"/>
            </a:b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.op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.measure op </a:t>
            </a:r>
            <a:r>
              <a:rPr sz="1800" b="0" i="0" dirty="0" err="1">
                <a:solidFill>
                  <a:srgbClr val="FFFFFF"/>
                </a:solidFill>
                <a:latin typeface="Consolas"/>
              </a:rPr>
              <a:t>Iled</a:t>
            </a:r>
            <a:r>
              <a:rPr sz="1800" b="0" i="0" dirty="0">
                <a:solidFill>
                  <a:srgbClr val="FFFFFF"/>
                </a:solidFill>
                <a:latin typeface="Consolas"/>
              </a:rPr>
              <a:t> FIND I(D1)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Strategia per i modelli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Ricerca manuale e fallback dichiarati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Appendice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874519" cy="2377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77440"/>
            <a:ext cx="1581911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Cerco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vendor o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compatibile</a:t>
            </a:r>
            <a:endParaRPr sz="1600" b="0" i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65176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1920240"/>
            <a:ext cx="1874519" cy="23774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377440"/>
            <a:ext cx="1581911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Controllo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.model / .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subckt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ordine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pin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74519" cy="2377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377440"/>
            <a:ext cx="1581911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Test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minimo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in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ngspice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13232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80" y="1920240"/>
            <a:ext cx="1874519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377440"/>
            <a:ext cx="1581911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Se non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funziona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comportamentale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60" y="1920240"/>
            <a:ext cx="1874519" cy="2377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295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377440"/>
            <a:ext cx="1581911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Se non ha senso: </a:t>
            </a:r>
            <a:r>
              <a:rPr sz="1500" b="1" i="0" dirty="0">
                <a:solidFill>
                  <a:srgbClr val="0F172A"/>
                </a:solidFill>
                <a:latin typeface="Aptos"/>
              </a:rPr>
              <a:t>black box pin-aware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6636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 dirty="0">
                <a:solidFill>
                  <a:srgbClr val="0B1F33"/>
                </a:solidFill>
                <a:latin typeface="Aptos"/>
              </a:rPr>
              <a:t>Il datasheet non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garantisce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un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modello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SPICE, ma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fornisce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pin,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vincoli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informazioni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utili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per device profile 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controlli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diagnostici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2765</Words>
  <Application>Microsoft Office PowerPoint</Application>
  <PresentationFormat>Widescreen</PresentationFormat>
  <Paragraphs>588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Profilo</cp:lastModifiedBy>
  <cp:revision>3</cp:revision>
  <dcterms:created xsi:type="dcterms:W3CDTF">2013-01-27T09:14:16Z</dcterms:created>
  <dcterms:modified xsi:type="dcterms:W3CDTF">2026-06-10T17:28:12Z</dcterms:modified>
  <cp:category/>
</cp:coreProperties>
</file>