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016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Script 05 — Build Terminal 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Dal passo 03 (terminali semantici) + passo 04 (skeleton dei fili) a un JSON topologico leggibile da umano e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4892040" cy="498348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Obiettivo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1540" y="1894301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02A43"/>
                </a:solidFill>
              </a:rPr>
              <a:t>Trasformare ogni immagine del circuito in un solo JSON canonico, senza net_id, dove i collegamenti sono espressi direttamente come:</a:t>
            </a:r>
            <a:endParaRPr lang="en-US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A43"/>
                </a:solidFill>
              </a:rPr>
              <a:t>terminale → terminali collegati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4672" y="3376655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Idea chiave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3584448"/>
            <a:ext cx="443484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</a:rPr>
              <a:t>aggancia ogni terminale al filo più vicino </a:t>
            </a:r>
            <a:r>
              <a:rPr lang="en-US" sz="1800" dirty="0" err="1">
                <a:solidFill>
                  <a:srgbClr val="102A43"/>
                </a:solidFill>
              </a:rPr>
              <a:t>nello</a:t>
            </a:r>
            <a:r>
              <a:rPr lang="en-US" sz="1800" dirty="0">
                <a:solidFill>
                  <a:srgbClr val="102A43"/>
                </a:solidFill>
              </a:rPr>
              <a:t> skeleton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</a:rPr>
              <a:t>raggruppa i terminali sulla stessa connected component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</a:rPr>
              <a:t>costruisce il grafo finale e aggiunge warning utili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15000" y="1078992"/>
            <a:ext cx="58978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0" descr="/mnt/data/1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298448"/>
            <a:ext cx="4187952" cy="41879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97880" y="55778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</a:rPr>
              <a:t>Esempio di overlay di debug: terminali semanticamente nominati già pronti per il match.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pipeline logica del passo 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Il 05 non “simula” il circuito: ricostruisce la topologia esterna dei nodi a partire dai terminali e dai fili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9536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A8"/>
                </a:solidFill>
              </a:rPr>
              <a:t>03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2331720"/>
            <a:ext cx="16916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02A43"/>
                </a:solidFill>
              </a:rPr>
              <a:t>terminali semantici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02A43"/>
                </a:solidFill>
              </a:rPr>
              <a:t>B/C/E, G/S/D, positive/negative, ...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94760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922776" y="1965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A8"/>
                </a:solidFill>
              </a:rPr>
              <a:t>04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22776" y="2331720"/>
            <a:ext cx="16916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02A43"/>
                </a:solidFill>
              </a:rPr>
              <a:t>skeleton binario dei fili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02A43"/>
                </a:solidFill>
              </a:rPr>
              <a:t>+ maschere derivate dal passo 04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986016" y="1965960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A8"/>
                </a:solidFill>
              </a:rPr>
              <a:t>05 interno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86016" y="2331720"/>
            <a:ext cx="16916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02A43"/>
                </a:solidFill>
              </a:rPr>
              <a:t>match + connected components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02A43"/>
                </a:solidFill>
              </a:rPr>
              <a:t>+ merge / split euristici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921240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0049256" y="1965960"/>
            <a:ext cx="1563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A8"/>
                </a:solidFill>
              </a:rPr>
              <a:t>05 output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49256" y="2331720"/>
            <a:ext cx="16916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02A43"/>
                </a:solidFill>
              </a:rPr>
              <a:t>components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02A43"/>
                </a:solidFill>
              </a:rPr>
              <a:t> graph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02A43"/>
                </a:solidFill>
              </a:rPr>
              <a:t> warnings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61488" y="34290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24728" y="34290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87968" y="34290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" y="4160520"/>
            <a:ext cx="3977640" cy="150876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033272" y="4288536"/>
            <a:ext cx="364845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"terminal26.3_t1":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"polarized_capacitor20.2_negative",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"polarized_capacitor20.4_positive"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760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</a:rPr>
              <a:t>Qui il nodo è implicito: non esiste net_id nel JSON finale.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9240" y="4069080"/>
            <a:ext cx="6126480" cy="2377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623560" y="4297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Formula breve da ricordare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46177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terminali del 03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skeleton del 04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match terminale → connected component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gruppi di terminali sullo stesso filo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terminale → terminali collegati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1 — Pulizia dello skeleton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Prima di cercare le connected components, il 05 rimuove dal filo i corpi dei componenti a due terminali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4160520" cy="50749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Perché serve?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01952"/>
            <a:ext cx="361188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A43"/>
                </a:solidFill>
              </a:rPr>
              <a:t>lo zig-zag del resistore o il corpo del condensatore non </a:t>
            </a:r>
            <a:r>
              <a:rPr lang="en-US" sz="1700" dirty="0" err="1">
                <a:solidFill>
                  <a:srgbClr val="102A43"/>
                </a:solidFill>
              </a:rPr>
              <a:t>sono</a:t>
            </a:r>
            <a:r>
              <a:rPr lang="en-US" sz="1700" dirty="0">
                <a:solidFill>
                  <a:srgbClr val="102A43"/>
                </a:solidFill>
              </a:rPr>
              <a:t> </a:t>
            </a:r>
            <a:r>
              <a:rPr lang="en-US" sz="1700" dirty="0" err="1">
                <a:solidFill>
                  <a:srgbClr val="102A43"/>
                </a:solidFill>
              </a:rPr>
              <a:t>fili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A43"/>
                </a:solidFill>
              </a:rPr>
              <a:t>se restano nello skeleton, i due terminali finiscono nella stessa connected component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A43"/>
                </a:solidFill>
              </a:rPr>
              <a:t>il 05 cancella l’interno del bbox ma lascia gli stub vicini ai terminali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956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37944" y="45262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49560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4233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0640" y="1234440"/>
            <a:ext cx="640080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9" name="Image 0" descr="/mnt/data/1_skeleton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481328"/>
            <a:ext cx="4069080" cy="4069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40680" y="56509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</a:rPr>
              <a:t>Dopo la pulizia: connectedComponentsWithStats() lavora solo su pixel che rappresentano davvero i fili.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2 — Match terminale → filo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Ogni terminale viene agganciato alla label di skeleton più vicina nella sua zona locale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261872"/>
            <a:ext cx="4617720" cy="49560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34150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Ordine di ricerca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1901952"/>
            <a:ext cx="388620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A43"/>
                </a:solidFill>
              </a:rPr>
              <a:t>prima usa una finestra direzionale coerente con </a:t>
            </a:r>
            <a:r>
              <a:rPr lang="en-US" sz="1700" dirty="0" err="1">
                <a:solidFill>
                  <a:srgbClr val="102A43"/>
                </a:solidFill>
              </a:rPr>
              <a:t>relative_position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A43"/>
                </a:solidFill>
              </a:rPr>
              <a:t>se non trova nulla, prova una finestra quadrata piccola attorno al </a:t>
            </a:r>
            <a:r>
              <a:rPr lang="en-US" sz="1700" dirty="0" err="1">
                <a:solidFill>
                  <a:srgbClr val="102A43"/>
                </a:solidFill>
              </a:rPr>
              <a:t>terminale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A43"/>
                </a:solidFill>
              </a:rPr>
              <a:t>salva matched_label, snap_point, snap_distance, match_mode e is_suspicious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3858768"/>
            <a:ext cx="21396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</a:rPr>
              <a:t>Esito possibile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77824" y="4096512"/>
            <a:ext cx="20116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A43"/>
                </a:solidFill>
              </a:rPr>
              <a:t>matched: </a:t>
            </a:r>
            <a:r>
              <a:rPr lang="en-US" sz="1700" dirty="0" err="1">
                <a:solidFill>
                  <a:srgbClr val="102A43"/>
                </a:solidFill>
              </a:rPr>
              <a:t>verde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A43"/>
                </a:solidFill>
              </a:rPr>
              <a:t>suspicious: </a:t>
            </a:r>
            <a:r>
              <a:rPr lang="en-US" sz="1700" dirty="0" err="1">
                <a:solidFill>
                  <a:srgbClr val="102A43"/>
                </a:solidFill>
              </a:rPr>
              <a:t>arancione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02A43"/>
                </a:solidFill>
              </a:rPr>
              <a:t>unmatched: rosso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907792" y="4005072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072384" y="4133088"/>
            <a:ext cx="16824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match_terminal_to_skeleton_label(...)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matched_label,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snap_point,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snap_distance,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match_mode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04688" y="1261872"/>
            <a:ext cx="5989320" cy="4956048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0" descr="/mnt/data/13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228" y="1444752"/>
            <a:ext cx="4160520" cy="4160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69280" y="5605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</a:rPr>
              <a:t>Overlay reale: i terminali semanticamente nominati vengono “snappati” ai pixel di filo più vicini.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3 — Da label a gruppi di terminali, poi al graph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Le connected components non vengono salvate: servono solo come mezzo tecnico per creare il nodo implicito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280160"/>
            <a:ext cx="109728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60120" y="15727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Schema concettuale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12140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124712" y="2249424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17 -&gt; [A, B, C]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56432" y="22494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977640" y="1920240"/>
            <a:ext cx="2057400" cy="1078992"/>
          </a:xfrm>
          <a:prstGeom prst="roundRect">
            <a:avLst>
              <a:gd name="adj" fmla="val 508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142232" y="2048256"/>
            <a:ext cx="17282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-&gt; [B, C]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-&gt; [A, C]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-&gt; [A, B]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3154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il nodo è implicito: la label non viene esportata, ma genera una clique tra tutti i terminali del gruppo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629400" y="1938528"/>
            <a:ext cx="2240280" cy="1737360"/>
          </a:xfrm>
          <a:prstGeom prst="roundRect">
            <a:avLst>
              <a:gd name="adj" fmla="val 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793992" y="2066544"/>
            <a:ext cx="191109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"terminal26.3_t1":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"polarized_capacitor20.2_negative",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"polarized_capacitor20.4_positive"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A43"/>
                </a:solidFill>
              </a:rPr>
              <a:t>Esempio reale preso dal JSON finale: il nodo C viene rappresentato direttamente come lista di vicini.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9720" y="1828800"/>
            <a:ext cx="1783080" cy="20574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32688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Non compare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net_id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08592" y="2926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A43"/>
                </a:solidFill>
              </a:rPr>
              <a:t>L’informazione topologica è già pronta per l’AI.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2A43"/>
                </a:solidFill>
              </a:rPr>
              <a:t>Vantaggio: l’AI non deve prima ricostruire net_id o nodi intermedi; il significato topologico è già esplicito.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4 — Le euristiche di merge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Senza euristiche, lo skeleton grezzo spezza molti nodi reali: basi BJT, gate MOSFET, aux degli opamp, piccoli stub, supply 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154680" cy="48006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/mnt/data/10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449324"/>
            <a:ext cx="2916936" cy="2916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4498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BJT / MOSFET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4773168"/>
            <a:ext cx="2788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merge_bjt_base_aligned_labels() e merge_mosfet_gate_aligned_labels() ricuciono basi e gate spezzate dal masking del simbolo.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69080" y="1325880"/>
            <a:ext cx="3154680" cy="48006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1" descr="/mnt/data/4_terminal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1449324"/>
            <a:ext cx="2916936" cy="29169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3672" y="4498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Op-amp aux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233672" y="4773168"/>
            <a:ext cx="2788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merge_opamp_aux_external_terminal_labels() collega aux1/aux2 a terminali esterni VCC/VEE quando il filo passa dentro il triangolo.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406640" y="1325880"/>
            <a:ext cx="3154680" cy="48006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2" descr="/mnt/data/13_terminal_overl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1449324"/>
            <a:ext cx="2916936" cy="29169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71232" y="4498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Stub / rami speciali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571232" y="4773168"/>
            <a:ext cx="2788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merge_near_horizontal_stub_labels() e direct edges per induttori sistemano piccoli tronconi che da soli resterebbero separati.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5 — Le euristiche di split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Il 05 deve anche separare ciò che non è realmente connesso: ponticelli, crossing senza pallino, switch aperti, self-short di connector/transformer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28016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2788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Casi gestiti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901952"/>
            <a:ext cx="470916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02A43"/>
                </a:solidFill>
              </a:rPr>
              <a:t>split_bridge_labels() taglia i ponticelli e i crossing senza dot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02A43"/>
                </a:solidFill>
              </a:rPr>
              <a:t>remove_non_shorting_component_self_matches() evita corti interni falsi in connector e transformer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02A43"/>
                </a:solidFill>
              </a:rPr>
              <a:t>gli switch open restano due nodi separati: t1 e t2 non vengono fusi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19" y="3886200"/>
            <a:ext cx="3014719" cy="164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</a:rPr>
              <a:t>Convenzione grafica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34440" y="4617720"/>
            <a:ext cx="100584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1737360" y="4114800"/>
            <a:ext cx="0" cy="100584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</a:rPr>
              <a:t>crossing senza pallino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</a:rPr>
              <a:t>→ da spezzare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4617720"/>
            <a:ext cx="100584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749040" y="4114800"/>
            <a:ext cx="0" cy="100584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657600" y="452628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926080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</a:rPr>
              <a:t>crossing con dot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</a:rPr>
              <a:t>→ nodo reale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280160"/>
            <a:ext cx="50749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0" descr="/mnt/data/1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444752"/>
            <a:ext cx="4114800" cy="4114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83680" y="5559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A"/>
                </a:solidFill>
              </a:rPr>
              <a:t>Esempio reale: lo switch centrale è open. Il JSON lo lascia correttamente spezzato in due lati distinti.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reale — immagine 1: risultato promosso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Qui il 05 ricostruisce correttamente i nodi principali A, B, C, massa e il ramo con switch aperto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188720"/>
            <a:ext cx="640080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/mnt/data/1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1353312"/>
            <a:ext cx="4663440" cy="4663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188720"/>
            <a:ext cx="4206240" cy="50749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7543800" y="15361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Lettura del JSON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79792" y="1828800"/>
            <a:ext cx="3749040" cy="3246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02A43"/>
                </a:solidFill>
              </a:rPr>
              <a:t>Nodo A: current_source6.1_from, current_source6.2_from, R_on.t1, r_off.t1, C_A+, C_AC+, C_AB+, terminal26.1_t1
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02A43"/>
                </a:solidFill>
              </a:rPr>
              <a:t>Nodo B: current_source6.2_to, current_source6.3_from, r_off.t2, C_AB−, C_BC−, C_B+, terminal26.4_t1, V_OS−
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02A43"/>
                </a:solidFill>
              </a:rPr>
              <a:t>Nodo C: terminal26.3_t1 ↔ C_AC− ↔ C_BC+
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02A43"/>
                </a:solidFill>
              </a:rPr>
              <a:t>Switch open: resistor22.1_t2 ↔ switch25.1_t1  e  switch25.1_t2 ↔ voltage_source31.1_positive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43800" y="5358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</a:rPr>
              <a:t>warnings = []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543800" y="5623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2A43"/>
                </a:solidFill>
              </a:rPr>
              <a:t>Nessun terminale unmatched, nessun suspicious match, nessun nodo isolato.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finale — perché è adatto a un’AI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Il JSON canonico del 05 è minimalista: componenti, graph, warnings. Niente coordinate o net_id nell’output finale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914400" y="1572768"/>
            <a:ext cx="5120640" cy="4160520"/>
          </a:xfrm>
          <a:prstGeom prst="roundRect">
            <a:avLst>
              <a:gd name="adj" fmla="val 13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078992" y="1700784"/>
            <a:ext cx="4791456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[...],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"graph":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"terminal26.3_t1":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"polarized_capacitor20.2_negative",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"polarized_capacitor20.4_positive"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"switch25.1_t1": ["resistor22.1_t2"],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"switch25.1_t2": ["voltage_source31.1_positive"]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"unconnected_terminals": [],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"unmatched_terminals": [],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"suspicious_matches":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46520" y="132588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720839" y="1627632"/>
            <a:ext cx="286169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Per l’AI è utile perché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56832" y="1920240"/>
            <a:ext cx="429768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2A43"/>
                </a:solidFill>
              </a:rPr>
              <a:t>ogni terminale ha un nome semantico stabile (B/C/E, G/S/D, positive/negative, ...)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2A43"/>
                </a:solidFill>
              </a:rPr>
              <a:t>i nodi sono già leggibili come liste di vicini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2A43"/>
                </a:solidFill>
              </a:rPr>
              <a:t>gli stati dei componenti vengono preservati (es. switch open)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2A43"/>
                </a:solidFill>
              </a:rPr>
              <a:t>warnings separano i casi puliti da quelli da controllare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2A43"/>
                </a:solidFill>
              </a:rPr>
              <a:t>è più diretto delle net classiche per ragionare su topologia e problemi di connessione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5486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</a:rPr>
              <a:t>Limite consapevole: descrive la topologia esterna del diagramma, non la fisica interna del componente.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Refactor consigliato del 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</a:rPr>
              <a:t>Per capirlo meglio conviene separare entrypoint, processor, matching, heuristics, crossings, export e debug draw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64739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AB1"/>
                </a:solidFill>
              </a:rPr>
              <a:t>Script 05 — explain 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325880"/>
            <a:ext cx="3794760" cy="47091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87552" y="1572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Riferimento: organizzazione di 03</a:t>
            </a:r>
            <a:endParaRPr lang="en-US" sz="1800" dirty="0"/>
          </a:p>
        </p:txBody>
      </p:sp>
      <p:pic>
        <p:nvPicPr>
          <p:cNvPr id="8" name="Image 0" descr="/mnt/data/e9457427-bf1c-4795-a897-0d0ea6fa08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1" y="2075688"/>
            <a:ext cx="1760031" cy="388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166980"/>
            <a:ext cx="6583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074920" y="1572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A8"/>
                </a:solidFill>
              </a:rPr>
              <a:t>Proposta per 05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983480" y="1828800"/>
            <a:ext cx="2743200" cy="38862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148072" y="1956816"/>
            <a:ext cx="2414016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build_terminal_graph/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__init__.py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io_utils.py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geometry.py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skeleton_ops.py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matching.py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grouping.py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graph_utils.py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heuristics_bjt.py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heuristics_mosfet.py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heuristics_opamp.py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heuristics_inductor.py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heuristics_supply.py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crossings.py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canonical_export.py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debug_draw.py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processor.py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73568" y="1920240"/>
            <a:ext cx="30175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Idea: 05_build_terminal_graph.py rimane solo un entrypoint; processor.py orchestri il flusso; i moduli raccolgono famiglie di funzioni omogenee.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0" y="38770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</a:rPr>
              <a:t>Risultato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973568" y="4121938"/>
            <a:ext cx="283464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2A43"/>
                </a:solidFill>
              </a:rPr>
              <a:t>import </a:t>
            </a:r>
            <a:r>
              <a:rPr lang="en-US" sz="1600" dirty="0" err="1">
                <a:solidFill>
                  <a:srgbClr val="102A43"/>
                </a:solidFill>
              </a:rPr>
              <a:t>più</a:t>
            </a:r>
            <a:r>
              <a:rPr lang="en-US" sz="1600" dirty="0">
                <a:solidFill>
                  <a:srgbClr val="102A43"/>
                </a:solidFill>
              </a:rPr>
              <a:t> </a:t>
            </a:r>
            <a:r>
              <a:rPr lang="en-US" sz="1600" dirty="0" err="1">
                <a:solidFill>
                  <a:srgbClr val="102A43"/>
                </a:solidFill>
              </a:rPr>
              <a:t>chiari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2A43"/>
                </a:solidFill>
              </a:rPr>
              <a:t>funzioni più facili da </a:t>
            </a:r>
            <a:r>
              <a:rPr lang="en-US" sz="1600" dirty="0" err="1">
                <a:solidFill>
                  <a:srgbClr val="102A43"/>
                </a:solidFill>
              </a:rPr>
              <a:t>trovare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2A43"/>
                </a:solidFill>
              </a:rPr>
              <a:t>meno codice morto o </a:t>
            </a:r>
            <a:r>
              <a:rPr lang="en-US" sz="1600" dirty="0" err="1">
                <a:solidFill>
                  <a:srgbClr val="102A43"/>
                </a:solidFill>
              </a:rPr>
              <a:t>duplicato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02A43"/>
                </a:solidFill>
              </a:rPr>
              <a:t>stessa logica, molta più leggibilità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1493</Words>
  <Application>Microsoft Office PowerPoint</Application>
  <PresentationFormat>Widescreen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Script 05 — Build Terminal Graph</dc:title>
  <dc:subject>Spiegazione del passo 05 - build terminal graph</dc:subject>
  <dc:creator>OpenAI</dc:creator>
  <cp:lastModifiedBy>Marco Profilo</cp:lastModifiedBy>
  <cp:revision>2</cp:revision>
  <dcterms:created xsi:type="dcterms:W3CDTF">2026-04-23T09:52:46Z</dcterms:created>
  <dcterms:modified xsi:type="dcterms:W3CDTF">2026-04-23T10:18:14Z</dcterms:modified>
</cp:coreProperties>
</file>