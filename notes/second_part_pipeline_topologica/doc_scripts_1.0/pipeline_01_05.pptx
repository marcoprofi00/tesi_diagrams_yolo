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7" r:id="rId25"/>
    <p:sldId id="278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83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1_terminal_overlay.jpg"/>
          <p:cNvPicPr>
            <a:picLocks noChangeAspect="1"/>
          </p:cNvPicPr>
          <p:nvPr/>
        </p:nvPicPr>
        <p:blipFill>
          <a:blip r:embed="rId3"/>
          <a:srcRect l="6800" r="6800"/>
          <a:stretch/>
        </p:blipFill>
        <p:spPr>
          <a:xfrm>
            <a:off x="6263640" y="0"/>
            <a:ext cx="59253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33872" y="0"/>
            <a:ext cx="6355080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02920" y="594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E8F9"/>
                </a:solidFill>
              </a:rPr>
              <a:t>Pipeline 1.0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10515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Da detection YOLO a JSON topologico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5212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Presentazione completa degli script 01–05 per estrarre componenti, terminali, wire e grafo terminale-terminale dai diagrammi elettrici.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111827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F3FC"/>
                </a:solidFill>
              </a:rPr>
              <a:t>Output finale attuale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315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FFFFFF"/>
                </a:solidFill>
              </a:rPr>
              <a:t>JSON canonico del circuito + debug overlay, pronto per test con AI e futuro grafo visuale.</a:t>
            </a:r>
            <a:endParaRPr lang="en-US" sz="1340" dirty="0"/>
          </a:p>
        </p:txBody>
      </p:sp>
      <p:sp>
        <p:nvSpPr>
          <p:cNvPr id="10" name="Text 7"/>
          <p:cNvSpPr/>
          <p:nvPr/>
        </p:nvSpPr>
        <p:spPr>
          <a:xfrm>
            <a:off x="548640" y="5961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01 → 02 → 03 → 04 → 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Obiettivo della pipeline fino al passo 05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Convertire un’immagine di schema elettrico in una rappresentazione topologica minimale, leggibile e verificabile.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" y="1627632"/>
            <a:ext cx="4379976" cy="2459736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74026"/>
            <a:ext cx="4343400" cy="23669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413308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Schema originale pulito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7232904" y="1627632"/>
            <a:ext cx="4379976" cy="2459736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16_terminal_over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1674026"/>
            <a:ext cx="4343400" cy="23669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413308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Terminal overlay + JSON finale</a:t>
            </a:r>
            <a:endParaRPr lang="en-US" sz="820" dirty="0"/>
          </a:p>
        </p:txBody>
      </p:sp>
      <p:sp>
        <p:nvSpPr>
          <p:cNvPr id="15" name="Text 11"/>
          <p:cNvSpPr/>
          <p:nvPr/>
        </p:nvSpPr>
        <p:spPr>
          <a:xfrm>
            <a:off x="5715000" y="25786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AEDB"/>
                </a:solidFill>
              </a:rPr>
              <a:t>→</a:t>
            </a:r>
            <a:endParaRPr lang="en-US" sz="3600" dirty="0"/>
          </a:p>
        </p:txBody>
      </p:sp>
      <p:sp>
        <p:nvSpPr>
          <p:cNvPr id="16" name="Shape 12"/>
          <p:cNvSpPr/>
          <p:nvPr/>
        </p:nvSpPr>
        <p:spPr>
          <a:xfrm>
            <a:off x="868680" y="469087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1097280" y="4617720"/>
            <a:ext cx="10241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01 rileva i simboli con YOLO e corregge classi ambigue.</a:t>
            </a:r>
            <a:endParaRPr lang="en-US" sz="1320" dirty="0"/>
          </a:p>
        </p:txBody>
      </p:sp>
      <p:sp>
        <p:nvSpPr>
          <p:cNvPr id="18" name="Shape 14"/>
          <p:cNvSpPr/>
          <p:nvPr/>
        </p:nvSpPr>
        <p:spPr>
          <a:xfrm>
            <a:off x="868680" y="5001768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/>
          <p:cNvSpPr/>
          <p:nvPr/>
        </p:nvSpPr>
        <p:spPr>
          <a:xfrm>
            <a:off x="1097280" y="4928616"/>
            <a:ext cx="10241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02 assegna ID di istanza stabili e leggibili.</a:t>
            </a:r>
            <a:endParaRPr lang="en-US" sz="1320" dirty="0"/>
          </a:p>
        </p:txBody>
      </p:sp>
      <p:sp>
        <p:nvSpPr>
          <p:cNvPr id="20" name="Shape 16"/>
          <p:cNvSpPr/>
          <p:nvPr/>
        </p:nvSpPr>
        <p:spPr>
          <a:xfrm>
            <a:off x="868680" y="5312664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1097280" y="5239512"/>
            <a:ext cx="10241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03 stima terminali, polarità e semantica locale.</a:t>
            </a:r>
            <a:endParaRPr lang="en-US" sz="1320" dirty="0"/>
          </a:p>
        </p:txBody>
      </p:sp>
      <p:sp>
        <p:nvSpPr>
          <p:cNvPr id="22" name="Shape 18"/>
          <p:cNvSpPr/>
          <p:nvPr/>
        </p:nvSpPr>
        <p:spPr>
          <a:xfrm>
            <a:off x="868680" y="5623560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9"/>
          <p:cNvSpPr/>
          <p:nvPr/>
        </p:nvSpPr>
        <p:spPr>
          <a:xfrm>
            <a:off x="1097280" y="5550408"/>
            <a:ext cx="10241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04 estrae i fili come skeleton pulito.</a:t>
            </a:r>
            <a:endParaRPr lang="en-US" sz="1320" dirty="0"/>
          </a:p>
        </p:txBody>
      </p:sp>
      <p:sp>
        <p:nvSpPr>
          <p:cNvPr id="24" name="Shape 20"/>
          <p:cNvSpPr/>
          <p:nvPr/>
        </p:nvSpPr>
        <p:spPr>
          <a:xfrm>
            <a:off x="868680" y="5934456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1"/>
          <p:cNvSpPr/>
          <p:nvPr/>
        </p:nvSpPr>
        <p:spPr>
          <a:xfrm>
            <a:off x="1097280" y="5861304"/>
            <a:ext cx="10241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05 aggancia terminali ai fili e produce il grafo topologico.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Mappa completa del flusso 01–05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Ogni stadio mantiene un contratto di input/output semplice: JSON + immagini di debug.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1847088" cy="201168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9050">
            <a:solidFill>
              <a:srgbClr val="1BAED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850392" y="2075688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50392" y="2176272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01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850392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01 Detect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0392" y="2999232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YOLO + post-processing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→ componenti + bbox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569464" y="2724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48B"/>
                </a:solidFill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880360" y="1874520"/>
            <a:ext cx="1847088" cy="201168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044952" y="2075688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044952" y="2176272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02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044952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02 Instances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044952" y="2999232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Ordine geometrico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→ instance_id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764024" y="2724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48B"/>
                </a:solidFill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074920" y="1874520"/>
            <a:ext cx="1847088" cy="201168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5239512" y="2075688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239512" y="2176272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03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239512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03 Terminals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239512" y="2999232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Strategie geometriche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→ terminali semantici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958584" y="2724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48B"/>
                </a:solidFill>
              </a:rPr>
              <a:t>→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269480" y="1874520"/>
            <a:ext cx="1847088" cy="201168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7434072" y="2075688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7434072" y="2176272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04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7434072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04 Wires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434072" y="2999232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Masking + skeleton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→ wire extraction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9153144" y="2724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48B"/>
                </a:solidFill>
              </a:rPr>
              <a:t>→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9464040" y="1874520"/>
            <a:ext cx="1847088" cy="201168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9050">
            <a:solidFill>
              <a:srgbClr val="F9737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9628632" y="2075688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628632" y="2176272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05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9628632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05 Graph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628632" y="2999232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Terminali ↔ skeleton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→ graph JSON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731520" y="457200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896112" y="4718304"/>
            <a:ext cx="4974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Idea centrale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896112" y="5047488"/>
            <a:ext cx="49743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La pipeline non prova a “capire tutto” in un solo modello. Ogni script aggiunge un livello: prima oggetti, poi nomi, poi terminali, poi fili, infine topologia.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55080" y="45720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519672" y="471830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Perché funziona bene per l’AI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6519672" y="5047488"/>
            <a:ext cx="47914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Il JSON finale elimina molta ambiguità visiva: l’AI non deve interpretare pixel, ma relazioni tra terminali e componenti.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61111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Contratti dati tra gli script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Ogni passo riceve il JSON precedente, aggiunge informazioni e produce immagini di controllo.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1417320"/>
            <a:ext cx="11064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68680" y="1673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Step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45920" y="16733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Blocco aggiunto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1673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Campi chiave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95360" y="1673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Debug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1920240"/>
            <a:ext cx="10378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77824" y="20299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AEDB"/>
                </a:solidFill>
              </a:rPr>
              <a:t>01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645920" y="20299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components[]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572000" y="202996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class_id, class_name, bbox, conf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595360" y="2029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debug bbox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22960" y="2578608"/>
            <a:ext cx="10378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77824" y="26883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02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645920" y="268833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components[] + instance_id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572000" y="268833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instance_id = class_id.indice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595360" y="2688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instances image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22960" y="3236976"/>
            <a:ext cx="10378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77824" y="33467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03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45920" y="33467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terminals[]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572000" y="33467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terminal_id, point, relative_position, semantic name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595360" y="33467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terminal overlay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22960" y="3895344"/>
            <a:ext cx="10378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77824" y="4005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04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645920" y="40050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wire_extraction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0" y="40050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mask, binary, filtered, skeleton paths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595360" y="40050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mask/skeleton debug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822960" y="4553712"/>
            <a:ext cx="10378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877824" y="46634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73"/>
                </a:solidFill>
              </a:rPr>
              <a:t>05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645920" y="46634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components + graph + warnings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4572000" y="466344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JSON canonico e grafo terminale-terminale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8595360" y="46634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terminal/skeleton overlay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22960" y="6053327"/>
            <a:ext cx="10515600" cy="557783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2E8F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987552" y="6099048"/>
            <a:ext cx="10186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Regola pratica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 rot="10800000" flipV="1">
            <a:off x="987552" y="6364224"/>
            <a:ext cx="101864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Non cancellare informazione utile troppo presto: i dettagli geometrici servono ai passi 03–04, mentre il passo 05 produce una vista minimale per ragionamento topologico.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Detect components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AEDB"/>
                </a:solidFill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08760" y="941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Detect Components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36192" y="149961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primo stadio riconosce i simboli elettrici con YOLO e li normalizza con post-processing euristico.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039112"/>
            <a:ext cx="3922776" cy="3648456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0" descr="/mnt/data/1_instanc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057400"/>
            <a:ext cx="3611880" cy="3611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" y="5733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Esempio: bounding box + classi rilevate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983480" y="2103120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5212080" y="2029968"/>
            <a:ext cx="6355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Input: immagine del diagramma elettrico.</a:t>
            </a:r>
            <a:endParaRPr lang="en-US" sz="1330" dirty="0"/>
          </a:p>
        </p:txBody>
      </p:sp>
      <p:sp>
        <p:nvSpPr>
          <p:cNvPr id="15" name="Shape 12"/>
          <p:cNvSpPr/>
          <p:nvPr/>
        </p:nvSpPr>
        <p:spPr>
          <a:xfrm>
            <a:off x="4983480" y="2505456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212080" y="2432304"/>
            <a:ext cx="6355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YOLO produce bbox, classe e confidenza per ogni simbolo.</a:t>
            </a:r>
            <a:endParaRPr lang="en-US" sz="1330" dirty="0"/>
          </a:p>
        </p:txBody>
      </p:sp>
      <p:sp>
        <p:nvSpPr>
          <p:cNvPr id="17" name="Shape 14"/>
          <p:cNvSpPr/>
          <p:nvPr/>
        </p:nvSpPr>
        <p:spPr>
          <a:xfrm>
            <a:off x="4983480" y="290779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212080" y="2834640"/>
            <a:ext cx="6355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Regole specifiche correggono classi ambigue: LED/Diode, Battery/Capacitor, Meter/Signal Source, Connector, Analog Meter.</a:t>
            </a:r>
            <a:endParaRPr lang="en-US" sz="1330" dirty="0"/>
          </a:p>
        </p:txBody>
      </p:sp>
      <p:sp>
        <p:nvSpPr>
          <p:cNvPr id="19" name="Shape 16"/>
          <p:cNvSpPr/>
          <p:nvPr/>
        </p:nvSpPr>
        <p:spPr>
          <a:xfrm>
            <a:off x="4983480" y="3310128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5212080" y="3236976"/>
            <a:ext cx="6355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Output: JSON con componenti rilevati + immagine debug con bbox.</a:t>
            </a:r>
            <a:endParaRPr lang="en-US" sz="1330" dirty="0"/>
          </a:p>
        </p:txBody>
      </p:sp>
      <p:sp>
        <p:nvSpPr>
          <p:cNvPr id="21" name="Shape 18"/>
          <p:cNvSpPr/>
          <p:nvPr/>
        </p:nvSpPr>
        <p:spPr>
          <a:xfrm>
            <a:off x="5074920" y="4434840"/>
            <a:ext cx="6217920" cy="1417320"/>
          </a:xfrm>
          <a:prstGeom prst="roundRect">
            <a:avLst>
              <a:gd name="adj" fmla="val 32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221224" y="4572000"/>
            <a:ext cx="5925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= {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"class_id": 22,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"class_name": "Resistor",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"bbox": [x1, y1, x2, y2],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"conf": 0.87,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"use_for_terminals": true,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"use_for_masking": true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Detect components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Post-processing: perché non basta YOLO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detector è il punto di partenza, ma molte classi richiedono validazione geometrica.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1112" y="1261872"/>
            <a:ext cx="4882896" cy="4517136"/>
          </a:xfrm>
          <a:prstGeom prst="roundRect">
            <a:avLst>
              <a:gd name="adj" fmla="val 141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3_instanc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80160"/>
            <a:ext cx="4480560" cy="4480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29400" y="58247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Secondo esempio di detection con classi difficili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685800" y="149047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914400" y="1417320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Secondo pass mirato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85800" y="1883664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914400" y="1810512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classi difficili come Diode e Connector possono essere rieseguite a risoluzione maggiore.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685800" y="2276856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914400" y="2203704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Remap semantico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85800" y="2670048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914400" y="2596896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alcune detection vengono riclassificate usando struttura interna, rapporto d’aspetto, cerchi Hough e proiezioni.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685800" y="3063240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914400" y="2990088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Soppressione conflitti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85800" y="345643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914400" y="3383280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elimina duplicati o bbox incompatibili: LED vs Diode, Battery vs Capacitor, Connector vs Meter.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85800" y="3849624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914400" y="3776472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Filtro terminali rumorosi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85800" y="4242816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914400" y="4169664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i terminali piccoli vengono accettati solo se hanno supporto grafico coerente intorno.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731520" y="56692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896112" y="5815584"/>
            <a:ext cx="10552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Output utile per i passi successivi</a:t>
            </a:r>
            <a:endParaRPr lang="en-US" sz="1320" dirty="0"/>
          </a:p>
        </p:txBody>
      </p:sp>
      <p:sp>
        <p:nvSpPr>
          <p:cNvPr id="30" name="Text 27"/>
          <p:cNvSpPr/>
          <p:nvPr/>
        </p:nvSpPr>
        <p:spPr>
          <a:xfrm>
            <a:off x="896112" y="6144768"/>
            <a:ext cx="1055217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Il passo 01 non interpreta ancora il circuito: prepara una lista affidabile di simboli con bbox e metadati necessari a 02–04.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Detect components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Esempi di output del detector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955548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Le immagini debug permettono di controllare rapidamente errori di classe, bbox e confidenza.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" y="1216152"/>
            <a:ext cx="3557016" cy="3557016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_instance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234440"/>
            <a:ext cx="35204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48188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complesso: sorgenti, switch, condensatori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325112" y="1216152"/>
            <a:ext cx="3557016" cy="3557016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3_instance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1234440"/>
            <a:ext cx="35204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48188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con rete a ponte e transformer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8074152" y="1216152"/>
            <a:ext cx="3557016" cy="1956816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/mnt/data/16_terminal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235323"/>
            <a:ext cx="3520440" cy="19184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32186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semplice: J2 + LED + lamp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8092440" y="359359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832104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</a:rPr>
              <a:t>Il controllo visivo serve già qui: se il componente è sbagliato in 01, il terminale in 03 e il grafo in 05 ereditano l’errore.</a:t>
            </a:r>
            <a:endParaRPr lang="en-US" sz="1140" dirty="0"/>
          </a:p>
        </p:txBody>
      </p:sp>
      <p:sp>
        <p:nvSpPr>
          <p:cNvPr id="20" name="Shape 15"/>
          <p:cNvSpPr/>
          <p:nvPr/>
        </p:nvSpPr>
        <p:spPr>
          <a:xfrm>
            <a:off x="8092440" y="4014216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8321040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</a:rPr>
              <a:t>Le classi con simboli simili richiedono soglie e regole dedicate per ridurre falsi positivi.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Assign instances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B981"/>
                </a:solidFill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08760" y="8954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Assign Instances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08760" y="11718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Trasforma componenti anonimi in istanze stabili: resistor22.1, capacitor4.2, mosfet16.1, ...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76872" y="1490472"/>
            <a:ext cx="4425696" cy="4425696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0" descr="/mnt/data/1_instanc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08760"/>
            <a:ext cx="4389120" cy="4389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95160" y="59618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Debug: bbox con instance_id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31520" y="194767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960120" y="187452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</a:rPr>
              <a:t>Il detector può trovare “tre resistori”, ma non sa ancora come nominarli in modo stabile.</a:t>
            </a:r>
            <a:endParaRPr lang="en-US" sz="1360" dirty="0"/>
          </a:p>
        </p:txBody>
      </p:sp>
      <p:sp>
        <p:nvSpPr>
          <p:cNvPr id="15" name="Shape 12"/>
          <p:cNvSpPr/>
          <p:nvPr/>
        </p:nvSpPr>
        <p:spPr>
          <a:xfrm>
            <a:off x="731520" y="235915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960120" y="228600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</a:rPr>
              <a:t>Lo script raggruppa i componenti per classe e li ordina geometricamente.</a:t>
            </a:r>
            <a:endParaRPr lang="en-US" sz="1360" dirty="0"/>
          </a:p>
        </p:txBody>
      </p:sp>
      <p:sp>
        <p:nvSpPr>
          <p:cNvPr id="17" name="Shape 14"/>
          <p:cNvSpPr/>
          <p:nvPr/>
        </p:nvSpPr>
        <p:spPr>
          <a:xfrm>
            <a:off x="731520" y="277063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960120" y="269748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</a:rPr>
              <a:t>Ogni componente riceve un `instance_id` nel formato class_id.indice.</a:t>
            </a:r>
            <a:endParaRPr lang="en-US" sz="1360" dirty="0"/>
          </a:p>
        </p:txBody>
      </p:sp>
      <p:sp>
        <p:nvSpPr>
          <p:cNvPr id="19" name="Shape 16"/>
          <p:cNvSpPr/>
          <p:nvPr/>
        </p:nvSpPr>
        <p:spPr>
          <a:xfrm>
            <a:off x="731520" y="318211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960120" y="310896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</a:rPr>
              <a:t>La lista finale resta ordinata nello spazio dell’immagine per semplificare il debug.</a:t>
            </a:r>
            <a:endParaRPr lang="en-US" sz="1360" dirty="0"/>
          </a:p>
        </p:txBody>
      </p:sp>
      <p:sp>
        <p:nvSpPr>
          <p:cNvPr id="21" name="Shape 18"/>
          <p:cNvSpPr/>
          <p:nvPr/>
        </p:nvSpPr>
        <p:spPr>
          <a:xfrm>
            <a:off x="822960" y="4297680"/>
            <a:ext cx="5394960" cy="132588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969264" y="4434840"/>
            <a:ext cx="5102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"class_id": 22, "class_name": "Resistor"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dopo: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"class_id": 22, "class_name": "Resistor",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"instance_id": "22.1" 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Assign instances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Logica di ordinamento e naming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La numerazione non è elettrica: è geometrica, deterministica e ripetibile.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153619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49808" y="164592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Raggruppa per classe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828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tutti i componenti con lo stesso class_id finiscono nello stesso gruppo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49808" y="249631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49808" y="260604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25880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Ordina per centro bbox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788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modalità xy oppure yx: sinistra→destra / alto→basso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749808" y="345643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49808" y="356616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3429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Assegna indice locale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749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22.1, 22.2, 22.3 per i resistori; 9.1, 9.2 per GND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49808" y="441655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49808" y="452628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25880" y="4389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Ricompone JSON globale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7091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mantiene leggibilità spaziale e salva n_components + sort_order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400800" y="1508760"/>
            <a:ext cx="4983480" cy="192024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547104" y="1645920"/>
            <a:ext cx="46908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assign_instances_to_image(data):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grouped = group_by_class_id(data["components"])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class_id, comps in grouped.items():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comps_sorted = sort_components(comps, SORT_ORDER)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idx, comp in enumerate(comps_sorted, start=1):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comp["instance_id"] = f"{class_id}.{idx}"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400800" y="384048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565392" y="3986784"/>
            <a:ext cx="4654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Perché è fondamentale per il 03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565392" y="4315968"/>
            <a:ext cx="46542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</a:rPr>
              <a:t>I terminali vengono poi nominati usando l’istanza: `resistor22.1_t1`, `mosfet16.2_G`, `connector5.1_pin3`. Senza istanze stabili non si può costruire un grafo leggibile.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Estimate terminals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C3AED"/>
                </a:solidFill>
              </a:rPr>
              <a:t>03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08760" y="941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Estimate Terminals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36192" y="149961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Dal bbox del componente ai terminali semantici: posizione, orientazione, polarità e nome.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" y="1856232"/>
            <a:ext cx="4197096" cy="4063108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0" descr="/mnt/data/1_termina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856232"/>
            <a:ext cx="4063108" cy="40631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9193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Esempio: componenti + terminali stimati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5257800" y="190195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5486400" y="1828800"/>
            <a:ext cx="58064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Input: componenti già istanziati dal passo 02.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5257800" y="231343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486400" y="2240280"/>
            <a:ext cx="58064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Per ogni classe, il file YAML decide la strategia terminale da usare.</a:t>
            </a:r>
            <a:endParaRPr lang="en-US" sz="1340" dirty="0"/>
          </a:p>
        </p:txBody>
      </p:sp>
      <p:sp>
        <p:nvSpPr>
          <p:cNvPr id="17" name="Shape 14"/>
          <p:cNvSpPr/>
          <p:nvPr/>
        </p:nvSpPr>
        <p:spPr>
          <a:xfrm>
            <a:off x="5257800" y="272491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486400" y="2651760"/>
            <a:ext cx="58064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Il sistema stima: orientazione, lato connesso, punto terminale e semantica.</a:t>
            </a:r>
            <a:endParaRPr lang="en-US" sz="1340" dirty="0"/>
          </a:p>
        </p:txBody>
      </p:sp>
      <p:sp>
        <p:nvSpPr>
          <p:cNvPr id="19" name="Shape 16"/>
          <p:cNvSpPr/>
          <p:nvPr/>
        </p:nvSpPr>
        <p:spPr>
          <a:xfrm>
            <a:off x="5257800" y="313639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5486400" y="3063240"/>
            <a:ext cx="58064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Output: lista globale `terminals[]` + componenti arricchiti.</a:t>
            </a:r>
            <a:endParaRPr lang="en-US" sz="1340" dirty="0"/>
          </a:p>
        </p:txBody>
      </p:sp>
      <p:sp>
        <p:nvSpPr>
          <p:cNvPr id="21" name="Shape 18"/>
          <p:cNvSpPr/>
          <p:nvPr/>
        </p:nvSpPr>
        <p:spPr>
          <a:xfrm>
            <a:off x="5349240" y="4160520"/>
            <a:ext cx="5715000" cy="1417320"/>
          </a:xfrm>
          <a:prstGeom prst="roundRect">
            <a:avLst>
              <a:gd name="adj" fmla="val 32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495544" y="4297680"/>
            <a:ext cx="5422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= {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"terminal_id": "voltage_source31.1_positive",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"positive",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"relative_position": "left",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"point": [x, y],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"semantic_role_family": "polarity"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Estimate terminals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Architettura modulare del passo 03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codice è suddiviso in livelli: orchestrazione, dispatch, strategie, geometria e probing.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800600" cy="530352"/>
          </a:xfrm>
          <a:prstGeom prst="roundRect">
            <a:avLst>
              <a:gd name="adj" fmla="val 1379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87552" y="1527048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03_estimate_terminals.py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3547872" y="1527048"/>
            <a:ext cx="1882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batch, input/output, debug image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71800" y="1956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176272"/>
            <a:ext cx="4800600" cy="530352"/>
          </a:xfrm>
          <a:prstGeom prst="roundRect">
            <a:avLst>
              <a:gd name="adj" fmla="val 13793"/>
            </a:avLst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87552" y="228600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processor.py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3547872" y="2286000"/>
            <a:ext cx="2029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un componente → terminali concreti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715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935224"/>
            <a:ext cx="4800600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8" name="Text 16"/>
          <p:cNvSpPr/>
          <p:nvPr/>
        </p:nvSpPr>
        <p:spPr>
          <a:xfrm>
            <a:off x="987552" y="304495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dispatcher.py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3547872" y="3044952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seleziona strategia da YAML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71800" y="34747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3694176"/>
            <a:ext cx="4800600" cy="530352"/>
          </a:xfrm>
          <a:prstGeom prst="roundRect">
            <a:avLst>
              <a:gd name="adj" fmla="val 1379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87552" y="3803904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strategies_*.py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3547872" y="3803904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regole specializzate per classi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71800" y="4233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453128"/>
            <a:ext cx="4800600" cy="530352"/>
          </a:xfrm>
          <a:prstGeom prst="roundRect">
            <a:avLst>
              <a:gd name="adj" fmla="val 13793"/>
            </a:avLst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987552" y="4562856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geometry.py + probes.py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3547872" y="4562856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punti terminali e misure locali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132588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245352" y="1472184"/>
            <a:ext cx="5020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Separazione geometria / semantica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6245352" y="1801368"/>
            <a:ext cx="5020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</a:rPr>
              <a:t>Prima il sistema localizza il terminale sul bordo o sul simbolo. Solo dopo assegna nomi come `positive`, `negative`, `anode`, `cathode`, `G`, `S`, `D`, `B`, `C`, `E`.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6080760" y="27889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245352" y="2935224"/>
            <a:ext cx="5020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Perché è debuggabile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6245352" y="3264408"/>
            <a:ext cx="502005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</a:rPr>
              <a:t>Ogni decisione produce score, orientazione stimata e overlay. Se un terminale è sbagliato, si può capire se il problema è nel bbox, nel probe, nella strategia o nella semantica.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6080760" y="44805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6245352" y="4626864"/>
            <a:ext cx="5020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Esempi di strategie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6245352" y="4956048"/>
            <a:ext cx="50200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two_terminal_round_source, voltage_source_positive_from_plus_marker, three_terminal_by_side_pattern, connector_by_projection, transformer_external_wires, opamp_by_orientation_and_optional_supply.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Estimate terminals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Metadati YAML: la configurazione guida le strategie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file class_terminals_v1.yaml rende esplicita la semantica dei simboli.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447" y="1952244"/>
            <a:ext cx="5462169" cy="2336292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77824" y="1883664"/>
            <a:ext cx="519379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Voltage_Source: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terminal_strategy: two_terminal_round_source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semantic_terminal_strategy: voltage_source_positive_from_plus_marker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semantic_roles: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marker_side: positive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other_side: negative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Mosfet: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terminal_strategy: three_terminal_by_side_pattern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semantic_roles: {single_side: G, arrow_branch: S, other_branch: D}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0" y="1645920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812280" y="1572768"/>
            <a:ext cx="46177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Per i componenti a 2 terminali, la strategia individua l’asse e poi assegna polarità/direzione.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6583680" y="208483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812280" y="2011680"/>
            <a:ext cx="46177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Per i componenti a 3 terminali, la strategia riconosce il lato singolo e mappa i terminali su ruoli semantici.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583680" y="2523744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812280" y="2450592"/>
            <a:ext cx="46177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Il risultato non è più solo `t1/t2`: diventa `positive/negative`, `anode/cathode`, `current_from/current_to`, `G/S/D`, ecc.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6583680" y="4251960"/>
            <a:ext cx="4846320" cy="1170432"/>
          </a:xfrm>
          <a:prstGeom prst="roundRect">
            <a:avLst>
              <a:gd name="adj" fmla="val 7619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748272" y="4398264"/>
            <a:ext cx="4517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Punto chiave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748272" y="4727448"/>
            <a:ext cx="4517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La semantica dei terminali è ciò che rende il JSON finale leggibile da un umano e utile per una AI: non vede solo connessioni, ma ruoli circuitali.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Estimate terminals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 terminali: controllo visivo della semantica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Le immagini di debug mostrano bbox, orientazione e label terminali direttamente sul diagramma.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1216152"/>
            <a:ext cx="3602736" cy="3602736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_terminal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34440"/>
            <a:ext cx="3566160" cy="3566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4864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1: MOSFET, opamp, polarità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416552" y="1490472"/>
            <a:ext cx="3465576" cy="1911096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16_terminal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511699"/>
            <a:ext cx="3429000" cy="18686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34472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16: circuito semplice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8074152" y="1216152"/>
            <a:ext cx="3602736" cy="3602736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/mnt/data/8_terminal_overlay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0" y="1234440"/>
            <a:ext cx="3566160" cy="35661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4864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8: transformer + induttore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914400" y="542239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1143000" y="5349240"/>
            <a:ext cx="99212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Questa fase è critica: un terminale spostato o con nome sbagliato può produrre un nodo sbagliato nel 05.</a:t>
            </a:r>
            <a:endParaRPr lang="en-US" sz="1280" dirty="0"/>
          </a:p>
        </p:txBody>
      </p:sp>
      <p:sp>
        <p:nvSpPr>
          <p:cNvPr id="20" name="Shape 15"/>
          <p:cNvSpPr/>
          <p:nvPr/>
        </p:nvSpPr>
        <p:spPr>
          <a:xfrm>
            <a:off x="914400" y="574243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1143000" y="5669280"/>
            <a:ext cx="99212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La debug image rende verificabile l’intero passaggio da simbolo a terminale.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Extract wires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</a:rPr>
              <a:t>04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08760" y="941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Extract Wires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36192" y="149961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Rimuove il corpo dei componenti, preserva le zone terminali e produce lo skeleton dei fili.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" y="1828800"/>
            <a:ext cx="3648456" cy="3648456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0" descr="/mnt/data/1_mask_debu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847088"/>
            <a:ext cx="3611880" cy="3611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5229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Mask debug: componenti coperti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754880" y="194767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983480" y="1874520"/>
            <a:ext cx="60807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Input: JSON del passo 03 con componenti e terminali.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4754880" y="235915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4983480" y="2286000"/>
            <a:ext cx="60807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Costruisce una maschera dei componenti usando bbox e padding per classe.</a:t>
            </a:r>
            <a:endParaRPr lang="en-US" sz="1340" dirty="0"/>
          </a:p>
        </p:txBody>
      </p:sp>
      <p:sp>
        <p:nvSpPr>
          <p:cNvPr id="17" name="Shape 14"/>
          <p:cNvSpPr/>
          <p:nvPr/>
        </p:nvSpPr>
        <p:spPr>
          <a:xfrm>
            <a:off x="4754880" y="277063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4983480" y="2697480"/>
            <a:ext cx="60807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Riapre piccole keep zones intorno ai terminali per non spezzare i fili.</a:t>
            </a:r>
            <a:endParaRPr lang="en-US" sz="1340" dirty="0"/>
          </a:p>
        </p:txBody>
      </p:sp>
      <p:sp>
        <p:nvSpPr>
          <p:cNvPr id="19" name="Shape 16"/>
          <p:cNvSpPr/>
          <p:nvPr/>
        </p:nvSpPr>
        <p:spPr>
          <a:xfrm>
            <a:off x="4754880" y="318211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4983480" y="3108960"/>
            <a:ext cx="60807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Binarizza, pulisce, collega gap e calcola lo skeleton finale.</a:t>
            </a:r>
            <a:endParaRPr lang="en-US" sz="1340" dirty="0"/>
          </a:p>
        </p:txBody>
      </p:sp>
      <p:sp>
        <p:nvSpPr>
          <p:cNvPr id="21" name="Shape 18"/>
          <p:cNvSpPr/>
          <p:nvPr/>
        </p:nvSpPr>
        <p:spPr>
          <a:xfrm>
            <a:off x="4892040" y="4201668"/>
            <a:ext cx="5897880" cy="157734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038344" y="4480560"/>
            <a:ext cx="5605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wire_extraction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"component_mask": "...png",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"masked_gray": "...png",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"binary": "...png",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"filtered": "...png",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"skeleton": "...png"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Extract wires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Masking: cancellare simboli senza cancellare collegamenti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La parte più delicata è rimuovere il corpo del simbolo lasciando vivi gli stub dei terminali.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" y="1307592"/>
            <a:ext cx="3465576" cy="3465576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_mask_debu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325880"/>
            <a:ext cx="34290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48188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Mask overlay — caso 1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325112" y="1307592"/>
            <a:ext cx="3465576" cy="3465576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3_mask_debu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1325880"/>
            <a:ext cx="3429000" cy="3429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48188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Mask overlay — caso 3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8074152" y="1307592"/>
            <a:ext cx="3465576" cy="3465576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/mnt/data/10_mask_debug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0" y="1325880"/>
            <a:ext cx="3429000" cy="3429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48188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Mask overlay — caso 10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868680" y="54223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1097280" y="5349240"/>
            <a:ext cx="10287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Il masking rettangolare elimina testo e corpo dei simboli.</a:t>
            </a:r>
            <a:endParaRPr lang="en-US" sz="1210" dirty="0"/>
          </a:p>
        </p:txBody>
      </p:sp>
      <p:sp>
        <p:nvSpPr>
          <p:cNvPr id="20" name="Shape 15"/>
          <p:cNvSpPr/>
          <p:nvPr/>
        </p:nvSpPr>
        <p:spPr>
          <a:xfrm>
            <a:off x="868680" y="57332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1097280" y="5660136"/>
            <a:ext cx="10287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Le keep zones preservano la connessione locale intorno al terminale.</a:t>
            </a:r>
            <a:endParaRPr lang="en-US" sz="1210" dirty="0"/>
          </a:p>
        </p:txBody>
      </p:sp>
      <p:sp>
        <p:nvSpPr>
          <p:cNvPr id="22" name="Shape 17"/>
          <p:cNvSpPr/>
          <p:nvPr/>
        </p:nvSpPr>
        <p:spPr>
          <a:xfrm>
            <a:off x="868680" y="604418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1097280" y="5971032"/>
            <a:ext cx="10287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Padding e parametri speciali gestiscono switch, connettori, analog meter, transformer.</a:t>
            </a:r>
            <a:endParaRPr lang="en-US" sz="12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Extract wires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Dalla maschera allo skeleton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wire extraction passa per sogliatura, closing, bridging, filtraggio e skeletonization.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1280160"/>
            <a:ext cx="3557016" cy="3557016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_skelet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298448"/>
            <a:ext cx="35204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48828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Skeleton binario finale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553712" y="1280160"/>
            <a:ext cx="3557016" cy="3557016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1_skeleton_overlay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1298448"/>
            <a:ext cx="35204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8828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Skeleton overlay — caso 1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8394192" y="1280160"/>
            <a:ext cx="2779776" cy="2779776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/mnt/data/3_skeleton_overlay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12480" y="1298448"/>
            <a:ext cx="2743200" cy="2743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41056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Skeleton overlay — caso 3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868680" y="5230367"/>
            <a:ext cx="10469880" cy="946497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1033272" y="5376672"/>
            <a:ext cx="10140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</a:rPr>
              <a:t>Perché serve lo skeleton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1033272" y="5705856"/>
            <a:ext cx="1014069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passo 05 deve ragionare su componenti connessi da fili. Lo skeleton rende i wire sottili, più facili da etichettare in connected components e più adatti al matching terminale→filo.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Extract wires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Problemi che il passo 04 deve gestire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La qualità dello skeleton influenza direttamente la topologia prodotta dal passo 05.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49047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14400" y="1417320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Componenti non completamente mascherati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88366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14400" y="1810512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il corpo del simbolo può restare nello skeleton e creare falsi corti.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27685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14400" y="2203704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Terminali troppo cancellati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67004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14400" y="2596896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se la keep zone è troppo piccola, il filo si spezza vicino al componente.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06324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14400" y="2990088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Crossing e ponticelli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45643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lo skeleton può fondere fili che graficamente si incrociano ma non sono connessi.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84962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14400" y="3776472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Simboli complessi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24281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14400" y="4169664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transformer, analog meter, opamp e connettori richiedono parametri dedicati.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11112" y="1307592"/>
            <a:ext cx="4700016" cy="4700016"/>
          </a:xfrm>
          <a:prstGeom prst="roundRect">
            <a:avLst>
              <a:gd name="adj" fmla="val 1362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0" descr="/mnt/data/1_skeleton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325880"/>
            <a:ext cx="4663440" cy="46634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629400" y="60533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Controllo visivo: wire rimasti dopo il masking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Build terminal graph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7373"/>
                </a:solidFill>
              </a:rPr>
              <a:t>05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08760" y="941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Build Terminal Graph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36192" y="12115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Unisce terminali semantici e skeleton per produrre il JSON canonico del circuito.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67144" y="1643620"/>
            <a:ext cx="4562856" cy="2505456"/>
          </a:xfrm>
          <a:prstGeom prst="roundRect">
            <a:avLst>
              <a:gd name="adj" fmla="val 2555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0" descr="/mnt/data/16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1663044"/>
            <a:ext cx="4526280" cy="2466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03720" y="399592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Output visivo: terminal overlay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77240" y="190195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10058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Ogni terminale viene agganciato al pixel di skeleton più vicino e coerente con la sua direzione.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231343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100584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Le connected components dello skeleton diventano gruppi interni di terminali.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" y="272491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100584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Il JSON finale non salva net esplicite: salva componenti e graph terminale→terminali.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77240" y="313639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10058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Warnings separano terminali unmatched, unconnected e suspicious.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68680" y="4297681"/>
            <a:ext cx="5623560" cy="1517903"/>
          </a:xfrm>
          <a:prstGeom prst="roundRect">
            <a:avLst>
              <a:gd name="adj" fmla="val 370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1014984" y="4480560"/>
            <a:ext cx="5148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final_json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"components": [...],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"graph":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"terminal_A": ["terminal_B", "terminal_C"]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"warnings": {...}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Build terminal graph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Matching terminale → skeleton label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terminale non viene connesso “a occhio”: viene agganciato a una connected component dello skeleton.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" y="1353312"/>
            <a:ext cx="4379976" cy="4379976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_terminal_overla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371600"/>
            <a:ext cx="4343400" cy="4343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577900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Terminal overlay — matching e snap point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486400" y="158191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71500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Finestra direzionale: cerca soprattutto nel lato indicato da `relative_position`.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0" y="199339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571500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Fallback quadrato: recupera errori piccoli di localizzazione.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0" y="240487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571500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Snap distance: se il pixel di skeleton è troppo lontano, il match diventa sospetto.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0" y="281635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71500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Per simboli speciali, alcuni fallback sono più ampi o semantici.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532120" y="4069080"/>
            <a:ext cx="5349240" cy="1371600"/>
          </a:xfrm>
          <a:prstGeom prst="roundRect">
            <a:avLst>
              <a:gd name="adj" fmla="val 370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5678424" y="4206240"/>
            <a:ext cx="5056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match_terminal_to_skeleton_label(term):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directional_window(term.relative_position)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nearest_labeled_pixel(labels, window)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if none: square_window fallback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save matched_label, snap_point, distance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Build terminal graph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Euristiche del 05: correggere skeleton e label prima del JSON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grafo finale è semplice, ma prima richiede correzioni mirate su casi reali.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96112" y="156362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Fusioni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96112" y="1892808"/>
            <a:ext cx="4791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334155"/>
                </a:solidFill>
              </a:rPr>
              <a:t>BJT base allineate, gate MOSFET, opamp aux con terminali esterni, stub orizzontali, rail di gate/battery.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FECAC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96112" y="279806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Split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96112" y="3127248"/>
            <a:ext cx="4791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334155"/>
                </a:solidFill>
              </a:rPr>
              <a:t>ponticelli, crossing senza dot, self-short di connector/transformer, pseudo-corti da corpo componente.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96112" y="403250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Supply simboliche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96112" y="4361688"/>
            <a:ext cx="4791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334155"/>
                </a:solidFill>
              </a:rPr>
              <a:t>VDD/VSS possono essere aggiunte come nodi simbolici quando lo stub verticale lo suggerisce.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6291072" y="1216152"/>
            <a:ext cx="4974336" cy="4608576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9" name="Image 0" descr="/mnt/data/8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34440"/>
            <a:ext cx="4572000" cy="4572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309360" y="58704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Esempio complesso: transformer, induttore e terminali</a:t>
            </a:r>
            <a:endParaRPr lang="en-US" sz="8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Build terminal graph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del JSON canonico prodotto dal passo 05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L’output è volutamente minimale: componenti + graph + warnings.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609344"/>
            <a:ext cx="6510528" cy="3811742"/>
          </a:xfrm>
          <a:prstGeom prst="roundRect">
            <a:avLst>
              <a:gd name="adj" fmla="val 9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30352" y="1371600"/>
            <a:ext cx="6510529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"image_id": "16",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"image_name": "16.png",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"components":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{"component_id": "connector5.1", "class_name": "Connector", ...},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{"component_id": "switch25.1", "class_name": "Switch", "state": "open"}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"graph":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"connector5.1_pin1": ["resistor22.2_t1"],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"led12.1_cathode": ["lamp13.1_t2", "gnd9.3_t1"]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"warnings":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"unconnected_terminals": [],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"unmatched_terminals": [],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"suspicious_matches": []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162763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406640" y="1554480"/>
            <a:ext cx="40233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Nessun bbox e nessuna coordinata nel JSON finale canonico.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178040" y="2066544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406640" y="1993392"/>
            <a:ext cx="40233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I componenti conservano solo ID, classe e terminali con nome e posizione relativa.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178040" y="2505456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406640" y="2432304"/>
            <a:ext cx="40233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Il grafo è leggibile: ogni chiave è un terminale, ogni lista sono i terminali connessi.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7178040" y="2944368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406640" y="2871216"/>
            <a:ext cx="40233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Warnings separa problemi da interpretare manualmente o con AI.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7178040" y="429768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342632" y="4443984"/>
            <a:ext cx="3922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Scelta progettuale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342632" y="4773168"/>
            <a:ext cx="3922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Il 05 non vuole essere un CAD completo: vuole essere una rappresentazione topologica compatta, adatta a ragionamento automatico e troubleshooting.</a:t>
            </a:r>
            <a:endParaRPr lang="en-US" sz="11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Output examples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Esempio semplice: circuito J2 + LED + lampada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Caso utile per validare se il JSON basta a una AI per ricostruire la topologia.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" y="1216152"/>
            <a:ext cx="3877056" cy="2231136"/>
          </a:xfrm>
          <a:prstGeom prst="roundRect">
            <a:avLst>
              <a:gd name="adj" fmla="val 286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5280"/>
            <a:ext cx="3840480" cy="209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4930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Immagine pulita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76072" y="3730752"/>
            <a:ext cx="3877056" cy="2139696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16_terminal_over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54160"/>
            <a:ext cx="3840480" cy="209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5916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Terminal overlay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4754880" y="1234440"/>
            <a:ext cx="3337560" cy="2240280"/>
          </a:xfrm>
          <a:prstGeom prst="roundRect">
            <a:avLst>
              <a:gd name="adj" fmla="val 20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2"/>
          <p:cNvSpPr/>
          <p:nvPr/>
        </p:nvSpPr>
        <p:spPr>
          <a:xfrm>
            <a:off x="4901184" y="1371600"/>
            <a:ext cx="3044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"component_id": "connector5.1",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"class_name": "Connector",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"terminals": ["pin1", "pin2", "pin3", "pin4"]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"component_id": "switch25.1",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"class_name": "Switch",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"open",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"state_confidence": 0.95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321040" y="1234440"/>
            <a:ext cx="3246120" cy="2240280"/>
          </a:xfrm>
          <a:prstGeom prst="roundRect">
            <a:avLst>
              <a:gd name="adj" fmla="val 20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8467344" y="1371600"/>
            <a:ext cx="29535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"connector5.1_pin1": ["resistor22.2_t1"],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"resistor22.2_t2": ["led12.1_anode"],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"led12.1_cathode":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"gnd9.3_t1",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"lamp13.1_t2"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"switch25.1_t2": ["connector5.1_pin3"]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0" y="3840480"/>
            <a:ext cx="681228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/>
          <p:nvPr/>
        </p:nvSpPr>
        <p:spPr>
          <a:xfrm>
            <a:off x="4919472" y="3986784"/>
            <a:ext cx="6483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Cosa vede l’AI dal JSON</a:t>
            </a:r>
            <a:endParaRPr lang="en-US" sz="1320" dirty="0"/>
          </a:p>
        </p:txBody>
      </p:sp>
      <p:sp>
        <p:nvSpPr>
          <p:cNvPr id="21" name="Text 17"/>
          <p:cNvSpPr/>
          <p:nvPr/>
        </p:nvSpPr>
        <p:spPr>
          <a:xfrm>
            <a:off x="4919472" y="4315968"/>
            <a:ext cx="64830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Connettore a 4 pin, switch aperto verso GND, ramo LED con resistenza e ramo lampada con resistenza, ritorno comune a destra.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754880" y="4983480"/>
            <a:ext cx="681228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3" name="Text 19"/>
          <p:cNvSpPr/>
          <p:nvPr/>
        </p:nvSpPr>
        <p:spPr>
          <a:xfrm>
            <a:off x="4919472" y="5129784"/>
            <a:ext cx="6483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Limite emerso nei test</a:t>
            </a:r>
            <a:endParaRPr lang="en-US" sz="1320" dirty="0"/>
          </a:p>
        </p:txBody>
      </p:sp>
      <p:sp>
        <p:nvSpPr>
          <p:cNvPr id="24" name="Text 20"/>
          <p:cNvSpPr/>
          <p:nvPr/>
        </p:nvSpPr>
        <p:spPr>
          <a:xfrm>
            <a:off x="4919472" y="5458968"/>
            <a:ext cx="648309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Simboli GND multipli possono restare nodi distinti se non vengono normalizzati semanticamente.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Validazione con AI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Validare il JSON prima del nuovo grafo visuale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L’obiettivo è capire se una AI riesce a riconoscere circuito e topologia senza vedere l’immagine.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96912" y="1399032"/>
            <a:ext cx="4151376" cy="2276856"/>
          </a:xfrm>
          <a:prstGeom prst="roundRect">
            <a:avLst>
              <a:gd name="adj" fmla="val 281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6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119" y="1417320"/>
            <a:ext cx="4110962" cy="2240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0" y="3721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usato per test JSON-only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777240" y="167335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005840" y="1600200"/>
            <a:ext cx="59436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Test 1: solo JSON. L’AI deve elencare componenti, nodi, topologia e limiti.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777240" y="208483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005840" y="2011680"/>
            <a:ext cx="59436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Test 2: JSON + immagine pulita, solo se emergono dubbi o casi limite.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777240" y="249631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005840" y="2423160"/>
            <a:ext cx="59436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Test 3: JSON + sintomo operativo, per verificare troubleshooting topologico.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777240" y="290779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1005840" y="2834640"/>
            <a:ext cx="59436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Risultato atteso: report Markdown standardizzato e confrontabile tra modelli.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868680" y="4114800"/>
            <a:ext cx="5897880" cy="2002536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1014984" y="4251960"/>
            <a:ext cx="560527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base: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"Analizza il circuito SOLO dal JSON.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elenca componenti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ricostruisci nodi principali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descrivi topologia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segnala ambiguità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giudizio finale: Promosso / Quasi corretto / Da correggere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Produci Markdown."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0" y="4069080"/>
            <a:ext cx="4114800" cy="1353312"/>
          </a:xfrm>
          <a:prstGeom prst="roundRect">
            <a:avLst>
              <a:gd name="adj" fmla="val 7619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7479792" y="4215384"/>
            <a:ext cx="3785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Perché è utile alla tesi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7479792" y="4544568"/>
            <a:ext cx="37856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334155"/>
                </a:solidFill>
              </a:rPr>
              <a:t>Permette di misurare se la rappresentazione topologica è sufficiente per il ragionamento automatico, separando il problema “visione” dal problema “comprensione del circuito”.</a:t>
            </a:r>
            <a:endParaRPr lang="en-US" sz="11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Risultati attuali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Punti forti raggiunti fino al passo 05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La pipeline è già utile per generare dati strutturati e fare debug progressivo.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50392" y="147218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Interpretabile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50392" y="1801368"/>
            <a:ext cx="2916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Ogni passo produce debug images e JSON ispezionabili.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32588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553712" y="147218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Modulare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53712" y="1801368"/>
            <a:ext cx="2916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Detection, istanze, terminali, fili e grafo sono separati.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60604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3E8FF"/>
          </a:solidFill>
          <a:ln w="12700">
            <a:solidFill>
              <a:srgbClr val="DDD6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50392" y="275234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Semantico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50392" y="3081528"/>
            <a:ext cx="2916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Terminali con polarità e ruoli: G/S/D, B/C/E, positive/negative, anode/cathode.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0" y="260604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53712" y="275234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AI-friendly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553712" y="3081528"/>
            <a:ext cx="2916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Il JSON finale è piccolo, leggibile e privo di coordinate superflue.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88620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EE2E2"/>
          </a:solidFill>
          <a:ln w="12700">
            <a:solidFill>
              <a:srgbClr val="FECAC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50392" y="403250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Estendibile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50392" y="4361688"/>
            <a:ext cx="2916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Nuove classi e nuove strategie possono entrare via YAML o moduli dedicati.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54112" y="3867912"/>
            <a:ext cx="3145536" cy="2093976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5" name="Image 0" descr="/mnt/data/1_terminal_overlay.jpg"/>
          <p:cNvPicPr>
            <a:picLocks noChangeAspect="1"/>
          </p:cNvPicPr>
          <p:nvPr/>
        </p:nvPicPr>
        <p:blipFill>
          <a:blip r:embed="rId3"/>
          <a:srcRect t="16912" b="16912"/>
          <a:stretch/>
        </p:blipFill>
        <p:spPr>
          <a:xfrm>
            <a:off x="7772400" y="3886200"/>
            <a:ext cx="3108960" cy="20574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772400" y="6007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Debug completo del 05</a:t>
            </a:r>
            <a:endParaRPr lang="en-US" sz="8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Limiti attuali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Limiti e ambiguità ancora aperti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Sono importanti perché definiscono il prossimo lavoro: normalizzazione e grafo visuale.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39903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05840" y="132588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11827"/>
                </a:solidFill>
              </a:rPr>
              <a:t>GND / VDD / VSS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005840" y="1709928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</a:rPr>
              <a:t>i simboli globali possono essere multipli e non sempre vanno fusi automaticamente.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777240" y="2167128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005840" y="2093976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11827"/>
                </a:solidFill>
              </a:rPr>
              <a:t>Valori elettrici assenti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77240" y="2551176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005840" y="2478024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</a:rPr>
              <a:t>il JSON descrive topologia, non dimensionamento: non basta per correnti, tensioni o guasti fisici.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77240" y="2935224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005840" y="2862072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11827"/>
                </a:solidFill>
              </a:rPr>
              <a:t>Crossing e bridge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77240" y="331927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005840" y="324612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</a:rPr>
              <a:t>la distinzione tra incrocio connesso e non connesso resta un caso difficile.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777240" y="3703320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005840" y="3630168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11827"/>
                </a:solidFill>
              </a:rPr>
              <a:t>Componenti complessi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777240" y="4087368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005840" y="4014216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</a:rPr>
              <a:t>transformer, connector, analog meter e opamp richiedono euristiche dedicate e controlli visivi.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777240" y="4471416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005840" y="4398264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11827"/>
                </a:solidFill>
              </a:rPr>
              <a:t>Clique troppo dense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777240" y="4855464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05840" y="4782312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</a:rPr>
              <a:t>un nodo con molti terminali genera molte connessioni ripetute nel graph.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6793992" y="1261872"/>
            <a:ext cx="4608576" cy="3785616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30" name="Image 0" descr="/mnt/data/8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80160"/>
            <a:ext cx="3749040" cy="3749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812280" y="50932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con componenti complessi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812280" y="5321808"/>
            <a:ext cx="4572000" cy="1097280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6976872" y="5468112"/>
            <a:ext cx="4242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Decisione attuale</a:t>
            </a:r>
            <a:endParaRPr lang="en-US" sz="1320" dirty="0"/>
          </a:p>
        </p:txBody>
      </p:sp>
      <p:sp>
        <p:nvSpPr>
          <p:cNvPr id="34" name="Text 31"/>
          <p:cNvSpPr/>
          <p:nvPr/>
        </p:nvSpPr>
        <p:spPr>
          <a:xfrm>
            <a:off x="6976872" y="5797296"/>
            <a:ext cx="42428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334155"/>
                </a:solidFill>
              </a:rPr>
              <a:t>Il JSON 05 resta minimale. Le eventuali strutture “ConnectionGroup” verranno derivate nel passo 06, senza reintrodurre le vecchie net nel formato canonico.</a:t>
            </a:r>
            <a:endParaRPr lang="en-US" sz="111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Prossimo passo: grafo visuale derivato da 04 + 05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Non cambiare il JSON canonico: costruire una vista grafica sopra di esso.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941832" y="171907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941832" y="181051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17739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geometria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267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image_path, bbox, terminal points, skeleton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776472" y="20665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</a:rPr>
              <a:t>+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80560" y="155448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645152" y="171907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645152" y="181051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49240" y="17739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topologia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267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components, graph, warnings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479792" y="20665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</a:rPr>
              <a:t>+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83880" y="155448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8348472" y="171907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8348472" y="181051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52560" y="17739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visual graph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2267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ConnectionGroup, full graph, overlay, HTML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14400" y="400507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143000" y="3931920"/>
            <a:ext cx="9829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Derivare `ConnectionGroup` calcolando connected components sul graph terminale-terminale del 05.</a:t>
            </a:r>
            <a:endParaRPr lang="en-US" sz="1310" dirty="0"/>
          </a:p>
        </p:txBody>
      </p:sp>
      <p:sp>
        <p:nvSpPr>
          <p:cNvPr id="28" name="Shape 26"/>
          <p:cNvSpPr/>
          <p:nvPr/>
        </p:nvSpPr>
        <p:spPr>
          <a:xfrm>
            <a:off x="914400" y="4398264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143000" y="4325112"/>
            <a:ext cx="9829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Usare le coordinate del 04 solo per overlay e dashboard, non per cambiare il JSON canonico.</a:t>
            </a:r>
            <a:endParaRPr lang="en-US" sz="1310" dirty="0"/>
          </a:p>
        </p:txBody>
      </p:sp>
      <p:sp>
        <p:nvSpPr>
          <p:cNvPr id="30" name="Shape 28"/>
          <p:cNvSpPr/>
          <p:nvPr/>
        </p:nvSpPr>
        <p:spPr>
          <a:xfrm>
            <a:off x="914400" y="4791456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1143000" y="4718304"/>
            <a:ext cx="9829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Produrre una pagina HTML batch con immagine, grafo, overlay e snippet JSON per ogni diagramma.</a:t>
            </a:r>
            <a:endParaRPr lang="en-US" sz="131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Verso 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01–05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Modello semplice per il grafo visuale 2.0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nuovo grafo non deve copiare il vecchio sistema a net: deve comprimere le clique in gruppi di connessione.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2834640"/>
          </a:xfrm>
          <a:prstGeom prst="roundRect">
            <a:avLst>
              <a:gd name="adj" fmla="val 161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23544" y="1554480"/>
            <a:ext cx="48737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05: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"A": ["B", "C"]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"B": ["A", "C"]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"C": ["A", "B"]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Derivato 06: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ConnectionGroup G1 = [A, B, C]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Nodi del visual graph: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 → Component → Terminal → ConnectionGroup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611112" y="1563624"/>
            <a:ext cx="4471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Vista full graph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611112" y="1892808"/>
            <a:ext cx="44714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Diagram, Component, Terminal, ConnectionGroup. Utile per controllo tecnico e debug strutturale.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46520" y="260604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611112" y="2752344"/>
            <a:ext cx="4471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Vista component-group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611112" y="3081528"/>
            <a:ext cx="44714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Ogni componente viene collegato ai gruppi che tocca. È la vista più leggibile per capire il circuito.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446520" y="379476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611112" y="3941064"/>
            <a:ext cx="4471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Overlay HTML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611112" y="4270248"/>
            <a:ext cx="44714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Centro gruppo = media dei terminali membri. Si disegna terminale → gruppo sopra l’immagine originale.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7342632" y="4873752"/>
            <a:ext cx="3099816" cy="1453896"/>
          </a:xfrm>
          <a:prstGeom prst="roundRect">
            <a:avLst>
              <a:gd name="adj" fmla="val 4403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1" name="Image 0" descr="/mnt/data/16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134" y="4892040"/>
            <a:ext cx="2600813" cy="1417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60920" y="63733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Esempio base per test 06</a:t>
            </a:r>
            <a:endParaRPr lang="en-US" sz="8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1_skeleton_overlay.jpg"/>
          <p:cNvPicPr>
            <a:picLocks noChangeAspect="1"/>
          </p:cNvPicPr>
          <p:nvPr/>
        </p:nvPicPr>
        <p:blipFill>
          <a:blip r:embed="rId3"/>
          <a:srcRect l="7780" r="7780"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0B1020">
              <a:alpha val="7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7E8F9"/>
                </a:solidFill>
              </a:rPr>
              <a:t>Sintesi finale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Cosa abbiamo costruito finora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777240" y="2404872"/>
            <a:ext cx="100584" cy="10058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00584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</a:rPr>
              <a:t>01 riconosce e corregge i componenti.</a:t>
            </a:r>
            <a:endParaRPr lang="en-US" sz="1420" dirty="0"/>
          </a:p>
        </p:txBody>
      </p:sp>
      <p:sp>
        <p:nvSpPr>
          <p:cNvPr id="8" name="Shape 5"/>
          <p:cNvSpPr/>
          <p:nvPr/>
        </p:nvSpPr>
        <p:spPr>
          <a:xfrm>
            <a:off x="777240" y="2816352"/>
            <a:ext cx="100584" cy="10058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</a:rPr>
              <a:t>02 dà nomi stabili alle istanze.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777240" y="3227832"/>
            <a:ext cx="100584" cy="10058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00584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</a:rPr>
              <a:t>03 trova terminali e semantica.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777240" y="3639312"/>
            <a:ext cx="100584" cy="10058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00584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</a:rPr>
              <a:t>04 isola i wire come skeleton.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777240" y="4050792"/>
            <a:ext cx="100584" cy="10058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00584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</a:rPr>
              <a:t>05 produce il JSON topologico minimale.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777240" y="4937760"/>
            <a:ext cx="5166360" cy="868680"/>
          </a:xfrm>
          <a:prstGeom prst="roundRect">
            <a:avLst>
              <a:gd name="adj" fmla="val 12632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024128" y="5157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5F3FC"/>
                </a:solidFill>
              </a:rPr>
              <a:t>Messaggio chiave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24128" y="54132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Il JSON finale è il ponte tra visione artificiale e ragionamento AI: non è solo detection, ma una topologia interrogabile.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34B1ABB2FD6E42B35F86D0A560EDF7" ma:contentTypeVersion="9" ma:contentTypeDescription="Create a new document." ma:contentTypeScope="" ma:versionID="3cfadc7b88e39a29fd7b22ab1819fb3a">
  <xsd:schema xmlns:xsd="http://www.w3.org/2001/XMLSchema" xmlns:xs="http://www.w3.org/2001/XMLSchema" xmlns:p="http://schemas.microsoft.com/office/2006/metadata/properties" xmlns:ns3="4b64ee43-c309-4a11-a8e8-00d42015a2cd" targetNamespace="http://schemas.microsoft.com/office/2006/metadata/properties" ma:root="true" ma:fieldsID="b0c00d69d8b3c6ce7e43758c32686041" ns3:_="">
    <xsd:import namespace="4b64ee43-c309-4a11-a8e8-00d42015a2c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64ee43-c309-4a11-a8e8-00d42015a2c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b64ee43-c309-4a11-a8e8-00d42015a2c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D8C716-7C6B-40CE-92E4-2D83C09E9A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64ee43-c309-4a11-a8e8-00d42015a2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B2CC27-3E32-47AF-AABF-86AD97E17D4A}">
  <ds:schemaRefs>
    <ds:schemaRef ds:uri="http://purl.org/dc/dcmitype/"/>
    <ds:schemaRef ds:uri="http://schemas.openxmlformats.org/package/2006/metadata/core-properties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4b64ee43-c309-4a11-a8e8-00d42015a2cd"/>
  </ds:schemaRefs>
</ds:datastoreItem>
</file>

<file path=customXml/itemProps3.xml><?xml version="1.0" encoding="utf-8"?>
<ds:datastoreItem xmlns:ds="http://schemas.openxmlformats.org/officeDocument/2006/customXml" ds:itemID="{512CCA92-3FFA-4B18-8825-6002805AEE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4104</Words>
  <Application>Microsoft Office PowerPoint</Application>
  <PresentationFormat>Widescreen</PresentationFormat>
  <Paragraphs>556</Paragraphs>
  <Slides>28</Slides>
  <Notes>28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2.0 — Detection, terminali, wire e grafo topologico</dc:title>
  <dc:subject>Pipeline 01-05 per diagrammi elettrici</dc:subject>
  <dc:creator>OpenAI</dc:creator>
  <cp:lastModifiedBy>Marco Profilo</cp:lastModifiedBy>
  <cp:revision>4</cp:revision>
  <dcterms:created xsi:type="dcterms:W3CDTF">2026-04-27T07:06:55Z</dcterms:created>
  <dcterms:modified xsi:type="dcterms:W3CDTF">2026-05-07T12:26:04Z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0x0101008534B1ABB2FD6E42B35F86D0A560EDF7</vt:lpwstr>
  </property>
</Properties>
</file>