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71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 leggere davvero il JSON del circuito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Guida estesa: dallo schema elettrico ai terminali, alle nets, fino alla ricostruzione dei rami solo dal file.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07008"/>
            <a:ext cx="4754880" cy="5074920"/>
          </a:xfrm>
          <a:prstGeom prst="roundRect">
            <a:avLst>
              <a:gd name="adj" fmla="val 1154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user-hXf7ifzcEWorOpfKXGciWL4d/fc62338a54494a688493c7b64c37d693/mnt/data/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95044"/>
            <a:ext cx="4407408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50992" y="1207008"/>
            <a:ext cx="5852160" cy="182880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870448" y="1417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77200"/>
                </a:solidFill>
              </a:rPr>
              <a:t>Obiettivo della guida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833872" y="1737360"/>
            <a:ext cx="5349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capire come il file descrive il circuito senza guardare sempre l’immagine;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sapere in che ordine leggere componenti, terminali e nets;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riuscire a ricostruire i rami del circuito partendo solo dal testo o dal JSON.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650992" y="3273552"/>
            <a:ext cx="5852160" cy="1920240"/>
          </a:xfrm>
          <a:prstGeom prst="roundRect">
            <a:avLst>
              <a:gd name="adj" fmla="val 2857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870448" y="3493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559D5"/>
                </a:solidFill>
              </a:rPr>
              <a:t>L’idea chiave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870448" y="376732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20" dirty="0">
                <a:solidFill>
                  <a:srgbClr val="1F2937"/>
                </a:solidFill>
              </a:rPr>
              <a:t>Il file non ragiona in termini di “disegno”, ma in termini di topologia. Per questo conviene pensarlo in quattro livelli:</a:t>
            </a:r>
            <a:endParaRPr lang="en-US" sz="1520" dirty="0"/>
          </a:p>
        </p:txBody>
      </p:sp>
      <p:sp>
        <p:nvSpPr>
          <p:cNvPr id="13" name="Shape 10"/>
          <p:cNvSpPr/>
          <p:nvPr/>
        </p:nvSpPr>
        <p:spPr>
          <a:xfrm>
            <a:off x="5897880" y="434340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943600" y="455371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1. componente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251192" y="434340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2F7D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296912" y="455371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2. terminale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04504" y="434340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650224" y="455371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3. net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957816" y="434340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FFFDF7"/>
          </a:solidFill>
          <a:ln w="12700">
            <a:solidFill>
              <a:srgbClr val="2F7D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10003536" y="455371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4. relazione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50992" y="5449824"/>
            <a:ext cx="5852160" cy="658368"/>
          </a:xfrm>
          <a:prstGeom prst="roundRect">
            <a:avLst>
              <a:gd name="adj" fmla="val 8333"/>
            </a:avLst>
          </a:prstGeom>
          <a:solidFill>
            <a:srgbClr val="F1ECDE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870448" y="566928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40" dirty="0">
                <a:solidFill>
                  <a:srgbClr val="1F2937"/>
                </a:solidFill>
              </a:rPr>
              <a:t>In questa presentazione useremo sempre lo stesso esempio e mostreremo, per ogni passaggio, quale parte del file corrisponde a quale parte del circuito.</a:t>
            </a:r>
            <a:endParaRPr lang="en-US" sz="1340" dirty="0"/>
          </a:p>
        </p:txBody>
      </p:sp>
      <p:sp>
        <p:nvSpPr>
          <p:cNvPr id="23" name="Text 20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4 viste dello stesso circuito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Prima di leggere il JSON conviene capire che i file della pipeline sono soltanto rappresentazioni diverse dello stesso oggetto.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76656" y="1280160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41248" y="14904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937"/>
                </a:solidFill>
              </a:rPr>
              <a:t>A. Schema originale</a:t>
            </a:r>
            <a:endParaRPr lang="en-US" sz="1650" dirty="0"/>
          </a:p>
        </p:txBody>
      </p:sp>
      <p:pic>
        <p:nvPicPr>
          <p:cNvPr id="7" name="Image 0" descr="/mnt/data/user-hXf7ifzcEWorOpfKXGciWL4d/fc62338a54494a688493c7b64c37d693/mnt/data/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361" y="1655064"/>
            <a:ext cx="1651527" cy="165152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280160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519672" y="14904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937"/>
                </a:solidFill>
              </a:rPr>
              <a:t>B. Punti di contatto stimati</a:t>
            </a:r>
            <a:endParaRPr lang="en-US" sz="1650" dirty="0"/>
          </a:p>
        </p:txBody>
      </p:sp>
      <p:pic>
        <p:nvPicPr>
          <p:cNvPr id="10" name="Image 1" descr="/mnt/data/user-hXf7ifzcEWorOpfKXGciWL4d/fc62338a54494a688493c7b64c37d693/mnt/data/1_terminal_keep_deb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1691640"/>
            <a:ext cx="1707340" cy="17073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6656" y="3675888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841248" y="38770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937"/>
                </a:solidFill>
              </a:rPr>
              <a:t>C. Mappa astratta delle nets</a:t>
            </a:r>
            <a:endParaRPr lang="en-US" sz="1650" dirty="0"/>
          </a:p>
        </p:txBody>
      </p:sp>
      <p:pic>
        <p:nvPicPr>
          <p:cNvPr id="13" name="Image 2" descr="/mnt/data/user-hXf7ifzcEWorOpfKXGciWL4d/fc62338a54494a688493c7b64c37d693/mnt/data/1_net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408" y="4073652"/>
            <a:ext cx="1700094" cy="17000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" y="55321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20" dirty="0"/>
          </a:p>
        </p:txBody>
      </p:sp>
      <p:sp>
        <p:nvSpPr>
          <p:cNvPr id="15" name="Shape 10"/>
          <p:cNvSpPr/>
          <p:nvPr/>
        </p:nvSpPr>
        <p:spPr>
          <a:xfrm>
            <a:off x="6355080" y="3675888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1"/>
          <p:cNvSpPr/>
          <p:nvPr/>
        </p:nvSpPr>
        <p:spPr>
          <a:xfrm>
            <a:off x="6519672" y="38770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937"/>
                </a:solidFill>
              </a:rPr>
              <a:t>D. Lettura logica nel file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601968" y="415137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3559D5"/>
                </a:solidFill>
              </a:rPr>
              <a:t>Vista per terminale</a:t>
            </a:r>
            <a:endParaRPr lang="en-US" sz="1240" dirty="0"/>
          </a:p>
        </p:txBody>
      </p:sp>
      <p:sp>
        <p:nvSpPr>
          <p:cNvPr id="18" name="Text 13"/>
          <p:cNvSpPr/>
          <p:nvPr/>
        </p:nvSpPr>
        <p:spPr>
          <a:xfrm>
            <a:off x="8997696" y="415137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F7D4A"/>
                </a:solidFill>
              </a:rPr>
              <a:t>Vista per net</a:t>
            </a:r>
            <a:endParaRPr lang="en-US" sz="1240" dirty="0"/>
          </a:p>
        </p:txBody>
      </p:sp>
      <p:sp>
        <p:nvSpPr>
          <p:cNvPr id="19" name="Shape 14"/>
          <p:cNvSpPr/>
          <p:nvPr/>
        </p:nvSpPr>
        <p:spPr>
          <a:xfrm>
            <a:off x="6547104" y="4315968"/>
            <a:ext cx="2148840" cy="1078992"/>
          </a:xfrm>
          <a:prstGeom prst="roundRect">
            <a:avLst>
              <a:gd name="adj" fmla="val 5085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6675120" y="4425696"/>
            <a:ext cx="1892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22.1:t1 -&gt; N1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22.1:t2 -&gt; N2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25.1:t1 -&gt; N2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25.1:t2 -&gt; N5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31.1:positive -&gt; N5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31.1:negative -&gt; N6</a:t>
            </a:r>
            <a:endParaRPr lang="en-US" sz="1210" dirty="0"/>
          </a:p>
        </p:txBody>
      </p:sp>
      <p:sp>
        <p:nvSpPr>
          <p:cNvPr id="21" name="Shape 16"/>
          <p:cNvSpPr/>
          <p:nvPr/>
        </p:nvSpPr>
        <p:spPr>
          <a:xfrm>
            <a:off x="8887968" y="4315968"/>
            <a:ext cx="2404872" cy="1051560"/>
          </a:xfrm>
          <a:prstGeom prst="roundRect">
            <a:avLst>
              <a:gd name="adj" fmla="val 5085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/>
          <p:nvPr/>
        </p:nvSpPr>
        <p:spPr>
          <a:xfrm>
            <a:off x="9015984" y="4425696"/>
            <a:ext cx="23225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 = {A, r_ON lato sinistro,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I_A lato alto, C_A lato alto}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N4 = {nodo C, C_AC interno,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C_BC interno, terminale V_C sup.}</a:t>
            </a:r>
            <a:endParaRPr lang="en-US" sz="1060" dirty="0"/>
          </a:p>
        </p:txBody>
      </p:sp>
      <p:sp>
        <p:nvSpPr>
          <p:cNvPr id="23" name="Text 18"/>
          <p:cNvSpPr/>
          <p:nvPr/>
        </p:nvSpPr>
        <p:spPr>
          <a:xfrm>
            <a:off x="6519672" y="55595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60" dirty="0">
                <a:solidFill>
                  <a:srgbClr val="616B78"/>
                </a:solidFill>
              </a:rPr>
              <a:t>Sono i due modi fondamentali per ricostruire lo schema solo dal file.</a:t>
            </a:r>
            <a:endParaRPr lang="en-US" sz="1160" dirty="0"/>
          </a:p>
        </p:txBody>
      </p:sp>
      <p:sp>
        <p:nvSpPr>
          <p:cNvPr id="24" name="Text 19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Prima lettura: riconoscere i blocchi funzionali nello schema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Prima ancora del JSON conviene separare visivamente il circuito in rami e sottoblocchi.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4617720" cy="5212080"/>
          </a:xfrm>
          <a:prstGeom prst="roundRect">
            <a:avLst>
              <a:gd name="adj" fmla="val 1188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user-hXf7ifzcEWorOpfKXGciWL4d/fc62338a54494a688493c7b64c37d693/mnt/data/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425196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234440"/>
            <a:ext cx="6035040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705856" y="1325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F7D4A"/>
                </a:solidFill>
              </a:rPr>
              <a:t>Scomposizione utile del circuito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687568" y="1719072"/>
            <a:ext cx="58155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ramo superiore: current source I_OFF e resistore r_OFF tra i due lati del circuito;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ramo centrale: A → r_ON → switch → sorgente V_OS → B;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parte inferiore: condensatori C_A, C_AB, C_AC, C_BC, C_B e nodo interno 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0" y="2697480"/>
            <a:ext cx="6035040" cy="1143000"/>
          </a:xfrm>
          <a:prstGeom prst="roundRect">
            <a:avLst>
              <a:gd name="adj" fmla="val 4800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705856" y="28803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937"/>
                </a:solidFill>
              </a:rPr>
              <a:t>Ramo centrale</a:t>
            </a:r>
            <a:endParaRPr lang="en-US" sz="1650" dirty="0"/>
          </a:p>
        </p:txBody>
      </p:sp>
      <p:pic>
        <p:nvPicPr>
          <p:cNvPr id="12" name="Image 1" descr="/mnt/data/guide_work/orig_ce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967" y="2775204"/>
            <a:ext cx="2498110" cy="10248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05855" y="3145536"/>
            <a:ext cx="3020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616B78"/>
                </a:solidFill>
              </a:rPr>
              <a:t>È la catena più semplice da ricostruire anche dal file, perché alterna chiaramente componenti in serie e nets locali.</a:t>
            </a:r>
            <a:endParaRPr lang="en-US" sz="1230" dirty="0"/>
          </a:p>
        </p:txBody>
      </p:sp>
      <p:sp>
        <p:nvSpPr>
          <p:cNvPr id="14" name="Shape 10"/>
          <p:cNvSpPr/>
          <p:nvPr/>
        </p:nvSpPr>
        <p:spPr>
          <a:xfrm>
            <a:off x="5486400" y="4005072"/>
            <a:ext cx="2880360" cy="2441448"/>
          </a:xfrm>
          <a:prstGeom prst="roundRect">
            <a:avLst>
              <a:gd name="adj" fmla="val 3488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5705856" y="4187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937"/>
                </a:solidFill>
              </a:rPr>
              <a:t>Rete inferiore</a:t>
            </a:r>
            <a:endParaRPr lang="en-US" sz="1650" dirty="0"/>
          </a:p>
        </p:txBody>
      </p:sp>
      <p:pic>
        <p:nvPicPr>
          <p:cNvPr id="16" name="Image 2" descr="/mnt/data/guide_work/orig_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428" y="4441350"/>
            <a:ext cx="1964424" cy="13750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87568" y="5981039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B78"/>
                </a:solidFill>
              </a:rPr>
              <a:t>Qui compare il nodo C, che nel file diventa una net distinta dalle due barre laterali.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641080" y="4005071"/>
            <a:ext cx="2880360" cy="2441447"/>
          </a:xfrm>
          <a:prstGeom prst="roundRect">
            <a:avLst>
              <a:gd name="adj" fmla="val 3488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8860536" y="41879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937"/>
                </a:solidFill>
              </a:rPr>
              <a:t>Rami laterali</a:t>
            </a:r>
            <a:endParaRPr lang="en-US" sz="1650" dirty="0"/>
          </a:p>
        </p:txBody>
      </p:sp>
      <p:pic>
        <p:nvPicPr>
          <p:cNvPr id="20" name="Image 3" descr="/mnt/data/guide_work/orig_le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4386861"/>
            <a:ext cx="671334" cy="1521689"/>
          </a:xfrm>
          <a:prstGeom prst="rect">
            <a:avLst/>
          </a:prstGeom>
        </p:spPr>
      </p:pic>
      <p:pic>
        <p:nvPicPr>
          <p:cNvPr id="21" name="Image 4" descr="/mnt/data/guide_work/orig_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9986" y="4386862"/>
            <a:ext cx="680285" cy="15216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854888" y="5900641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B78"/>
                </a:solidFill>
              </a:rPr>
              <a:t>I_A e I_B sono rami in derivazione verso il ritorno inferiore.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Punti di contatto: il livello geometrico prima delle nets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Qui la pipeline non sta ancora “capendo” il circuito: sta solo localizzando i punti dove i simboli toccano le linee.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6309360" cy="5212080"/>
          </a:xfrm>
          <a:prstGeom prst="roundRect">
            <a:avLst>
              <a:gd name="adj" fmla="val 105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user-hXf7ifzcEWorOpfKXGciWL4d/fc62338a54494a688493c7b64c37d693/mnt/data/1_terminal_keep_deb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68" y="1417320"/>
            <a:ext cx="470916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05472" y="1234440"/>
            <a:ext cx="4279392" cy="1874520"/>
          </a:xfrm>
          <a:prstGeom prst="roundRect">
            <a:avLst>
              <a:gd name="adj" fmla="val 2927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7406640" y="1344686"/>
            <a:ext cx="39360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F7D4A"/>
                </a:solidFill>
              </a:rPr>
              <a:t>Che cosa rappresentano i punti verdi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406640" y="1719072"/>
            <a:ext cx="3840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ogni punto verde è un contatto geometrico stimato;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due punti su uno stesso simbolo non significano ancora, da soli, una stessa net;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questa fase serve soltanto a dire dove i terminali potranno nascere.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205472" y="3346704"/>
            <a:ext cx="4279392" cy="1325880"/>
          </a:xfrm>
          <a:prstGeom prst="roundRect">
            <a:avLst>
              <a:gd name="adj" fmla="val 4138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424928" y="3450739"/>
            <a:ext cx="3867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59D5"/>
                </a:solidFill>
              </a:rPr>
              <a:t>Da punti a terminali nominati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06640" y="3664502"/>
            <a:ext cx="3886200" cy="916124"/>
          </a:xfrm>
          <a:prstGeom prst="roundRect">
            <a:avLst>
              <a:gd name="adj" fmla="val 7692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534656" y="387705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resistore      -&gt; t1, t2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source -&gt; current_from, current_to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voltage source -&gt; positive, negative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cap. polariz.  -&gt; positive, negative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05472" y="4892040"/>
            <a:ext cx="4279392" cy="960120"/>
          </a:xfrm>
          <a:prstGeom prst="roundRect">
            <a:avLst>
              <a:gd name="adj" fmla="val 5714"/>
            </a:avLst>
          </a:prstGeom>
          <a:solidFill>
            <a:srgbClr val="F1ECDE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7443216" y="5202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1F2937"/>
                </a:solidFill>
              </a:rPr>
              <a:t>Quindi l’ordine corretto è: contatto geometrico → terminale nominato → assegnazione alla net.</a:t>
            </a:r>
            <a:endParaRPr lang="en-US" sz="1330" dirty="0"/>
          </a:p>
        </p:txBody>
      </p:sp>
      <p:sp>
        <p:nvSpPr>
          <p:cNvPr id="16" name="Text 13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Le nets: unire i punti che stanno sullo stesso nodo elettrico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Una net non è un simbolo: è l’insieme di tutti i terminali che condividono continuità elettrica.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5349240" cy="5230368"/>
          </a:xfrm>
          <a:prstGeom prst="roundRect">
            <a:avLst>
              <a:gd name="adj" fmla="val 1049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F2937"/>
                </a:solidFill>
              </a:rPr>
              <a:t>Schema originale</a:t>
            </a:r>
            <a:endParaRPr lang="en-US" sz="1620" dirty="0"/>
          </a:p>
        </p:txBody>
      </p:sp>
      <p:pic>
        <p:nvPicPr>
          <p:cNvPr id="7" name="Image 0" descr="/mnt/data/user-hXf7ifzcEWorOpfKXGciWL4d/fc62338a54494a688493c7b64c37d693/mnt/data/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1737360"/>
            <a:ext cx="4069080" cy="406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8704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616B78"/>
                </a:solidFill>
              </a:rPr>
              <a:t>Se guardi lo schema, N1 può sembrare distribuita in più punti. Nel file, invece, è un solo nodo logico.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327648" y="1234440"/>
            <a:ext cx="5166360" cy="5230368"/>
          </a:xfrm>
          <a:prstGeom prst="roundRect">
            <a:avLst>
              <a:gd name="adj" fmla="val 1062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547104" y="144475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F2937"/>
                </a:solidFill>
              </a:rPr>
              <a:t>Mappa delle nets</a:t>
            </a:r>
            <a:endParaRPr lang="en-US" sz="1620" dirty="0"/>
          </a:p>
        </p:txBody>
      </p:sp>
      <p:pic>
        <p:nvPicPr>
          <p:cNvPr id="11" name="Image 1" descr="/mnt/data/user-hXf7ifzcEWorOpfKXGciWL4d/fc62338a54494a688493c7b64c37d693/mnt/data/1_net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1700784"/>
            <a:ext cx="3886200" cy="388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11696" y="5623559"/>
            <a:ext cx="4480560" cy="662939"/>
          </a:xfrm>
          <a:prstGeom prst="roundRect">
            <a:avLst>
              <a:gd name="adj" fmla="val 6316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894576" y="580592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</a:rPr>
              <a:t>Leggila così: ogni etichetta Nk è un unico nodo elettrico, anche se compare in punti lontani del disegno.</a:t>
            </a:r>
            <a:endParaRPr lang="en-US" sz="1220" dirty="0"/>
          </a:p>
        </p:txBody>
      </p:sp>
      <p:sp>
        <p:nvSpPr>
          <p:cNvPr id="14" name="Text 10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Come si leggono i nomi dei terminali nel file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Il nome del terminale dipende dal tipo di componente. Questa convenzione conserva anche orientazione e polarità.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4846320" cy="5230368"/>
          </a:xfrm>
          <a:prstGeom prst="roundRect">
            <a:avLst>
              <a:gd name="adj" fmla="val 1132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B77200"/>
                </a:solidFill>
              </a:rPr>
              <a:t>Regola generale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77824" y="1783080"/>
            <a:ext cx="4389120" cy="493776"/>
          </a:xfrm>
          <a:prstGeom prst="roundRect">
            <a:avLst>
              <a:gd name="adj" fmla="val 11111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instance_id : nome_terminale  -&gt;  net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877824" y="25786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59D5"/>
                </a:solidFill>
              </a:rPr>
              <a:t>Esempi tipici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77824" y="2834640"/>
            <a:ext cx="4407408" cy="2395728"/>
          </a:xfrm>
          <a:prstGeom prst="roundRect">
            <a:avLst>
              <a:gd name="adj" fmla="val 2290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005840" y="2944368"/>
            <a:ext cx="415137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22.1:t1         -&gt; terminale sinistro di un resistore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22.1:t2         -&gt; terminale destro di un resistore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25.1:t1         -&gt; primo terminale dello switch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31.1:positive   -&gt; polo positivo di V_OS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31.1:negative   -&gt; polo negativo di V_OS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6.1:current_from-&gt; lato di partenza della corrente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6.1:current_to  -&gt; lato di arrivo della corrente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715000" y="1234440"/>
            <a:ext cx="5760720" cy="2011680"/>
          </a:xfrm>
          <a:prstGeom prst="roundRect">
            <a:avLst>
              <a:gd name="adj" fmla="val 2727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925311" y="1444752"/>
            <a:ext cx="39950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F7D4A"/>
                </a:solidFill>
              </a:rPr>
              <a:t>Perché questi nomi sono utili?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897880" y="1737360"/>
            <a:ext cx="5303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t1/t2 basta per simboli senza polarità propria, come il resistore;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positive/negative conserva il verso della sorgente o del condensatore polarizzato;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current_from/current_to conserva il verso della freccia della current source.</a:t>
            </a:r>
            <a:endParaRPr lang="en-US" sz="1460" dirty="0"/>
          </a:p>
        </p:txBody>
      </p:sp>
      <p:sp>
        <p:nvSpPr>
          <p:cNvPr id="15" name="Shape 13"/>
          <p:cNvSpPr/>
          <p:nvPr/>
        </p:nvSpPr>
        <p:spPr>
          <a:xfrm>
            <a:off x="5715000" y="3493008"/>
            <a:ext cx="5760720" cy="2971800"/>
          </a:xfrm>
          <a:prstGeom prst="roundRect">
            <a:avLst>
              <a:gd name="adj" fmla="val 1846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925312" y="37033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Micro-esempio sul ramo centrale</a:t>
            </a:r>
            <a:endParaRPr lang="en-US" sz="1700" dirty="0"/>
          </a:p>
        </p:txBody>
      </p:sp>
      <p:pic>
        <p:nvPicPr>
          <p:cNvPr id="17" name="Image 0" descr="/mnt/data/guide_work/keep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4453011"/>
            <a:ext cx="2697480" cy="110665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796528" y="4005072"/>
            <a:ext cx="2240280" cy="1389888"/>
          </a:xfrm>
          <a:prstGeom prst="roundRect">
            <a:avLst>
              <a:gd name="adj" fmla="val 3947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8924544" y="4114800"/>
            <a:ext cx="1984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22.1:t1 -&gt; N1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22.1:t2 -&gt; N2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25.1:t1 -&gt; N2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25.1:t2 -&gt; N5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31.1:positive -&gt; N5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31.1:negative -&gt; N6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8796528" y="5623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16B78"/>
                </a:solidFill>
              </a:rPr>
              <a:t>Leggendo solo queste righe capisci già che resistore, switch e V_OS sono disposti in sequenza tra il lato sinistro e quello destro.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Esempio guidato: ricostruire il ramo A → 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Il metodo corretto è alternare sempre terminale → net → terminale.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10972800" cy="1234440"/>
          </a:xfrm>
          <a:prstGeom prst="roundRect">
            <a:avLst>
              <a:gd name="adj" fmla="val 4444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96112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FBF3DD"/>
          </a:solidFill>
          <a:ln w="12700">
            <a:solidFill>
              <a:srgbClr val="B77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41832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26.1:t1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10512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66544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EAF0FF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112264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N1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80944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6976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FBF3DD"/>
          </a:solidFill>
          <a:ln w="12700">
            <a:solidFill>
              <a:srgbClr val="B77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82696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22.1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r_ON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51376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07408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EAF0FF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53128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N2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21808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77840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FBF3DD"/>
          </a:solidFill>
          <a:ln w="12700">
            <a:solidFill>
              <a:srgbClr val="B77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623560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25.1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switch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48272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EAF0FF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93992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N5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62672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18704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FBF3DD"/>
          </a:solidFill>
          <a:ln w="12700">
            <a:solidFill>
              <a:srgbClr val="B77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964424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31.1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V_OS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33104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89136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EAF0FF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134856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N6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03536" y="18105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6B7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259568" y="1627632"/>
            <a:ext cx="877824" cy="566928"/>
          </a:xfrm>
          <a:prstGeom prst="roundRect">
            <a:avLst>
              <a:gd name="adj" fmla="val 9677"/>
            </a:avLst>
          </a:prstGeom>
          <a:solidFill>
            <a:srgbClr val="FBF3DD"/>
          </a:solidFill>
          <a:ln w="12700">
            <a:solidFill>
              <a:srgbClr val="B77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0305288" y="17647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26.3:t1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" y="2788920"/>
            <a:ext cx="5440680" cy="3657600"/>
          </a:xfrm>
          <a:prstGeom prst="roundRect">
            <a:avLst>
              <a:gd name="adj" fmla="val 1500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877824" y="2999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Ramo evidenziato sullo schema</a:t>
            </a:r>
            <a:endParaRPr lang="en-US" sz="1700" dirty="0"/>
          </a:p>
        </p:txBody>
      </p:sp>
      <p:pic>
        <p:nvPicPr>
          <p:cNvPr id="34" name="Image 0" descr="/mnt/data/guide_work/orig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12238"/>
            <a:ext cx="4937760" cy="202574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6355080" y="2788920"/>
            <a:ext cx="5276088" cy="3657600"/>
          </a:xfrm>
          <a:prstGeom prst="roundRect">
            <a:avLst>
              <a:gd name="adj" fmla="val 1500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6565392" y="29992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Traduzione in linguaggio naturale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6547104" y="3291840"/>
            <a:ext cx="46634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il terminale esterno A appartiene alla net N1;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N1 entra nel resistore r_ON;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l’uscita del resistore genera la net N2;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N2 entra nello switch e ne esce come N5;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N5 arriva al polo positivo di V_OS;</a:t>
            </a:r>
            <a:endParaRPr lang="en-US" sz="1460" dirty="0"/>
          </a:p>
          <a:p>
            <a:pPr marL="152400" indent="-1524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il polo negativo di V_OS è su N6, che coincide col lato B.</a:t>
            </a:r>
            <a:endParaRPr lang="en-US" sz="1460" dirty="0"/>
          </a:p>
        </p:txBody>
      </p:sp>
      <p:sp>
        <p:nvSpPr>
          <p:cNvPr id="38" name="Text 35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6) Esempio guidato: la rete capacitiva inferiore e il nodo 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Questa parte mostra molto bene la differenza fra “linea disegnata” e “nodo condiviso” nel file.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5532120" cy="5230368"/>
          </a:xfrm>
          <a:prstGeom prst="roundRect">
            <a:avLst>
              <a:gd name="adj" fmla="val 1049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Vista circuitale</a:t>
            </a:r>
            <a:endParaRPr lang="en-US" sz="1700" dirty="0"/>
          </a:p>
        </p:txBody>
      </p:sp>
      <p:pic>
        <p:nvPicPr>
          <p:cNvPr id="7" name="Image 0" descr="/mnt/data/guide_work/orig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28850"/>
            <a:ext cx="5074920" cy="35524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19088" y="1234440"/>
            <a:ext cx="5074920" cy="2057400"/>
          </a:xfrm>
          <a:prstGeom prst="roundRect">
            <a:avLst>
              <a:gd name="adj" fmla="val 2667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638544" y="1444752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F7D4A"/>
                </a:solidFill>
              </a:rPr>
              <a:t>Lettura corretta della parte inferiore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601968" y="1719072"/>
            <a:ext cx="45720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F2937"/>
                </a:solidFill>
              </a:rPr>
              <a:t>C_A collega il lato sinistro al ritorno inferiore;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F2937"/>
                </a:solidFill>
              </a:rPr>
              <a:t>C_B collega il lato destro al ritorno inferiore;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F2937"/>
                </a:solidFill>
              </a:rPr>
              <a:t>C_AC collega il lato sinistro al nodo interno C;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F2937"/>
                </a:solidFill>
              </a:rPr>
              <a:t>C_BC collega il nodo C al lato destro;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1F2937"/>
                </a:solidFill>
              </a:rPr>
              <a:t>C_AB mette in parallelo i due lati sopra il nodo C.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419088" y="3611880"/>
            <a:ext cx="5074920" cy="2852928"/>
          </a:xfrm>
          <a:prstGeom prst="roundRect">
            <a:avLst>
              <a:gd name="adj" fmla="val 192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638544" y="382219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59D5"/>
                </a:solidFill>
              </a:rPr>
              <a:t>Perché N4 è importante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601968" y="4087368"/>
            <a:ext cx="2560320" cy="1755648"/>
          </a:xfrm>
          <a:prstGeom prst="roundRect">
            <a:avLst>
              <a:gd name="adj" fmla="val 3125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729984" y="4197096"/>
            <a:ext cx="23042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N4 = nodo C interno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 N4 arrivano terminali di componenti diversi: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lato interno di C_AC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lato interno di C_BC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terminale superiore di V_C</a:t>
            </a:r>
            <a:endParaRPr lang="en-US" sz="1160" dirty="0"/>
          </a:p>
        </p:txBody>
      </p:sp>
      <p:pic>
        <p:nvPicPr>
          <p:cNvPr id="15" name="Image 1" descr="/mnt/data/guide_work/net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4503331"/>
            <a:ext cx="1965960" cy="100601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32520" y="6053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616B78"/>
                </a:solidFill>
              </a:rPr>
              <a:t>La mappa delle nets rende evidente che N4 non è massa e non coincide con il lato destro: è un nodo autonomo.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7) Due modi complementari di leggere il file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La lettura component-centric e quella net-centric servono a rispondere a due domande diverse.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5440680" cy="5230368"/>
          </a:xfrm>
          <a:prstGeom prst="roundRect">
            <a:avLst>
              <a:gd name="adj" fmla="val 1049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77824" y="1376172"/>
            <a:ext cx="39098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B77200"/>
                </a:solidFill>
              </a:rPr>
              <a:t>A. Lettura component-centric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77824" y="1737360"/>
            <a:ext cx="469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Domanda tipica: “questo componente tra quali nets sta?”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" y="2057400"/>
            <a:ext cx="4160520" cy="2331720"/>
          </a:xfrm>
          <a:prstGeom prst="roundRect">
            <a:avLst>
              <a:gd name="adj" fmla="val 2353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005840" y="2167128"/>
            <a:ext cx="390448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C_AC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positive -&gt; N1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negative -&gt; N4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C_BC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positive -&gt; N4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negative -&gt; N6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V_OS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positive -&gt; N5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negative -&gt; N6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877824" y="466344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16B78"/>
                </a:solidFill>
              </a:rPr>
              <a:t>Questa vista è perfetta quando vuoi capire il ruolo di un singolo simbolo.</a:t>
            </a:r>
            <a:endParaRPr lang="en-US" sz="1250" dirty="0"/>
          </a:p>
        </p:txBody>
      </p:sp>
      <p:pic>
        <p:nvPicPr>
          <p:cNvPr id="11" name="Image 0" descr="/mnt/data/guide_work/orig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03" y="4937760"/>
            <a:ext cx="1632857" cy="1143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355080" y="1234440"/>
            <a:ext cx="5138928" cy="5230368"/>
          </a:xfrm>
          <a:prstGeom prst="roundRect">
            <a:avLst>
              <a:gd name="adj" fmla="val 1068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565392" y="1366597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F7D4A"/>
                </a:solidFill>
              </a:rPr>
              <a:t>B. Lettura net-centric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565391" y="1737360"/>
            <a:ext cx="3924329" cy="132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Domanda tipica: “chi condivide questo nodo?”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65392" y="2057400"/>
            <a:ext cx="2990088" cy="2331720"/>
          </a:xfrm>
          <a:prstGeom prst="roundRect">
            <a:avLst>
              <a:gd name="adj" fmla="val 2222"/>
            </a:avLst>
          </a:prstGeom>
          <a:solidFill>
            <a:srgbClr val="EEE8DD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693408" y="2167128"/>
            <a:ext cx="299008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N4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{C_AC lato interno,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C_BC lato interno,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terminale superiore di V_C}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N6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{B, polo negativo di V_OS,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lato destro di C_AB,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lato destro di C_BC,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parte alta di C_B}</a:t>
            </a:r>
            <a:endParaRPr lang="en-US" sz="1180" dirty="0"/>
          </a:p>
        </p:txBody>
      </p:sp>
      <p:pic>
        <p:nvPicPr>
          <p:cNvPr id="17" name="Image 1" descr="/mnt/data/user-hXf7ifzcEWorOpfKXGciWL4d/fc62338a54494a688493c7b64c37d693/mnt/data/1_net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044952"/>
            <a:ext cx="1371600" cy="1371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96381" y="5102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616B78"/>
                </a:solidFill>
              </a:rPr>
              <a:t>Questa vista è perfetta quando vuoi ricostruire un nodo completo o seguire tutte le diramazioni di una stessa linea elettrica.</a:t>
            </a:r>
            <a:endParaRPr lang="en-US" sz="1240" dirty="0"/>
          </a:p>
        </p:txBody>
      </p:sp>
      <p:sp>
        <p:nvSpPr>
          <p:cNvPr id="19" name="Text 15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8) Ordine pratico: come leggere il file senza avere l’immagine davanti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Questa è la procedura consigliata se vuoi leggere il JSON in modo sistematico o passarne il contenuto a un LLM.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13232" y="1325880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59536" y="1490472"/>
            <a:ext cx="438912" cy="411480"/>
          </a:xfrm>
          <a:prstGeom prst="roundRect">
            <a:avLst>
              <a:gd name="adj" fmla="val 11111"/>
            </a:avLst>
          </a:prstGeom>
          <a:solidFill>
            <a:srgbClr val="3559D5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9536" y="159105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26464" y="1472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1. Parti dai terminali esterni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26464" y="1773936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dirty="0">
                <a:solidFill>
                  <a:srgbClr val="1F2937"/>
                </a:solidFill>
              </a:rPr>
              <a:t>A, B, V_C, alimentazioni e ground sono gli agganci più facili.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859536" y="3163824"/>
            <a:ext cx="438912" cy="411480"/>
          </a:xfrm>
          <a:prstGeom prst="roundRect">
            <a:avLst>
              <a:gd name="adj" fmla="val 11111"/>
            </a:avLst>
          </a:prstGeom>
          <a:solidFill>
            <a:srgbClr val="3559D5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59536" y="326440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26464" y="31455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2. Elenca le nets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26464" y="344728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dirty="0">
                <a:solidFill>
                  <a:srgbClr val="1F2937"/>
                </a:solidFill>
              </a:rPr>
              <a:t>Per ogni Nk chiediti se è un nodo locale, un bus o un ritorno.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713232" y="4672584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59536" y="4837176"/>
            <a:ext cx="438912" cy="411480"/>
          </a:xfrm>
          <a:prstGeom prst="roundRect">
            <a:avLst>
              <a:gd name="adj" fmla="val 11111"/>
            </a:avLst>
          </a:prstGeom>
          <a:solidFill>
            <a:srgbClr val="3559D5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59536" y="493776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26464" y="4818888"/>
            <a:ext cx="30161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3. Leggi i componenti in serie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26464" y="512064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dirty="0">
                <a:solidFill>
                  <a:srgbClr val="1F2937"/>
                </a:solidFill>
              </a:rPr>
              <a:t>Cerca catene del tipo terminale → net → componente → net → componente.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291072" y="1325880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437376" y="1490472"/>
            <a:ext cx="438912" cy="411480"/>
          </a:xfrm>
          <a:prstGeom prst="roundRect">
            <a:avLst>
              <a:gd name="adj" fmla="val 11111"/>
            </a:avLst>
          </a:prstGeom>
          <a:solidFill>
            <a:srgbClr val="3559D5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37376" y="159105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04304" y="1472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4. Poi i rami in derivazione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04304" y="1773936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dirty="0">
                <a:solidFill>
                  <a:srgbClr val="1F2937"/>
                </a:solidFill>
              </a:rPr>
              <a:t>Current source, condensatori verso massa, rami superiori paralleli.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291072" y="2999232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437376" y="3163824"/>
            <a:ext cx="438912" cy="411480"/>
          </a:xfrm>
          <a:prstGeom prst="roundRect">
            <a:avLst>
              <a:gd name="adj" fmla="val 11111"/>
            </a:avLst>
          </a:prstGeom>
          <a:solidFill>
            <a:srgbClr val="3559D5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37376" y="326440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04304" y="31455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5. Isola i nodi interni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04304" y="344728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dirty="0">
                <a:solidFill>
                  <a:srgbClr val="1F2937"/>
                </a:solidFill>
              </a:rPr>
              <a:t>Nodi come N4 spesso spiegano il comportamento della parte centrale.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6291072" y="4672584"/>
            <a:ext cx="5120640" cy="1298448"/>
          </a:xfrm>
          <a:prstGeom prst="roundRect">
            <a:avLst>
              <a:gd name="adj" fmla="val 4225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437376" y="4837176"/>
            <a:ext cx="438912" cy="411480"/>
          </a:xfrm>
          <a:prstGeom prst="roundRect">
            <a:avLst>
              <a:gd name="adj" fmla="val 11111"/>
            </a:avLst>
          </a:prstGeom>
          <a:solidFill>
            <a:srgbClr val="3559D5"/>
          </a:solidFill>
          <a:ln w="12700">
            <a:solidFill>
              <a:srgbClr val="3559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437376" y="493776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04304" y="4818888"/>
            <a:ext cx="308860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6. Solo alla fine fai il riassunto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04304" y="512064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20" dirty="0">
                <a:solidFill>
                  <a:srgbClr val="1F2937"/>
                </a:solidFill>
              </a:rPr>
              <a:t>Trasforma la topologia in linguaggio naturale: ramo principale, shunt, nodo interno, ritorni.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9) Errori comuni di lettura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Quasi tutti gli errori nascono dal confondere geometria del disegno e topologia elettrica del file.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3840480" cy="5230368"/>
          </a:xfrm>
          <a:prstGeom prst="roundRect">
            <a:avLst>
              <a:gd name="adj" fmla="val 1429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A54646"/>
                </a:solidFill>
              </a:rPr>
              <a:t>Da NON fare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9536" y="1737360"/>
            <a:ext cx="3291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pensare che una net sia solo un pezzetto di linea vicino a un’etichetta;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interpretare t1/t2 come sinistra/destra assolute per ogni simbolo;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dimenticare che positive/negative e current_from/current_to portano informazione di orientazione;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scambiare un nodo interno per una massa solo perché sta in basso nel disegno.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2743200" cy="5230368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956048" y="1444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3559D5"/>
                </a:solidFill>
              </a:rPr>
              <a:t>Promemoria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956048" y="192938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70" dirty="0">
                <a:solidFill>
                  <a:srgbClr val="1F2937"/>
                </a:solidFill>
              </a:rPr>
              <a:t>Resistori e interconnessioni si leggono soprattutto per nets. Sorgenti e condensatori polarizzati si leggono anche per orientazione del terminale.</a:t>
            </a:r>
            <a:endParaRPr lang="en-US" sz="1470" dirty="0"/>
          </a:p>
        </p:txBody>
      </p:sp>
      <p:pic>
        <p:nvPicPr>
          <p:cNvPr id="11" name="Image 0" descr="/mnt/data/guide_work/keep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193249"/>
            <a:ext cx="2286000" cy="93784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56048" y="4480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616B78"/>
                </a:solidFill>
              </a:rPr>
              <a:t>Qui, ad esempio, positive e negative di V_OS non sono intercambiabili.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726680" y="1234440"/>
            <a:ext cx="3767328" cy="5230368"/>
          </a:xfrm>
          <a:prstGeom prst="roundRect">
            <a:avLst>
              <a:gd name="adj" fmla="val 1456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1" descr="/mnt/data/user-hXf7ifzcEWorOpfKXGciWL4d/fc62338a54494a688493c7b64c37d693/mnt/data/1_net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066544"/>
            <a:ext cx="3456432" cy="34564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pratica alla lettura del file topologico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10) Riassunto finale: come trasformare il file in una descrizione del circuito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16B78"/>
                </a:solidFill>
              </a:rPr>
              <a:t>Se sai fare questi quattro passaggi, sai leggere praticamente tutto il JSON topologico.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D8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49808" y="1325880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32688" y="1581912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</a:rPr>
              <a:t>Componente  →  Terminale  →  Net  →  Percorso / relazione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04672" y="2487168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50976" y="2706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59D5"/>
                </a:solidFill>
              </a:rPr>
              <a:t>1. Riconosci i simboli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182112"/>
            <a:ext cx="19202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resistori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sorgenti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switch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capacitori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terminali esterni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47872" y="2487168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694176" y="2706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7D4A"/>
                </a:solidFill>
              </a:rPr>
              <a:t>2. Leggi i terminali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3182112"/>
            <a:ext cx="19202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t1/t2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positive/negative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current_from/current_to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1072" y="2487168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BF9F4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437376" y="2706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559D5"/>
                </a:solidFill>
              </a:rPr>
              <a:t>3. Raggruppa in nets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182112"/>
            <a:ext cx="19202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N1, N2, ...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chi condivide lo stesso nodo elettrico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34272" y="2487168"/>
            <a:ext cx="2487168" cy="233172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180576" y="27066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7D4A"/>
                </a:solidFill>
              </a:rPr>
              <a:t>4. Ricostruisci i rami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35440" y="3182112"/>
            <a:ext cx="19202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serie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shunt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nodi interni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ritorni a massa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5138928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ECDE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078992" y="544068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F2937"/>
                </a:solidFill>
              </a:rPr>
              <a:t>Quando avrai davanti graph.json, semantic_explanation.json o llm_context.md, l’ordine mentale resta sempre questo: prima la topologia, poi il significato.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29400" y="5138928"/>
            <a:ext cx="4773168" cy="1024128"/>
          </a:xfrm>
          <a:prstGeom prst="roundRect">
            <a:avLst>
              <a:gd name="adj" fmla="val 5357"/>
            </a:avLst>
          </a:prstGeom>
          <a:solidFill>
            <a:srgbClr val="FFFDF8"/>
          </a:solidFill>
          <a:ln w="12700">
            <a:solidFill>
              <a:srgbClr val="D8D2C7"/>
            </a:solidFill>
            <a:prstDash val="solid"/>
          </a:ln>
          <a:effectLst>
            <a:outerShdw blurRad="15240" dist="508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858000" y="5278503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77200"/>
                </a:solidFill>
              </a:rPr>
              <a:t>Risultato atteso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858000" y="56144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60" dirty="0">
                <a:solidFill>
                  <a:srgbClr val="1F2937"/>
                </a:solidFill>
              </a:rPr>
              <a:t>Anche senza figura, devi riuscire a dire: quali sono i nodi, quali componenti stanno fra quei nodi, e quali rami sono principali o in derivazione.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502920" y="658368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478"/>
                </a:solidFill>
              </a:rPr>
              <a:t>Guida dettagliata alla lettura del JSON topologico del circuito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1874</Words>
  <Application>Microsoft Office PowerPoint</Application>
  <PresentationFormat>Widescreen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Guida dettagliata: come leggere il JSON del circuito</dc:title>
  <dc:subject>Lettura dettagliata di schema, terminali, nets e file topologico</dc:subject>
  <dc:creator>OpenAI</dc:creator>
  <cp:lastModifiedBy>Marco Profilo</cp:lastModifiedBy>
  <cp:revision>2</cp:revision>
  <dcterms:created xsi:type="dcterms:W3CDTF">2026-04-15T09:37:47Z</dcterms:created>
  <dcterms:modified xsi:type="dcterms:W3CDTF">2026-04-15T09:50:14Z</dcterms:modified>
</cp:coreProperties>
</file>