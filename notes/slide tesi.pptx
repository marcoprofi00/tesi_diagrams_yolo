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8" r:id="rId8"/>
    <p:sldId id="269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Il benchmark diagnostico usa due batch indipendenti di otto circuiti ciascuno. Ogni circuito viene eseguito con otto modelli e due modalità di input, per un totale di 256 diagnosi. GPT-5.5 valuta ogni risposta sul contesto tecnico completo con sette criteri da zero a tre. Oltre allo score su 21 vengono salvati Top-1, Top-3, errori, allucinazioni, token, latenza e costo. Il nome del modello non è inserito nel prompt del judge.</a:t>
            </a:r>
          </a:p>
        </p:txBody>
      </p:sp>
    </p:spTree>
    <p:extLst>
      <p:ext uri="{BB962C8B-B14F-4D97-AF65-F5344CB8AC3E}">
        <p14:creationId xmlns:p14="http://schemas.microsoft.com/office/powerpoint/2010/main" val="3614734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GPT-5.4 resta il modello con la qualità più alta in entrambi i batch. I due modelli mini sono molto vicini e nel batch v2 GPT-5-mini supera di poco GPT-5.4-mini. Sulla media complessiva, GPT-5.4 raggiunge 19,13 su 21; GPT-5.4-mini scende di circa un punto, ma costa circa il 76 per cento in meno e ha la Top-1 aggregata più alta. GPT-5-mini ottiene 17,56 su 21, ha il costo più basso e una Top-3 del 96,9 per cento, ma una Top-1 inferiore: tende quindi a includere la causa corretta senza sempre metterla al primo posto.</a:t>
            </a:r>
          </a:p>
        </p:txBody>
      </p:sp>
    </p:spTree>
    <p:extLst>
      <p:ext uri="{BB962C8B-B14F-4D97-AF65-F5344CB8AC3E}">
        <p14:creationId xmlns:p14="http://schemas.microsoft.com/office/powerpoint/2010/main" val="1658961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verifica image-graph produce una media complessiva di circa 92,4 su 100. Tutti i 38 grafi sono giudicati utilizzabili come base: 32 VERY HIGH, quattro HIGH e due MEDIUM, senza casi LOW. Nel benchmark diagnostico, aggregando i due batch, aggiungere l'immagine porta lo score medio da 15,30 a 15,63 su 21. Il miglioramento medio è piccolo e non sistematico: il JSON è già informativo e l'immagine va considerata come supporto complementare.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18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 e Diagnosi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circuiti elettrici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5591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del percorso di tesi: dataset → YOLO → Graph JSON → SPICE → agente diagnostico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417881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957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5272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Roboflow + bbox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09981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17296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005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9320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1.0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5683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94029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01344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SPICE/ngspice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7707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86053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93368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+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Obiettivo: trasformare immagini di schemi elettrici in evidenze strutturate, simulabili e interrogabili da un agente AI.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" y="6272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Profilo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Visione del progetto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end-to-end, modulare e verificabile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1247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978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elettrico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7063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84378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41655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48970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pin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6247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3562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nodi + fili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70839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8154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+ run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2571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3543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4274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+ risposta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GUIDA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566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ricostruzione perfetta dello schema, ma rappresentazione tecnica controllabile.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" y="44348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69264" y="437083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step produce artefatti leggibili e versionabili.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04672" y="477316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69264" y="4709160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assunzioni sono dichiarate nei file YAML, non nascoste nel codice.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804672" y="51114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9264" y="5047488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run non viene mai modificata: ogni test è una copia scenario.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804672" y="544982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69264" y="53858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modello AI ragiona su evidenze, non su ipotesi libere.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53796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TECNICI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64768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200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bbox + istanze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964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65936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368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Graph JSON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3796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64768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netlist SPICE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4964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65936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3368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ngspice OP/TRAN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64768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2200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scenario_comparison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865936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93368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viewer SVG + diagnosi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65392" y="56235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Stesso schema logico per circuiti semplici e complessi: cambia il livello di simulabilità, non il metodo.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e augmentation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Costruzione della base dati per object detection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annotate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bbox + classi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947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risoluzione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86384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ROBOFLOW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Annotazione manuale dei componenti con bounding box.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Esportazione in formato YOLO per train/validation/test.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841248" y="412394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 split mantenuti tracciabili tra esperimenti.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81228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GENERATE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85432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1929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originale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52944" y="2203704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25"/>
          <p:cNvSpPr/>
          <p:nvPr/>
        </p:nvSpPr>
        <p:spPr>
          <a:xfrm>
            <a:off x="6812280" y="2478024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885432" y="2551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2532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conversione immagini, label identiche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52944" y="2807208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812280" y="308152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85432" y="31546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3136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 leggere + rumore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2944" y="3410712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812280" y="368503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85432" y="37581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v2 compose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739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schemi affiancati + padding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52944" y="4014216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812280" y="4288536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885432" y="43616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v3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25–45°, 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traslazioni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8–15%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9712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versione finale scelta per il training YOLO è la variante RGB con augmentation strong v3.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6839712" y="5806440"/>
            <a:ext cx="324612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912864" y="5858561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exp11b1_yolo11_rgb_aug_strong_v3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YOLO e scelta del modello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YOLOv7, YOLOv8 e YOLOv11 confrontati su varianti di dataset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/mnt/data/bar_chart_map5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435608"/>
            <a:ext cx="5700757" cy="4059936"/>
          </a:xfrm>
          <a:prstGeom prst="rect">
            <a:avLst/>
          </a:prstGeom>
        </p:spPr>
      </p:pic>
      <p:pic>
        <p:nvPicPr>
          <p:cNvPr id="9" name="Image 1" descr="/mnt/data/bar_chart_f1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675" y="1362455"/>
            <a:ext cx="5955587" cy="40599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4672" y="568756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960120" y="581558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Scelta finale: </a:t>
            </a: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 RGB + strong augmentation v3 </a:t>
            </a: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miglior mAP@0.5:0.95 (0,6687) e F1 molto vicino al massimo (0,9168).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10844784" cy="713232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Risultati chiave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63687"/>
              </p:ext>
            </p:extLst>
          </p:nvPr>
        </p:nvGraphicFramePr>
        <p:xfrm>
          <a:off x="2148840" y="5720785"/>
          <a:ext cx="836676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Configurazione</a:t>
                      </a:r>
                      <a:endParaRPr sz="11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mAP@0.5:0.95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YOLOv11 RGB + strong v3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0,9379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0,8967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0,9168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0,9559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0,6687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92284" y="6153912"/>
            <a:ext cx="45656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dirty="0">
                <a:solidFill>
                  <a:srgbClr val="FFFFFF"/>
                </a:solidFill>
                <a:latin typeface="Aptos"/>
              </a:rPr>
              <a:t>F1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massimo</a:t>
            </a:r>
            <a:r>
              <a:rPr sz="800" dirty="0">
                <a:solidFill>
                  <a:srgbClr val="FFFFFF"/>
                </a:solidFill>
                <a:latin typeface="Aptos"/>
              </a:rPr>
              <a:t>: exp11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aug</a:t>
            </a:r>
            <a:r>
              <a:rPr sz="800" dirty="0">
                <a:solidFill>
                  <a:srgbClr val="FFFFFF"/>
                </a:solidFill>
                <a:latin typeface="Aptos"/>
              </a:rPr>
              <a:t> v1 = 0,9215;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scelta</a:t>
            </a:r>
            <a:r>
              <a:rPr sz="800" dirty="0">
                <a:solidFill>
                  <a:srgbClr val="FFFFFF"/>
                </a:solidFill>
                <a:latin typeface="Aptos"/>
              </a:rPr>
              <a:t> finale =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miglior</a:t>
            </a:r>
            <a:r>
              <a:rPr sz="800" dirty="0">
                <a:solidFill>
                  <a:srgbClr val="FFFFFF"/>
                </a:solidFill>
                <a:latin typeface="Aptos"/>
              </a:rPr>
              <a:t> mAP@0.5:0.95 con F1 quasi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equivalente</a:t>
            </a:r>
            <a:r>
              <a:rPr sz="8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1.0: dall’immagine al Graph JSON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detection, terminali e collegamenti elettrici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CATENA TECNICA 01–06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5895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detect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01_detect_components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3172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6032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3347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02_assign_instances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0624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43484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0799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terminals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03_estimate_terminals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5895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984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wires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04_extract_wires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3172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56032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63347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4436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05_build_terminal_graph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20624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43484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50799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888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report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06_render_graph_report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749808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RAPPRESENTAZIONE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1148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Graph JSON diventa il contratto tra computer vision, giudizio automatico, SPICE e agente.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" y="48188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69264" y="4754880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istanza stabile: resistor22.1, led12.1, ecc.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804672" y="51297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969264" y="5065776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 stimati 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orientamento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OCR e regole per componenti IC.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04672" y="544068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969264" y="5376672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giunzioni trasformati in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connessioni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terminale-terminale.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804672" y="575157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69264" y="5687568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conservati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nodi incerti, terminali scollegati, stati switch.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6629400" y="1554480"/>
            <a:ext cx="4434840" cy="3931920"/>
          </a:xfrm>
          <a:prstGeom prst="roundRect">
            <a:avLst>
              <a:gd name="adj" fmla="val 162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90372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JSON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67728" y="2377440"/>
            <a:ext cx="37490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"terminals":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"visible_semantics":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"switch_state": "open",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"polarity": "known"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[...]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869680" y="502920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8942832" y="5081321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riusabile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ight template background" descr="light_circuit_template_bg.png">
            <a:extLst>
              <a:ext uri="{FF2B5EF4-FFF2-40B4-BE49-F238E27FC236}">
                <a16:creationId xmlns:a16="http://schemas.microsoft.com/office/drawing/2014/main" id="{A50DBE90-C21B-903E-16FC-2EDB3264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A20CC53-D562-9F24-441B-9234B8E3B965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Pipeline 1.0: output intermedi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A55179-CCDE-9EDF-234B-F4C2179D03A7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Lo stesso circuito attraverso le fasi di ricostruzione del Graph JSON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CEC84C6-6568-55EE-6758-BDA2000B90E4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A0A275-89A1-BB2B-AE0B-8D13285FC464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Pipeline 1.0  |  output intermedi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E3FA5B3-E6BA-7E23-717B-01229DC888F9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 dirty="0">
                <a:solidFill>
                  <a:srgbClr val="64748B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B5606F0-8D55-B2C0-4289-24818A03679E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0441BB1-AF90-AEDE-72AA-677F3DD2A0B7}"/>
              </a:ext>
            </a:extLst>
          </p:cNvPr>
          <p:cNvSpPr/>
          <p:nvPr/>
        </p:nvSpPr>
        <p:spPr>
          <a:xfrm>
            <a:off x="5715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F0C35C51-A3DB-C557-44EC-4C785BCBBA4E}"/>
              </a:ext>
            </a:extLst>
          </p:cNvPr>
          <p:cNvSpPr/>
          <p:nvPr/>
        </p:nvSpPr>
        <p:spPr>
          <a:xfrm>
            <a:off x="723900" y="1689100"/>
            <a:ext cx="431800" cy="279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  <a:endParaRPr lang="it-IT" sz="92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4727D43-1AE6-847B-EAF9-0A57C6AB2E2F}"/>
              </a:ext>
            </a:extLst>
          </p:cNvPr>
          <p:cNvSpPr txBox="1"/>
          <p:nvPr/>
        </p:nvSpPr>
        <p:spPr>
          <a:xfrm>
            <a:off x="12700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0B1320"/>
                </a:solidFill>
                <a:latin typeface="Aptos" panose="020B0004020202020204" pitchFamily="34" charset="0"/>
              </a:rPr>
              <a:t>Istanze univoche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48E3133-8D1F-7A14-0643-82886DEA69CA}"/>
              </a:ext>
            </a:extLst>
          </p:cNvPr>
          <p:cNvSpPr/>
          <p:nvPr/>
        </p:nvSpPr>
        <p:spPr>
          <a:xfrm>
            <a:off x="6858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2FF5BCC-74C2-7DB6-E6DE-FA6AF489FD4E}"/>
              </a:ext>
            </a:extLst>
          </p:cNvPr>
          <p:cNvSpPr txBox="1"/>
          <p:nvPr/>
        </p:nvSpPr>
        <p:spPr>
          <a:xfrm>
            <a:off x="736600" y="4686300"/>
            <a:ext cx="2273300" cy="3683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ID univoco per ogni componente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CB8BD813-0DBB-AF1D-61D5-41751C8BA1D0}"/>
              </a:ext>
            </a:extLst>
          </p:cNvPr>
          <p:cNvCxnSpPr/>
          <p:nvPr/>
        </p:nvCxnSpPr>
        <p:spPr>
          <a:xfrm>
            <a:off x="9652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A1E4301-AA42-F6E6-461B-795575A9E740}"/>
              </a:ext>
            </a:extLst>
          </p:cNvPr>
          <p:cNvSpPr txBox="1"/>
          <p:nvPr/>
        </p:nvSpPr>
        <p:spPr>
          <a:xfrm>
            <a:off x="8001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547C396-C38C-D9FE-A8C2-EF5AAEFA7ADF}"/>
              </a:ext>
            </a:extLst>
          </p:cNvPr>
          <p:cNvSpPr/>
          <p:nvPr/>
        </p:nvSpPr>
        <p:spPr>
          <a:xfrm>
            <a:off x="33909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E39876AE-0401-4815-1C8D-52D1C4A57EA6}"/>
              </a:ext>
            </a:extLst>
          </p:cNvPr>
          <p:cNvSpPr/>
          <p:nvPr/>
        </p:nvSpPr>
        <p:spPr>
          <a:xfrm>
            <a:off x="3543300" y="1689100"/>
            <a:ext cx="431800" cy="2794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67A7D25-9AA0-4C6F-43A4-58C1BD116E94}"/>
              </a:ext>
            </a:extLst>
          </p:cNvPr>
          <p:cNvSpPr txBox="1"/>
          <p:nvPr/>
        </p:nvSpPr>
        <p:spPr>
          <a:xfrm>
            <a:off x="40894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0B1320"/>
                </a:solidFill>
                <a:latin typeface="Aptos" panose="020B0004020202020204" pitchFamily="34" charset="0"/>
              </a:rPr>
              <a:t>Terminali stimati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844D902-3DB7-CC0E-B94C-FAEC8E221D11}"/>
              </a:ext>
            </a:extLst>
          </p:cNvPr>
          <p:cNvSpPr/>
          <p:nvPr/>
        </p:nvSpPr>
        <p:spPr>
          <a:xfrm>
            <a:off x="35052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9191545-70C9-AF0D-431A-B77030E3A8CB}"/>
              </a:ext>
            </a:extLst>
          </p:cNvPr>
          <p:cNvSpPr txBox="1"/>
          <p:nvPr/>
        </p:nvSpPr>
        <p:spPr>
          <a:xfrm>
            <a:off x="35560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Pin e polarità localizzati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D133126-D409-B52A-3770-394CC15EC3C9}"/>
              </a:ext>
            </a:extLst>
          </p:cNvPr>
          <p:cNvCxnSpPr/>
          <p:nvPr/>
        </p:nvCxnSpPr>
        <p:spPr>
          <a:xfrm>
            <a:off x="37846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C37CB45-E254-CD53-80D5-5D571D2F1166}"/>
              </a:ext>
            </a:extLst>
          </p:cNvPr>
          <p:cNvSpPr txBox="1"/>
          <p:nvPr/>
        </p:nvSpPr>
        <p:spPr>
          <a:xfrm>
            <a:off x="36195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128E853-9DDF-3644-6E85-12F33B97567E}"/>
              </a:ext>
            </a:extLst>
          </p:cNvPr>
          <p:cNvSpPr/>
          <p:nvPr/>
        </p:nvSpPr>
        <p:spPr>
          <a:xfrm>
            <a:off x="62103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9F9817DA-EEFE-96DA-2805-9FE6B350E030}"/>
              </a:ext>
            </a:extLst>
          </p:cNvPr>
          <p:cNvSpPr/>
          <p:nvPr/>
        </p:nvSpPr>
        <p:spPr>
          <a:xfrm>
            <a:off x="6362700" y="1689100"/>
            <a:ext cx="431800" cy="2794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  <a:endParaRPr lang="it-IT" sz="92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3FC318A-E6E6-04FF-9731-F0F19A3E4CAF}"/>
              </a:ext>
            </a:extLst>
          </p:cNvPr>
          <p:cNvSpPr txBox="1"/>
          <p:nvPr/>
        </p:nvSpPr>
        <p:spPr>
          <a:xfrm>
            <a:off x="69088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0B1320"/>
                </a:solidFill>
                <a:latin typeface="Aptos" panose="020B0004020202020204" pitchFamily="34" charset="0"/>
              </a:rPr>
              <a:t>Fili estratti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E6C0CE79-CBDD-F025-E3C3-21F162E72F17}"/>
              </a:ext>
            </a:extLst>
          </p:cNvPr>
          <p:cNvSpPr/>
          <p:nvPr/>
        </p:nvSpPr>
        <p:spPr>
          <a:xfrm>
            <a:off x="63246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25E4678-B6EE-50F4-3D16-D0CAA73FA306}"/>
              </a:ext>
            </a:extLst>
          </p:cNvPr>
          <p:cNvSpPr txBox="1"/>
          <p:nvPr/>
        </p:nvSpPr>
        <p:spPr>
          <a:xfrm>
            <a:off x="63754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Scheletro dei collegamenti estratti</a:t>
            </a:r>
          </a:p>
        </p:txBody>
      </p: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F5B4EDAF-91CC-99C7-7F6B-60B74C2CB55F}"/>
              </a:ext>
            </a:extLst>
          </p:cNvPr>
          <p:cNvCxnSpPr/>
          <p:nvPr/>
        </p:nvCxnSpPr>
        <p:spPr>
          <a:xfrm>
            <a:off x="66040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7B20DE6-4AC7-04D2-1030-289769650350}"/>
              </a:ext>
            </a:extLst>
          </p:cNvPr>
          <p:cNvSpPr txBox="1"/>
          <p:nvPr/>
        </p:nvSpPr>
        <p:spPr>
          <a:xfrm>
            <a:off x="64389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ABF01B1-2BE2-A828-536F-6F3EE7A98783}"/>
              </a:ext>
            </a:extLst>
          </p:cNvPr>
          <p:cNvSpPr/>
          <p:nvPr/>
        </p:nvSpPr>
        <p:spPr>
          <a:xfrm>
            <a:off x="90297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94BC56D0-1710-2700-FC28-B18E344415A6}"/>
              </a:ext>
            </a:extLst>
          </p:cNvPr>
          <p:cNvSpPr/>
          <p:nvPr/>
        </p:nvSpPr>
        <p:spPr>
          <a:xfrm>
            <a:off x="9182100" y="1689100"/>
            <a:ext cx="431800" cy="2794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8538E77-30FA-24AC-65C5-57ABD2F107D4}"/>
              </a:ext>
            </a:extLst>
          </p:cNvPr>
          <p:cNvSpPr txBox="1"/>
          <p:nvPr/>
        </p:nvSpPr>
        <p:spPr>
          <a:xfrm>
            <a:off x="97282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400" b="1" dirty="0">
                <a:solidFill>
                  <a:srgbClr val="0B1320"/>
                </a:solidFill>
                <a:latin typeface="Aptos" panose="020B0004020202020204" pitchFamily="34" charset="0"/>
              </a:rPr>
              <a:t>Overlay terminali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F56200E6-1ADA-D502-2771-2AB91F71DA47}"/>
              </a:ext>
            </a:extLst>
          </p:cNvPr>
          <p:cNvSpPr/>
          <p:nvPr/>
        </p:nvSpPr>
        <p:spPr>
          <a:xfrm>
            <a:off x="91440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93540CC-6A2B-93D0-EF67-1D5CC65E3D89}"/>
              </a:ext>
            </a:extLst>
          </p:cNvPr>
          <p:cNvSpPr txBox="1"/>
          <p:nvPr/>
        </p:nvSpPr>
        <p:spPr>
          <a:xfrm>
            <a:off x="91948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70" b="1">
                <a:solidFill>
                  <a:srgbClr val="334155"/>
                </a:solidFill>
                <a:latin typeface="Aptos" panose="020B0004020202020204" pitchFamily="34" charset="0"/>
              </a:rPr>
              <a:t>Terminali associati al grafo</a:t>
            </a:r>
          </a:p>
        </p:txBody>
      </p: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10041C8F-16BB-96D5-DAB6-7B7F23043644}"/>
              </a:ext>
            </a:extLst>
          </p:cNvPr>
          <p:cNvCxnSpPr/>
          <p:nvPr/>
        </p:nvCxnSpPr>
        <p:spPr>
          <a:xfrm>
            <a:off x="94234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1839ACD3-9995-5293-1BB5-DB0FA5DCBD9D}"/>
              </a:ext>
            </a:extLst>
          </p:cNvPr>
          <p:cNvSpPr txBox="1"/>
          <p:nvPr/>
        </p:nvSpPr>
        <p:spPr>
          <a:xfrm>
            <a:off x="92583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pic>
        <p:nvPicPr>
          <p:cNvPr id="41" name="Pipeline output phase 02" descr="pipeline1_phase_02.jpg">
            <a:extLst>
              <a:ext uri="{FF2B5EF4-FFF2-40B4-BE49-F238E27FC236}">
                <a16:creationId xmlns:a16="http://schemas.microsoft.com/office/drawing/2014/main" id="{26712A47-64C8-6294-3210-A46560A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91" y="2035049"/>
            <a:ext cx="2486660" cy="248666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  <p:pic>
        <p:nvPicPr>
          <p:cNvPr id="42" name="Pipeline output phase 03" descr="pipeline1_phase_03.jpg">
            <a:extLst>
              <a:ext uri="{FF2B5EF4-FFF2-40B4-BE49-F238E27FC236}">
                <a16:creationId xmlns:a16="http://schemas.microsoft.com/office/drawing/2014/main" id="{C89CC17B-0DE9-7D96-18ED-EFBB7F8EB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082800"/>
            <a:ext cx="2603500" cy="260350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  <p:pic>
        <p:nvPicPr>
          <p:cNvPr id="43" name="Pipeline output phase 04" descr="pipeline1_phase_04.png">
            <a:extLst>
              <a:ext uri="{FF2B5EF4-FFF2-40B4-BE49-F238E27FC236}">
                <a16:creationId xmlns:a16="http://schemas.microsoft.com/office/drawing/2014/main" id="{3C688B0C-4F1F-E541-BAEA-676CAA1D0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2082800"/>
            <a:ext cx="2463800" cy="246380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  <p:pic>
        <p:nvPicPr>
          <p:cNvPr id="44" name="Pipeline output phase 05" descr="pipeline1_phase_05.jpg">
            <a:extLst>
              <a:ext uri="{FF2B5EF4-FFF2-40B4-BE49-F238E27FC236}">
                <a16:creationId xmlns:a16="http://schemas.microsoft.com/office/drawing/2014/main" id="{676DDD50-F424-1EE7-2F50-E84B58717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620" y="2108199"/>
            <a:ext cx="2504949" cy="2504949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</p:spTree>
    <p:extLst>
      <p:ext uri="{BB962C8B-B14F-4D97-AF65-F5344CB8AC3E}">
        <p14:creationId xmlns:p14="http://schemas.microsoft.com/office/powerpoint/2010/main" val="323401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Light template background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82B612-91C7-1579-2DAB-4088ED5CF02B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 dirty="0">
                <a:solidFill>
                  <a:srgbClr val="0B1320"/>
                </a:solidFill>
                <a:latin typeface="Aptos Display" panose="020B0004020202020204" pitchFamily="34" charset="0"/>
              </a:rPr>
              <a:t>Benchmark diagnostico: come è stato costruito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28F808-FDF6-DB31-C697-DF57A124D90C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Due batch, due modalità di input e una valutazione tecnica uniforme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9C69CD3-4259-E66E-2C02-3E953D6E95A5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0B0F0D-0557-7D9F-1B19-2A1FC84BB653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8A874A-1543-BFF6-3F3B-5DDB5E133D95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 dirty="0">
                <a:solidFill>
                  <a:srgbClr val="64748B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0490944-BEA8-8235-121C-782EAA176BF2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9546F75-7BE5-114B-21C9-2B2BC1CA15C7}"/>
              </a:ext>
            </a:extLst>
          </p:cNvPr>
          <p:cNvSpPr/>
          <p:nvPr/>
        </p:nvSpPr>
        <p:spPr>
          <a:xfrm>
            <a:off x="698500" y="1409700"/>
            <a:ext cx="546100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24FBAE-AB19-C2C8-DEC7-201B5DF1219B}"/>
              </a:ext>
            </a:extLst>
          </p:cNvPr>
          <p:cNvSpPr txBox="1"/>
          <p:nvPr/>
        </p:nvSpPr>
        <p:spPr>
          <a:xfrm>
            <a:off x="2514600" y="1647434"/>
            <a:ext cx="32385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 dirty="0">
                <a:solidFill>
                  <a:srgbClr val="059669"/>
                </a:solidFill>
                <a:latin typeface="Aptos" panose="020B0004020202020204" pitchFamily="34" charset="0"/>
              </a:rPr>
              <a:t>MATRICE SPERIMENTALE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5AEF423-CE43-13FB-B4A4-A9D209A249CB}"/>
              </a:ext>
            </a:extLst>
          </p:cNvPr>
          <p:cNvSpPr txBox="1"/>
          <p:nvPr/>
        </p:nvSpPr>
        <p:spPr>
          <a:xfrm>
            <a:off x="952500" y="1955800"/>
            <a:ext cx="4318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b="1">
                <a:solidFill>
                  <a:srgbClr val="0B1320"/>
                </a:solidFill>
                <a:latin typeface="Aptos Display" panose="020B0004020202020204" pitchFamily="34" charset="0"/>
              </a:rPr>
              <a:t>16 circuiti · 8 modelli · 256 run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E14B165-A732-852F-1E76-38278B4F59DB}"/>
              </a:ext>
            </a:extLst>
          </p:cNvPr>
          <p:cNvSpPr/>
          <p:nvPr/>
        </p:nvSpPr>
        <p:spPr>
          <a:xfrm>
            <a:off x="952500" y="2425700"/>
            <a:ext cx="8636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Batch</a:t>
            </a:r>
            <a:endParaRPr lang="it-IT" sz="92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10A71DB-BA3F-0795-2A78-EA1B27719588}"/>
              </a:ext>
            </a:extLst>
          </p:cNvPr>
          <p:cNvSpPr/>
          <p:nvPr/>
        </p:nvSpPr>
        <p:spPr>
          <a:xfrm>
            <a:off x="1816100" y="2425700"/>
            <a:ext cx="7366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Circuiti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5D765EC-B512-F942-4610-D949893A9057}"/>
              </a:ext>
            </a:extLst>
          </p:cNvPr>
          <p:cNvSpPr/>
          <p:nvPr/>
        </p:nvSpPr>
        <p:spPr>
          <a:xfrm>
            <a:off x="2552700" y="2425700"/>
            <a:ext cx="26035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Tipologia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F60B8E3-16EF-4DB9-E8F9-1885AABA383D}"/>
              </a:ext>
            </a:extLst>
          </p:cNvPr>
          <p:cNvSpPr/>
          <p:nvPr/>
        </p:nvSpPr>
        <p:spPr>
          <a:xfrm>
            <a:off x="5156200" y="2425700"/>
            <a:ext cx="8128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Run</a:t>
            </a:r>
            <a:endParaRPr lang="it-IT" sz="92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1B3D8AD-AFAD-5AC9-E6C3-1851A4EF1A6D}"/>
              </a:ext>
            </a:extLst>
          </p:cNvPr>
          <p:cNvSpPr/>
          <p:nvPr/>
        </p:nvSpPr>
        <p:spPr>
          <a:xfrm>
            <a:off x="952500" y="2730500"/>
            <a:ext cx="863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v1</a:t>
            </a:r>
            <a:endParaRPr lang="it-IT" sz="88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454D054-482C-9401-D71E-83939BA0F33B}"/>
              </a:ext>
            </a:extLst>
          </p:cNvPr>
          <p:cNvSpPr/>
          <p:nvPr/>
        </p:nvSpPr>
        <p:spPr>
          <a:xfrm>
            <a:off x="1816100" y="2730500"/>
            <a:ext cx="736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02126-4305-F3A5-83C7-7517FAE54A62}"/>
              </a:ext>
            </a:extLst>
          </p:cNvPr>
          <p:cNvSpPr/>
          <p:nvPr/>
        </p:nvSpPr>
        <p:spPr>
          <a:xfrm>
            <a:off x="2552700" y="2730500"/>
            <a:ext cx="26035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IC, audio, motori, convertitori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03A0AB6-CDB2-3A47-9DA7-C8009FE2A3F4}"/>
              </a:ext>
            </a:extLst>
          </p:cNvPr>
          <p:cNvSpPr/>
          <p:nvPr/>
        </p:nvSpPr>
        <p:spPr>
          <a:xfrm>
            <a:off x="5156200" y="2730500"/>
            <a:ext cx="8128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128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DF6C122-87AF-3877-FD05-1F5C07AF4BD1}"/>
              </a:ext>
            </a:extLst>
          </p:cNvPr>
          <p:cNvSpPr/>
          <p:nvPr/>
        </p:nvSpPr>
        <p:spPr>
          <a:xfrm>
            <a:off x="952500" y="3073400"/>
            <a:ext cx="863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v2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1DD7EA9-EE7A-A182-B644-57EF40349AEE}"/>
              </a:ext>
            </a:extLst>
          </p:cNvPr>
          <p:cNvSpPr/>
          <p:nvPr/>
        </p:nvSpPr>
        <p:spPr>
          <a:xfrm>
            <a:off x="1816100" y="3073400"/>
            <a:ext cx="736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8</a:t>
            </a:r>
            <a:endParaRPr lang="it-IT" sz="88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00C326F-63E6-DD37-1585-29A1B80B7EBE}"/>
              </a:ext>
            </a:extLst>
          </p:cNvPr>
          <p:cNvSpPr/>
          <p:nvPr/>
        </p:nvSpPr>
        <p:spPr>
          <a:xfrm>
            <a:off x="2552700" y="3073400"/>
            <a:ext cx="26035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timer, display, discreti, audio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07C143B-A74F-F35B-C0B3-26BF4D62C99B}"/>
              </a:ext>
            </a:extLst>
          </p:cNvPr>
          <p:cNvSpPr/>
          <p:nvPr/>
        </p:nvSpPr>
        <p:spPr>
          <a:xfrm>
            <a:off x="5156200" y="3073400"/>
            <a:ext cx="8128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128</a:t>
            </a:r>
            <a:endParaRPr lang="it-IT" sz="88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283EDDC-A84E-5730-6361-AF70FCF56B8D}"/>
              </a:ext>
            </a:extLst>
          </p:cNvPr>
          <p:cNvSpPr/>
          <p:nvPr/>
        </p:nvSpPr>
        <p:spPr>
          <a:xfrm>
            <a:off x="952500" y="3416300"/>
            <a:ext cx="8636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Totale</a:t>
            </a:r>
            <a:endParaRPr lang="it-IT" sz="88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A2F39E1F-73D9-2D3D-3530-4774615FE055}"/>
              </a:ext>
            </a:extLst>
          </p:cNvPr>
          <p:cNvSpPr/>
          <p:nvPr/>
        </p:nvSpPr>
        <p:spPr>
          <a:xfrm>
            <a:off x="1816100" y="3416300"/>
            <a:ext cx="7366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D1F9609-2C99-2970-6743-201E4818B9F1}"/>
              </a:ext>
            </a:extLst>
          </p:cNvPr>
          <p:cNvSpPr/>
          <p:nvPr/>
        </p:nvSpPr>
        <p:spPr>
          <a:xfrm>
            <a:off x="2552700" y="3416300"/>
            <a:ext cx="26035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8 modelli × 2 input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1BE7590-D068-2F53-102B-5E9B110BB012}"/>
              </a:ext>
            </a:extLst>
          </p:cNvPr>
          <p:cNvSpPr/>
          <p:nvPr/>
        </p:nvSpPr>
        <p:spPr>
          <a:xfrm>
            <a:off x="5156200" y="3416300"/>
            <a:ext cx="8128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256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0B03EB6B-D0D1-7BD6-C862-35B3FC360010}"/>
              </a:ext>
            </a:extLst>
          </p:cNvPr>
          <p:cNvSpPr/>
          <p:nvPr/>
        </p:nvSpPr>
        <p:spPr>
          <a:xfrm>
            <a:off x="952500" y="4013200"/>
            <a:ext cx="1816100" cy="381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EEDF83A-DBE0-A8AE-C9E0-C2D967C2FCFE}"/>
              </a:ext>
            </a:extLst>
          </p:cNvPr>
          <p:cNvSpPr txBox="1"/>
          <p:nvPr/>
        </p:nvSpPr>
        <p:spPr>
          <a:xfrm>
            <a:off x="2870200" y="4089400"/>
            <a:ext cx="3175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00" b="1">
                <a:solidFill>
                  <a:srgbClr val="64748B"/>
                </a:solidFill>
                <a:latin typeface="Aptos" panose="020B0004020202020204" pitchFamily="34" charset="0"/>
              </a:rPr>
              <a:t>vs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01A5A06A-DC63-F940-F267-9E8DCBCB74E1}"/>
              </a:ext>
            </a:extLst>
          </p:cNvPr>
          <p:cNvSpPr/>
          <p:nvPr/>
        </p:nvSpPr>
        <p:spPr>
          <a:xfrm>
            <a:off x="3289300" y="4013200"/>
            <a:ext cx="2463800" cy="381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JSON + immagine + datasheet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F5AF2AA-9FA1-3DB9-9A68-51F18FFDDEC1}"/>
              </a:ext>
            </a:extLst>
          </p:cNvPr>
          <p:cNvSpPr txBox="1"/>
          <p:nvPr/>
        </p:nvSpPr>
        <p:spPr>
          <a:xfrm>
            <a:off x="952500" y="4610100"/>
            <a:ext cx="4699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>
                <a:solidFill>
                  <a:srgbClr val="334155"/>
                </a:solidFill>
                <a:latin typeface="Aptos" panose="020B0004020202020204" pitchFamily="34" charset="0"/>
              </a:rPr>
              <a:t>Ogni modello produce una diagnosi ordinata, motivata e accompagnata da controlli pratici.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618587E3-68EB-70A9-8E51-810C51D7B130}"/>
              </a:ext>
            </a:extLst>
          </p:cNvPr>
          <p:cNvSpPr/>
          <p:nvPr/>
        </p:nvSpPr>
        <p:spPr>
          <a:xfrm>
            <a:off x="6540500" y="1409700"/>
            <a:ext cx="4953000" cy="37719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D90D24B-E196-D0E3-0986-5C55907E495A}"/>
              </a:ext>
            </a:extLst>
          </p:cNvPr>
          <p:cNvSpPr txBox="1"/>
          <p:nvPr/>
        </p:nvSpPr>
        <p:spPr>
          <a:xfrm>
            <a:off x="8448351" y="1680117"/>
            <a:ext cx="2667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 dirty="0">
                <a:solidFill>
                  <a:srgbClr val="059669"/>
                </a:solidFill>
                <a:latin typeface="Aptos" panose="020B0004020202020204" pitchFamily="34" charset="0"/>
              </a:rPr>
              <a:t>GPT-5.5 JUDGE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36C8CC4-CC6A-B728-5DD8-61A5084B024D}"/>
              </a:ext>
            </a:extLst>
          </p:cNvPr>
          <p:cNvSpPr txBox="1"/>
          <p:nvPr/>
        </p:nvSpPr>
        <p:spPr>
          <a:xfrm>
            <a:off x="6807200" y="1955800"/>
            <a:ext cx="4000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b="1" dirty="0">
                <a:solidFill>
                  <a:srgbClr val="0B1320"/>
                </a:solidFill>
                <a:latin typeface="Aptos Display" panose="020B0004020202020204" pitchFamily="34" charset="0"/>
              </a:rPr>
              <a:t>7 criteri × 0-3 (punteggio) = 21 punti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ED75661D-8C1D-11B5-050B-C6BBDE2B8B1D}"/>
              </a:ext>
            </a:extLst>
          </p:cNvPr>
          <p:cNvSpPr/>
          <p:nvPr/>
        </p:nvSpPr>
        <p:spPr>
          <a:xfrm>
            <a:off x="6807200" y="24765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D5CC184F-A3BA-825F-A9A1-07423F0CF4DC}"/>
              </a:ext>
            </a:extLst>
          </p:cNvPr>
          <p:cNvSpPr txBox="1"/>
          <p:nvPr/>
        </p:nvSpPr>
        <p:spPr>
          <a:xfrm>
            <a:off x="6921500" y="25654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Comprensione circuito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264182F6-3530-791C-FDCC-558A7C06343E}"/>
              </a:ext>
            </a:extLst>
          </p:cNvPr>
          <p:cNvSpPr/>
          <p:nvPr/>
        </p:nvSpPr>
        <p:spPr>
          <a:xfrm>
            <a:off x="9029700" y="24765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56F3F27-B5B6-9C36-125F-08DF98139094}"/>
              </a:ext>
            </a:extLst>
          </p:cNvPr>
          <p:cNvSpPr txBox="1"/>
          <p:nvPr/>
        </p:nvSpPr>
        <p:spPr>
          <a:xfrm>
            <a:off x="9144000" y="25654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Uso datasheet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001424E4-139C-FFFE-D978-4BDD00F55E22}"/>
              </a:ext>
            </a:extLst>
          </p:cNvPr>
          <p:cNvSpPr/>
          <p:nvPr/>
        </p:nvSpPr>
        <p:spPr>
          <a:xfrm>
            <a:off x="6807200" y="29337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543CD463-2970-0ACB-1CF9-DCE7404800AF}"/>
              </a:ext>
            </a:extLst>
          </p:cNvPr>
          <p:cNvSpPr txBox="1"/>
          <p:nvPr/>
        </p:nvSpPr>
        <p:spPr>
          <a:xfrm>
            <a:off x="6921500" y="30226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Uso JSON / immagine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CC75F7B2-E0B4-EE4A-329D-67FAB050633E}"/>
              </a:ext>
            </a:extLst>
          </p:cNvPr>
          <p:cNvSpPr/>
          <p:nvPr/>
        </p:nvSpPr>
        <p:spPr>
          <a:xfrm>
            <a:off x="9029700" y="29337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C8F15DA-40BC-92A0-7B9F-83E7AD49FCE9}"/>
              </a:ext>
            </a:extLst>
          </p:cNvPr>
          <p:cNvSpPr txBox="1"/>
          <p:nvPr/>
        </p:nvSpPr>
        <p:spPr>
          <a:xfrm>
            <a:off x="9144000" y="30226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Accuratezza diagnostica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EC8AE4B1-990E-8D08-F280-1E09C5DD78BA}"/>
              </a:ext>
            </a:extLst>
          </p:cNvPr>
          <p:cNvSpPr/>
          <p:nvPr/>
        </p:nvSpPr>
        <p:spPr>
          <a:xfrm>
            <a:off x="6807200" y="33909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77B81FE5-58D4-CDFB-7459-9E311C68015C}"/>
              </a:ext>
            </a:extLst>
          </p:cNvPr>
          <p:cNvSpPr txBox="1"/>
          <p:nvPr/>
        </p:nvSpPr>
        <p:spPr>
          <a:xfrm>
            <a:off x="6921500" y="34798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Priorità delle cause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358B4D15-BD88-A44B-13CA-1161A7CB657F}"/>
              </a:ext>
            </a:extLst>
          </p:cNvPr>
          <p:cNvSpPr/>
          <p:nvPr/>
        </p:nvSpPr>
        <p:spPr>
          <a:xfrm>
            <a:off x="9029700" y="33909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3786DD2-420A-4549-8D60-A86ADEA6F6B3}"/>
              </a:ext>
            </a:extLst>
          </p:cNvPr>
          <p:cNvSpPr txBox="1"/>
          <p:nvPr/>
        </p:nvSpPr>
        <p:spPr>
          <a:xfrm>
            <a:off x="9144000" y="34798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Controlli pratici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B6F2F6A3-AB42-AC87-D582-AB66FB388ED1}"/>
              </a:ext>
            </a:extLst>
          </p:cNvPr>
          <p:cNvSpPr/>
          <p:nvPr/>
        </p:nvSpPr>
        <p:spPr>
          <a:xfrm>
            <a:off x="6807200" y="3848100"/>
            <a:ext cx="42799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848F1A2-F174-CA08-6D5C-E5C140DEB652}"/>
              </a:ext>
            </a:extLst>
          </p:cNvPr>
          <p:cNvSpPr txBox="1"/>
          <p:nvPr/>
        </p:nvSpPr>
        <p:spPr>
          <a:xfrm>
            <a:off x="6921500" y="3937000"/>
            <a:ext cx="4051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Assenza di allucinazioni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55FF1CAF-2051-E2FC-447D-A1C111ECB932}"/>
              </a:ext>
            </a:extLst>
          </p:cNvPr>
          <p:cNvSpPr/>
          <p:nvPr/>
        </p:nvSpPr>
        <p:spPr>
          <a:xfrm>
            <a:off x="6807200" y="4470400"/>
            <a:ext cx="736600" cy="3429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  <a:endParaRPr lang="it-IT" sz="93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6C0A3659-95FB-FA54-1E4E-EDDBD80618A8}"/>
              </a:ext>
            </a:extLst>
          </p:cNvPr>
          <p:cNvSpPr/>
          <p:nvPr/>
        </p:nvSpPr>
        <p:spPr>
          <a:xfrm>
            <a:off x="7632700" y="4470400"/>
            <a:ext cx="736600" cy="3429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  <a:endParaRPr lang="it-IT" sz="93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9E481EFD-81A1-B042-DFCC-0FE1D035721C}"/>
              </a:ext>
            </a:extLst>
          </p:cNvPr>
          <p:cNvSpPr/>
          <p:nvPr/>
        </p:nvSpPr>
        <p:spPr>
          <a:xfrm>
            <a:off x="8458200" y="4470400"/>
            <a:ext cx="736600" cy="3429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Errori</a:t>
            </a:r>
            <a:endParaRPr lang="it-IT" sz="93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029E3DB0-D035-B3BD-71CA-127A77089ECC}"/>
              </a:ext>
            </a:extLst>
          </p:cNvPr>
          <p:cNvSpPr/>
          <p:nvPr/>
        </p:nvSpPr>
        <p:spPr>
          <a:xfrm>
            <a:off x="9283700" y="4470400"/>
            <a:ext cx="736600" cy="3429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  <a:endParaRPr lang="it-IT" sz="93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6F13CF67-3540-9702-5905-8D1FE46DF40F}"/>
              </a:ext>
            </a:extLst>
          </p:cNvPr>
          <p:cNvSpPr/>
          <p:nvPr/>
        </p:nvSpPr>
        <p:spPr>
          <a:xfrm>
            <a:off x="10109200" y="4470400"/>
            <a:ext cx="863600" cy="3429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Latenza</a:t>
            </a:r>
            <a:endParaRPr lang="it-IT" sz="93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C85260E6-089D-A9CC-77C3-A835E1C0DF6B}"/>
              </a:ext>
            </a:extLst>
          </p:cNvPr>
          <p:cNvSpPr/>
          <p:nvPr/>
        </p:nvSpPr>
        <p:spPr>
          <a:xfrm>
            <a:off x="698500" y="5397500"/>
            <a:ext cx="10795000" cy="711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F481B10F-BC4C-9762-8925-6B240E373BC4}"/>
              </a:ext>
            </a:extLst>
          </p:cNvPr>
          <p:cNvSpPr txBox="1"/>
          <p:nvPr/>
        </p:nvSpPr>
        <p:spPr>
          <a:xfrm>
            <a:off x="939800" y="5562600"/>
            <a:ext cx="2260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2563EB"/>
                </a:solidFill>
                <a:latin typeface="Aptos" panose="020B0004020202020204" pitchFamily="34" charset="0"/>
              </a:rPr>
              <a:t>COME SI OTTIENE IL DATO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F2ADE87-C68B-CDC6-0DC1-D1F66D157FBA}"/>
              </a:ext>
            </a:extLst>
          </p:cNvPr>
          <p:cNvSpPr txBox="1"/>
          <p:nvPr/>
        </p:nvSpPr>
        <p:spPr>
          <a:xfrm>
            <a:off x="3162300" y="5511800"/>
            <a:ext cx="805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Il </a:t>
            </a:r>
            <a:r>
              <a:rPr lang="it-IT" sz="1100" dirty="0" err="1">
                <a:solidFill>
                  <a:srgbClr val="334155"/>
                </a:solidFill>
                <a:latin typeface="Aptos" panose="020B0004020202020204" pitchFamily="34" charset="0"/>
              </a:rPr>
              <a:t>judge</a:t>
            </a:r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 vede JSON, immagine, datasheet, sintomo e risposta; il nome del modello non è nel prompt. Gli output strutturati vengono aggregati per modello, input e circuito.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C43A50B6-880B-CC03-B79F-139EF031CB66}"/>
              </a:ext>
            </a:extLst>
          </p:cNvPr>
          <p:cNvSpPr txBox="1"/>
          <p:nvPr/>
        </p:nvSpPr>
        <p:spPr>
          <a:xfrm>
            <a:off x="3162300" y="5930900"/>
            <a:ext cx="80518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Nota: una sola run per combinazione; confronto uniforme, non validazione statistica multi-rater.</a:t>
            </a:r>
          </a:p>
        </p:txBody>
      </p:sp>
    </p:spTree>
    <p:extLst>
      <p:ext uri="{BB962C8B-B14F-4D97-AF65-F5344CB8AC3E}">
        <p14:creationId xmlns:p14="http://schemas.microsoft.com/office/powerpoint/2010/main" val="178084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Light template background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F52267-9F23-FE29-F597-7635A982D200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Risultati: i tre modelli più convincenti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14494F-5C60-75A3-F27D-EC70B7E6BD7E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Dati da aggregate_by_model.csv dei batch v1 e v2 · 32 run per modello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B4547C2-B835-F486-737E-5FB839880947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BBB0EC3-ADBE-5E05-6A1E-6532BD00691B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FAD236-8A50-B353-0497-88ADC0A03A70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 dirty="0">
                <a:solidFill>
                  <a:srgbClr val="64748B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C65419D-0430-FCB4-B6A4-FA8AA2B5052C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EE8C998-1CC0-E5A0-7F25-29213026ED41}"/>
              </a:ext>
            </a:extLst>
          </p:cNvPr>
          <p:cNvSpPr/>
          <p:nvPr/>
        </p:nvSpPr>
        <p:spPr>
          <a:xfrm>
            <a:off x="698500" y="1409700"/>
            <a:ext cx="6350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8775819-D7A8-9DF9-1728-C4F7F3808933}"/>
              </a:ext>
            </a:extLst>
          </p:cNvPr>
          <p:cNvSpPr txBox="1"/>
          <p:nvPr/>
        </p:nvSpPr>
        <p:spPr>
          <a:xfrm>
            <a:off x="9652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SCORE MEDIO PER BATCH /21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6CB7A6F-26EF-BE71-1375-B3DE13678C4A}"/>
              </a:ext>
            </a:extLst>
          </p:cNvPr>
          <p:cNvSpPr/>
          <p:nvPr/>
        </p:nvSpPr>
        <p:spPr>
          <a:xfrm>
            <a:off x="4521200" y="16764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FE89F3-6BC2-CFD3-EDAC-801B196679DB}"/>
              </a:ext>
            </a:extLst>
          </p:cNvPr>
          <p:cNvSpPr txBox="1"/>
          <p:nvPr/>
        </p:nvSpPr>
        <p:spPr>
          <a:xfrm>
            <a:off x="47244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9B59B18-DFAF-F056-21F6-D131A8071F56}"/>
              </a:ext>
            </a:extLst>
          </p:cNvPr>
          <p:cNvSpPr/>
          <p:nvPr/>
        </p:nvSpPr>
        <p:spPr>
          <a:xfrm>
            <a:off x="5524500" y="16764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19ED48-1A47-BB9D-3881-2959E244D253}"/>
              </a:ext>
            </a:extLst>
          </p:cNvPr>
          <p:cNvSpPr txBox="1"/>
          <p:nvPr/>
        </p:nvSpPr>
        <p:spPr>
          <a:xfrm>
            <a:off x="57277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dirty="0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1199674-1034-C9E0-78A3-C17BA9E3657F}"/>
              </a:ext>
            </a:extLst>
          </p:cNvPr>
          <p:cNvSpPr txBox="1"/>
          <p:nvPr/>
        </p:nvSpPr>
        <p:spPr>
          <a:xfrm>
            <a:off x="965200" y="22606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7FAE0AE4-EDAA-67C8-D622-3BE165D39C05}"/>
              </a:ext>
            </a:extLst>
          </p:cNvPr>
          <p:cNvSpPr/>
          <p:nvPr/>
        </p:nvSpPr>
        <p:spPr>
          <a:xfrm>
            <a:off x="2349500" y="2133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AF58E584-B448-D7E5-B513-EE66E0DBF3DA}"/>
              </a:ext>
            </a:extLst>
          </p:cNvPr>
          <p:cNvSpPr/>
          <p:nvPr/>
        </p:nvSpPr>
        <p:spPr>
          <a:xfrm>
            <a:off x="2349500" y="2133600"/>
            <a:ext cx="3270166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7832798-1C16-0A30-2870-0F1EA9665A0E}"/>
              </a:ext>
            </a:extLst>
          </p:cNvPr>
          <p:cNvSpPr/>
          <p:nvPr/>
        </p:nvSpPr>
        <p:spPr>
          <a:xfrm>
            <a:off x="2349500" y="23622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93B9313-AF90-8D10-66D3-56CF6D8F723D}"/>
              </a:ext>
            </a:extLst>
          </p:cNvPr>
          <p:cNvSpPr/>
          <p:nvPr/>
        </p:nvSpPr>
        <p:spPr>
          <a:xfrm>
            <a:off x="2349500" y="2362200"/>
            <a:ext cx="3206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FB925C5-82D3-7C11-01D9-3AE692E50F47}"/>
              </a:ext>
            </a:extLst>
          </p:cNvPr>
          <p:cNvSpPr txBox="1"/>
          <p:nvPr/>
        </p:nvSpPr>
        <p:spPr>
          <a:xfrm>
            <a:off x="5969000" y="2095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 dirty="0">
                <a:solidFill>
                  <a:srgbClr val="2563EB"/>
                </a:solidFill>
                <a:latin typeface="Aptos" panose="020B0004020202020204" pitchFamily="34" charset="0"/>
              </a:rPr>
              <a:t>19,31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CCD0FB6-FAAA-9937-FDA0-EBE2D5871292}"/>
              </a:ext>
            </a:extLst>
          </p:cNvPr>
          <p:cNvSpPr txBox="1"/>
          <p:nvPr/>
        </p:nvSpPr>
        <p:spPr>
          <a:xfrm>
            <a:off x="5969000" y="23241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18,94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D9AA1AB-B971-2FB1-B997-43CDE51A5844}"/>
              </a:ext>
            </a:extLst>
          </p:cNvPr>
          <p:cNvSpPr txBox="1"/>
          <p:nvPr/>
        </p:nvSpPr>
        <p:spPr>
          <a:xfrm>
            <a:off x="965200" y="30480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GPT-5.4-mini</a:t>
            </a:r>
            <a:endParaRPr lang="it-IT" sz="105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502E01E-DB52-E948-4731-93FF00145311}"/>
              </a:ext>
            </a:extLst>
          </p:cNvPr>
          <p:cNvSpPr/>
          <p:nvPr/>
        </p:nvSpPr>
        <p:spPr>
          <a:xfrm>
            <a:off x="2349500" y="2921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B853905-C037-B266-27EE-781345C60269}"/>
              </a:ext>
            </a:extLst>
          </p:cNvPr>
          <p:cNvSpPr/>
          <p:nvPr/>
        </p:nvSpPr>
        <p:spPr>
          <a:xfrm>
            <a:off x="2349500" y="2921000"/>
            <a:ext cx="3185499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037B2EE-6502-6004-8DD0-A3B846624DF0}"/>
              </a:ext>
            </a:extLst>
          </p:cNvPr>
          <p:cNvSpPr/>
          <p:nvPr/>
        </p:nvSpPr>
        <p:spPr>
          <a:xfrm>
            <a:off x="2349500" y="3149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1F68EAD1-7345-0422-4C38-149D519F02FF}"/>
              </a:ext>
            </a:extLst>
          </p:cNvPr>
          <p:cNvSpPr/>
          <p:nvPr/>
        </p:nvSpPr>
        <p:spPr>
          <a:xfrm>
            <a:off x="2349500" y="3149600"/>
            <a:ext cx="2942167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1344D22-FB23-ED36-52D9-CFD2D09A847A}"/>
              </a:ext>
            </a:extLst>
          </p:cNvPr>
          <p:cNvSpPr txBox="1"/>
          <p:nvPr/>
        </p:nvSpPr>
        <p:spPr>
          <a:xfrm>
            <a:off x="5969000" y="2882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18,81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9BE0B49-C9DE-6508-83B0-72E85E55E0E5}"/>
              </a:ext>
            </a:extLst>
          </p:cNvPr>
          <p:cNvSpPr txBox="1"/>
          <p:nvPr/>
        </p:nvSpPr>
        <p:spPr>
          <a:xfrm>
            <a:off x="5969000" y="3111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17,38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04D8C58-031C-EEED-699D-7FF52C1E3541}"/>
              </a:ext>
            </a:extLst>
          </p:cNvPr>
          <p:cNvSpPr txBox="1"/>
          <p:nvPr/>
        </p:nvSpPr>
        <p:spPr>
          <a:xfrm>
            <a:off x="965200" y="38354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GPT-5-mini</a:t>
            </a:r>
            <a:endParaRPr lang="it-IT" sz="105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860DCA1B-637A-246B-DFB9-57548515E3AB}"/>
              </a:ext>
            </a:extLst>
          </p:cNvPr>
          <p:cNvSpPr/>
          <p:nvPr/>
        </p:nvSpPr>
        <p:spPr>
          <a:xfrm>
            <a:off x="2349500" y="37084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3829E15E-0106-BD67-8697-72FE642856BD}"/>
              </a:ext>
            </a:extLst>
          </p:cNvPr>
          <p:cNvSpPr/>
          <p:nvPr/>
        </p:nvSpPr>
        <p:spPr>
          <a:xfrm>
            <a:off x="2349500" y="3708400"/>
            <a:ext cx="2995168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BED9D678-89FD-E741-B84D-F91CD0F9732F}"/>
              </a:ext>
            </a:extLst>
          </p:cNvPr>
          <p:cNvSpPr/>
          <p:nvPr/>
        </p:nvSpPr>
        <p:spPr>
          <a:xfrm>
            <a:off x="2349500" y="3937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B9B21F91-F9BE-8D83-53EC-32E5ABBA639F}"/>
              </a:ext>
            </a:extLst>
          </p:cNvPr>
          <p:cNvSpPr/>
          <p:nvPr/>
        </p:nvSpPr>
        <p:spPr>
          <a:xfrm>
            <a:off x="2349500" y="3937000"/>
            <a:ext cx="2952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7B8FF92-EBC1-ACA5-CD5E-4F02E5DAB6D1}"/>
              </a:ext>
            </a:extLst>
          </p:cNvPr>
          <p:cNvSpPr txBox="1"/>
          <p:nvPr/>
        </p:nvSpPr>
        <p:spPr>
          <a:xfrm>
            <a:off x="5969000" y="36703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17,69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478240D-DCAE-6F44-3144-43437735292D}"/>
              </a:ext>
            </a:extLst>
          </p:cNvPr>
          <p:cNvSpPr txBox="1"/>
          <p:nvPr/>
        </p:nvSpPr>
        <p:spPr>
          <a:xfrm>
            <a:off x="5969000" y="3898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17,44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20B06D1-1F20-EDB9-B1EF-913991123C0F}"/>
              </a:ext>
            </a:extLst>
          </p:cNvPr>
          <p:cNvSpPr txBox="1"/>
          <p:nvPr/>
        </p:nvSpPr>
        <p:spPr>
          <a:xfrm>
            <a:off x="23241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E0C0FF8-2091-4854-C437-8EA411B2B817}"/>
              </a:ext>
            </a:extLst>
          </p:cNvPr>
          <p:cNvSpPr txBox="1"/>
          <p:nvPr/>
        </p:nvSpPr>
        <p:spPr>
          <a:xfrm>
            <a:off x="34544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7E8351C-CD08-3D6D-458D-C0327924D7CE}"/>
              </a:ext>
            </a:extLst>
          </p:cNvPr>
          <p:cNvSpPr txBox="1"/>
          <p:nvPr/>
        </p:nvSpPr>
        <p:spPr>
          <a:xfrm>
            <a:off x="4635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E2DCED1-C6DB-859F-C8F3-A618FE4DD4F5}"/>
              </a:ext>
            </a:extLst>
          </p:cNvPr>
          <p:cNvSpPr txBox="1"/>
          <p:nvPr/>
        </p:nvSpPr>
        <p:spPr>
          <a:xfrm>
            <a:off x="5778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023632D-FFFF-DBE7-E8D9-FD518EAD36E6}"/>
              </a:ext>
            </a:extLst>
          </p:cNvPr>
          <p:cNvSpPr txBox="1"/>
          <p:nvPr/>
        </p:nvSpPr>
        <p:spPr>
          <a:xfrm>
            <a:off x="965200" y="4699000"/>
            <a:ext cx="565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 b="1">
                <a:solidFill>
                  <a:srgbClr val="64748B"/>
                </a:solidFill>
                <a:latin typeface="Aptos" panose="020B0004020202020204" pitchFamily="34" charset="0"/>
              </a:rPr>
              <a:t>GPT-5.4 resta primo; i due modelli mini sono vicini e si scambiano l'ordine nel batch v2.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EF4A7417-5772-BE0B-DC1C-3A076DD204F6}"/>
              </a:ext>
            </a:extLst>
          </p:cNvPr>
          <p:cNvSpPr/>
          <p:nvPr/>
        </p:nvSpPr>
        <p:spPr>
          <a:xfrm>
            <a:off x="7302500" y="1409700"/>
            <a:ext cx="4191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A8B4626-C8A8-35B7-76CE-D38691E263A3}"/>
              </a:ext>
            </a:extLst>
          </p:cNvPr>
          <p:cNvSpPr txBox="1"/>
          <p:nvPr/>
        </p:nvSpPr>
        <p:spPr>
          <a:xfrm>
            <a:off x="75438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MEDIA COMPLESSIVA V1 + V2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D6BD605-AD0D-6BC4-9746-1C81E781C909}"/>
              </a:ext>
            </a:extLst>
          </p:cNvPr>
          <p:cNvSpPr/>
          <p:nvPr/>
        </p:nvSpPr>
        <p:spPr>
          <a:xfrm>
            <a:off x="7543800" y="2006600"/>
            <a:ext cx="11557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Modello</a:t>
            </a:r>
            <a:endParaRPr lang="it-IT" sz="84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256585AD-CBB0-3513-F106-4BB036648BFD}"/>
              </a:ext>
            </a:extLst>
          </p:cNvPr>
          <p:cNvSpPr/>
          <p:nvPr/>
        </p:nvSpPr>
        <p:spPr>
          <a:xfrm>
            <a:off x="8699500" y="2006600"/>
            <a:ext cx="6985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Score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A72C8400-E4B7-9189-20CC-660AA240AEB8}"/>
              </a:ext>
            </a:extLst>
          </p:cNvPr>
          <p:cNvSpPr/>
          <p:nvPr/>
        </p:nvSpPr>
        <p:spPr>
          <a:xfrm>
            <a:off x="93980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1D1F2AA4-23E3-2732-E652-800C16FA6F1D}"/>
              </a:ext>
            </a:extLst>
          </p:cNvPr>
          <p:cNvSpPr/>
          <p:nvPr/>
        </p:nvSpPr>
        <p:spPr>
          <a:xfrm>
            <a:off x="100076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F5DCC475-99AE-5E3E-D2E2-A6CD5A759A34}"/>
              </a:ext>
            </a:extLst>
          </p:cNvPr>
          <p:cNvSpPr/>
          <p:nvPr/>
        </p:nvSpPr>
        <p:spPr>
          <a:xfrm>
            <a:off x="10617200" y="2006600"/>
            <a:ext cx="8763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A582C32-00D4-63C2-A2F4-5F7B5CF15F75}"/>
              </a:ext>
            </a:extLst>
          </p:cNvPr>
          <p:cNvSpPr/>
          <p:nvPr/>
        </p:nvSpPr>
        <p:spPr>
          <a:xfrm>
            <a:off x="7543800" y="2298700"/>
            <a:ext cx="11557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  <a:endParaRPr lang="it-IT" sz="84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B5EAECB8-72FA-3D51-A5D7-B0E2096247A0}"/>
              </a:ext>
            </a:extLst>
          </p:cNvPr>
          <p:cNvSpPr/>
          <p:nvPr/>
        </p:nvSpPr>
        <p:spPr>
          <a:xfrm>
            <a:off x="8699500" y="2298700"/>
            <a:ext cx="6985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19,13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C60A8661-5BF9-30EB-B0EC-45059DFF6627}"/>
              </a:ext>
            </a:extLst>
          </p:cNvPr>
          <p:cNvSpPr/>
          <p:nvPr/>
        </p:nvSpPr>
        <p:spPr>
          <a:xfrm>
            <a:off x="93980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78,1%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5987624-A86B-9C78-91F9-7FA55453DCC7}"/>
              </a:ext>
            </a:extLst>
          </p:cNvPr>
          <p:cNvSpPr/>
          <p:nvPr/>
        </p:nvSpPr>
        <p:spPr>
          <a:xfrm>
            <a:off x="100076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90,6%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BA6F085C-EF6D-4691-9AFD-BF3F57880740}"/>
              </a:ext>
            </a:extLst>
          </p:cNvPr>
          <p:cNvSpPr/>
          <p:nvPr/>
        </p:nvSpPr>
        <p:spPr>
          <a:xfrm>
            <a:off x="10617200" y="2298700"/>
            <a:ext cx="8763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$0,0716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FE9D3D32-80D0-DD49-B229-FA22B7F8CC4D}"/>
              </a:ext>
            </a:extLst>
          </p:cNvPr>
          <p:cNvSpPr/>
          <p:nvPr/>
        </p:nvSpPr>
        <p:spPr>
          <a:xfrm>
            <a:off x="7543800" y="2743200"/>
            <a:ext cx="11557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5.4-mini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627D53F-C1AB-3BA5-550F-DC0256B4D5AD}"/>
              </a:ext>
            </a:extLst>
          </p:cNvPr>
          <p:cNvSpPr/>
          <p:nvPr/>
        </p:nvSpPr>
        <p:spPr>
          <a:xfrm>
            <a:off x="8699500" y="2743200"/>
            <a:ext cx="6985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18,09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1CF94FDB-D969-0F79-31A7-DA33D5A71165}"/>
              </a:ext>
            </a:extLst>
          </p:cNvPr>
          <p:cNvSpPr/>
          <p:nvPr/>
        </p:nvSpPr>
        <p:spPr>
          <a:xfrm>
            <a:off x="93980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84,4%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6BBE9829-A181-4D63-94F3-8D9D7812BAB9}"/>
              </a:ext>
            </a:extLst>
          </p:cNvPr>
          <p:cNvSpPr/>
          <p:nvPr/>
        </p:nvSpPr>
        <p:spPr>
          <a:xfrm>
            <a:off x="100076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90,6</a:t>
            </a:r>
            <a:r>
              <a:rPr lang="it-IT" sz="840" b="1" dirty="0">
                <a:solidFill>
                  <a:srgbClr val="334155"/>
                </a:solidFill>
                <a:latin typeface="Aptos" panose="020B0004020202020204" pitchFamily="34" charset="0"/>
              </a:rPr>
              <a:t>%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2A6DA8F6-7F0A-6D5B-F91D-793CF7917E70}"/>
              </a:ext>
            </a:extLst>
          </p:cNvPr>
          <p:cNvSpPr/>
          <p:nvPr/>
        </p:nvSpPr>
        <p:spPr>
          <a:xfrm>
            <a:off x="10617200" y="2743200"/>
            <a:ext cx="8763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$0,0171</a:t>
            </a:r>
            <a:endParaRPr lang="it-IT" sz="84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2B25958-E540-C426-37E5-54919CF97856}"/>
              </a:ext>
            </a:extLst>
          </p:cNvPr>
          <p:cNvSpPr/>
          <p:nvPr/>
        </p:nvSpPr>
        <p:spPr>
          <a:xfrm>
            <a:off x="7543800" y="3187700"/>
            <a:ext cx="11557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5-mini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F9C66AE5-53DE-33E6-99B4-E18B338B875A}"/>
              </a:ext>
            </a:extLst>
          </p:cNvPr>
          <p:cNvSpPr/>
          <p:nvPr/>
        </p:nvSpPr>
        <p:spPr>
          <a:xfrm>
            <a:off x="8699500" y="3187700"/>
            <a:ext cx="6985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17,56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7B71CFE7-4451-7BB8-FF54-53E028A3C8EF}"/>
              </a:ext>
            </a:extLst>
          </p:cNvPr>
          <p:cNvSpPr/>
          <p:nvPr/>
        </p:nvSpPr>
        <p:spPr>
          <a:xfrm>
            <a:off x="93980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62,5%</a:t>
            </a:r>
            <a:endParaRPr lang="it-IT" sz="840" b="1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73038CB1-08D3-E554-D3C8-DA88ECFC2C86}"/>
              </a:ext>
            </a:extLst>
          </p:cNvPr>
          <p:cNvSpPr/>
          <p:nvPr/>
        </p:nvSpPr>
        <p:spPr>
          <a:xfrm>
            <a:off x="100076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96,9%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BC9CB96-C077-932C-49A7-ADEB1CFD0719}"/>
              </a:ext>
            </a:extLst>
          </p:cNvPr>
          <p:cNvSpPr/>
          <p:nvPr/>
        </p:nvSpPr>
        <p:spPr>
          <a:xfrm>
            <a:off x="10617200" y="3187700"/>
            <a:ext cx="8763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$0,0082</a:t>
            </a:r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C679BE6-ADFD-46B4-32E1-E617380570A6}"/>
              </a:ext>
            </a:extLst>
          </p:cNvPr>
          <p:cNvSpPr/>
          <p:nvPr/>
        </p:nvSpPr>
        <p:spPr>
          <a:xfrm>
            <a:off x="7543800" y="3797300"/>
            <a:ext cx="37084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E1911042-CBF7-CDC9-88B3-43449794E831}"/>
              </a:ext>
            </a:extLst>
          </p:cNvPr>
          <p:cNvSpPr txBox="1"/>
          <p:nvPr/>
        </p:nvSpPr>
        <p:spPr>
          <a:xfrm>
            <a:off x="7747000" y="3962400"/>
            <a:ext cx="165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059669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E1BCA0F3-83CE-FA99-30A8-EFFB340983C3}"/>
              </a:ext>
            </a:extLst>
          </p:cNvPr>
          <p:cNvSpPr txBox="1"/>
          <p:nvPr/>
        </p:nvSpPr>
        <p:spPr>
          <a:xfrm>
            <a:off x="7747000" y="4267200"/>
            <a:ext cx="3175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 dirty="0">
                <a:solidFill>
                  <a:srgbClr val="334155"/>
                </a:solidFill>
                <a:latin typeface="Aptos" panose="020B0004020202020204" pitchFamily="34" charset="0"/>
              </a:rPr>
              <a:t>− 1,03 punti rispetto a GPT-5.4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4FDBDE77-F84B-77A8-1C94-0B130BB9A02F}"/>
              </a:ext>
            </a:extLst>
          </p:cNvPr>
          <p:cNvSpPr txBox="1"/>
          <p:nvPr/>
        </p:nvSpPr>
        <p:spPr>
          <a:xfrm>
            <a:off x="7747000" y="4495800"/>
            <a:ext cx="327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00" dirty="0">
                <a:solidFill>
                  <a:srgbClr val="334155"/>
                </a:solidFill>
                <a:latin typeface="Aptos" panose="020B0004020202020204" pitchFamily="34" charset="0"/>
              </a:rPr>
              <a:t>circa 76% di costo in meno · Top-1 più alta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76CA0EB2-3592-709D-4853-1B8FBBFE2392}"/>
              </a:ext>
            </a:extLst>
          </p:cNvPr>
          <p:cNvSpPr/>
          <p:nvPr/>
        </p:nvSpPr>
        <p:spPr>
          <a:xfrm>
            <a:off x="698500" y="5181600"/>
            <a:ext cx="10795000" cy="939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E46B2C69-0CC6-2598-0B47-C2FA661962A6}"/>
              </a:ext>
            </a:extLst>
          </p:cNvPr>
          <p:cNvSpPr txBox="1"/>
          <p:nvPr/>
        </p:nvSpPr>
        <p:spPr>
          <a:xfrm>
            <a:off x="952500" y="5384800"/>
            <a:ext cx="165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70" b="1">
                <a:solidFill>
                  <a:srgbClr val="059669"/>
                </a:solidFill>
                <a:latin typeface="Aptos" panose="020B0004020202020204" pitchFamily="34" charset="0"/>
              </a:rPr>
              <a:t>LETTURA FINALE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371F1C26-E2E8-4328-6817-8CABFD79D712}"/>
              </a:ext>
            </a:extLst>
          </p:cNvPr>
          <p:cNvSpPr txBox="1"/>
          <p:nvPr/>
        </p:nvSpPr>
        <p:spPr>
          <a:xfrm>
            <a:off x="2540000" y="5321300"/>
            <a:ext cx="8636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GPT-5.4 massimizza la qualità. GPT-5.4-mini è il miglior equilibrio qualità/costo. GPT-5-mini costa ancora meno e raggiunge la Top-3 più alta, ma ordina peggio la causa principale.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BDFBE85C-1777-73E5-5EF9-405C7F426BF8}"/>
              </a:ext>
            </a:extLst>
          </p:cNvPr>
          <p:cNvSpPr txBox="1"/>
          <p:nvPr/>
        </p:nvSpPr>
        <p:spPr>
          <a:xfrm>
            <a:off x="2540000" y="5854700"/>
            <a:ext cx="863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00" dirty="0">
                <a:solidFill>
                  <a:srgbClr val="64748B"/>
                </a:solidFill>
                <a:latin typeface="Aptos" panose="020B0004020202020204" pitchFamily="34" charset="0"/>
              </a:rPr>
              <a:t>Costo medio del solo modello generativo; costo del </a:t>
            </a:r>
            <a:r>
              <a:rPr lang="it-IT" sz="1000" dirty="0" err="1">
                <a:solidFill>
                  <a:srgbClr val="64748B"/>
                </a:solidFill>
                <a:latin typeface="Aptos" panose="020B0004020202020204" pitchFamily="34" charset="0"/>
              </a:rPr>
              <a:t>judge</a:t>
            </a:r>
            <a:r>
              <a:rPr lang="it-IT" sz="1000" dirty="0">
                <a:solidFill>
                  <a:srgbClr val="64748B"/>
                </a:solidFill>
                <a:latin typeface="Aptos" panose="020B0004020202020204" pitchFamily="34" charset="0"/>
              </a:rPr>
              <a:t> escluso.</a:t>
            </a:r>
          </a:p>
        </p:txBody>
      </p:sp>
    </p:spTree>
    <p:extLst>
      <p:ext uri="{BB962C8B-B14F-4D97-AF65-F5344CB8AC3E}">
        <p14:creationId xmlns:p14="http://schemas.microsoft.com/office/powerpoint/2010/main" val="4294886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Verifica complessiva della Pipeline 1.0</a:t>
            </a:r>
            <a:endParaRPr lang="en-US" sz="2800" b="1" dirty="0">
              <a:solidFill>
                <a:srgbClr val="0B132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Fedeltà image → graph e utilità diagnostica: risultati aggregati</a:t>
            </a:r>
            <a:endParaRPr lang="en-US" sz="125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563B3237-23C4-6D27-CB02-E4254566D6D0}"/>
              </a:ext>
            </a:extLst>
          </p:cNvPr>
          <p:cNvSpPr/>
          <p:nvPr/>
        </p:nvSpPr>
        <p:spPr>
          <a:xfrm>
            <a:off x="698500" y="1422400"/>
            <a:ext cx="4953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641E83-0031-713B-38B4-B3937C742FE3}"/>
              </a:ext>
            </a:extLst>
          </p:cNvPr>
          <p:cNvSpPr txBox="1"/>
          <p:nvPr/>
        </p:nvSpPr>
        <p:spPr>
          <a:xfrm>
            <a:off x="965200" y="1651000"/>
            <a:ext cx="400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150" b="1" dirty="0">
                <a:solidFill>
                  <a:srgbClr val="059669"/>
                </a:solidFill>
                <a:latin typeface="Aptos" panose="020B0004020202020204" pitchFamily="34" charset="0"/>
              </a:rPr>
              <a:t>FEDELTÀ IMAGE → GRAPH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99D52C7-546B-97CF-0D01-EFFE38E01800}"/>
              </a:ext>
            </a:extLst>
          </p:cNvPr>
          <p:cNvSpPr txBox="1"/>
          <p:nvPr/>
        </p:nvSpPr>
        <p:spPr>
          <a:xfrm>
            <a:off x="965200" y="2006600"/>
            <a:ext cx="3302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per batch /100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50DC4B3-12D5-7924-B22C-F81B84CCA2DD}"/>
              </a:ext>
            </a:extLst>
          </p:cNvPr>
          <p:cNvSpPr txBox="1"/>
          <p:nvPr/>
        </p:nvSpPr>
        <p:spPr>
          <a:xfrm>
            <a:off x="990600" y="2476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96F7659-447B-BA67-5FD6-603205C17BF5}"/>
              </a:ext>
            </a:extLst>
          </p:cNvPr>
          <p:cNvSpPr/>
          <p:nvPr/>
        </p:nvSpPr>
        <p:spPr>
          <a:xfrm>
            <a:off x="1485900" y="2489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6B3CB62-424F-E0CA-77D8-34DF8438EA42}"/>
              </a:ext>
            </a:extLst>
          </p:cNvPr>
          <p:cNvSpPr/>
          <p:nvPr/>
        </p:nvSpPr>
        <p:spPr>
          <a:xfrm>
            <a:off x="1485900" y="2489200"/>
            <a:ext cx="2775585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B190AD6-6DA1-00DC-DE92-0F4212EAAA6F}"/>
              </a:ext>
            </a:extLst>
          </p:cNvPr>
          <p:cNvSpPr txBox="1"/>
          <p:nvPr/>
        </p:nvSpPr>
        <p:spPr>
          <a:xfrm>
            <a:off x="4584700" y="2476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DF14363-0589-0E70-7D43-87E21C05DDD4}"/>
              </a:ext>
            </a:extLst>
          </p:cNvPr>
          <p:cNvSpPr txBox="1"/>
          <p:nvPr/>
        </p:nvSpPr>
        <p:spPr>
          <a:xfrm>
            <a:off x="990600" y="2857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F127AC0D-61CA-CD1D-6E54-596D7F696ED9}"/>
              </a:ext>
            </a:extLst>
          </p:cNvPr>
          <p:cNvSpPr/>
          <p:nvPr/>
        </p:nvSpPr>
        <p:spPr>
          <a:xfrm>
            <a:off x="1485900" y="2870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5BF43699-4A53-3D75-CFB9-E4144525FB8B}"/>
              </a:ext>
            </a:extLst>
          </p:cNvPr>
          <p:cNvSpPr/>
          <p:nvPr/>
        </p:nvSpPr>
        <p:spPr>
          <a:xfrm>
            <a:off x="1485900" y="2870200"/>
            <a:ext cx="2671128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EC26E3B-A3C0-E6E5-022A-C916324E86DA}"/>
              </a:ext>
            </a:extLst>
          </p:cNvPr>
          <p:cNvSpPr txBox="1"/>
          <p:nvPr/>
        </p:nvSpPr>
        <p:spPr>
          <a:xfrm>
            <a:off x="4584700" y="2857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89,5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A4B033A7-BE0C-807A-F63D-8E57A5AD49F2}"/>
              </a:ext>
            </a:extLst>
          </p:cNvPr>
          <p:cNvSpPr txBox="1"/>
          <p:nvPr/>
        </p:nvSpPr>
        <p:spPr>
          <a:xfrm>
            <a:off x="990600" y="3238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C1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3AF63C32-29D2-5CF9-AB04-F2AF4EFCF25B}"/>
              </a:ext>
            </a:extLst>
          </p:cNvPr>
          <p:cNvSpPr/>
          <p:nvPr/>
        </p:nvSpPr>
        <p:spPr>
          <a:xfrm>
            <a:off x="1485900" y="3251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BF156DAC-0C94-EDC1-BB56-0FE27020E497}"/>
              </a:ext>
            </a:extLst>
          </p:cNvPr>
          <p:cNvSpPr/>
          <p:nvPr/>
        </p:nvSpPr>
        <p:spPr>
          <a:xfrm>
            <a:off x="1485900" y="3251200"/>
            <a:ext cx="2793492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AC96712-79A0-935D-2135-176DA3B8F3CD}"/>
              </a:ext>
            </a:extLst>
          </p:cNvPr>
          <p:cNvSpPr txBox="1"/>
          <p:nvPr/>
        </p:nvSpPr>
        <p:spPr>
          <a:xfrm>
            <a:off x="4584700" y="3238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27C1D39-12FC-7359-4BAF-0E8C5BF23512}"/>
              </a:ext>
            </a:extLst>
          </p:cNvPr>
          <p:cNvSpPr txBox="1"/>
          <p:nvPr/>
        </p:nvSpPr>
        <p:spPr>
          <a:xfrm>
            <a:off x="990600" y="3619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C2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0252801B-30CF-939A-3B46-5711F1E66A5A}"/>
              </a:ext>
            </a:extLst>
          </p:cNvPr>
          <p:cNvSpPr/>
          <p:nvPr/>
        </p:nvSpPr>
        <p:spPr>
          <a:xfrm>
            <a:off x="1485900" y="3632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02A96BE1-83E6-1C71-0118-E55A42A82E8A}"/>
              </a:ext>
            </a:extLst>
          </p:cNvPr>
          <p:cNvSpPr/>
          <p:nvPr/>
        </p:nvSpPr>
        <p:spPr>
          <a:xfrm>
            <a:off x="1485900" y="3632200"/>
            <a:ext cx="2794089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2C5790B-F1D7-A3AB-8A50-8FA0A02B1A17}"/>
              </a:ext>
            </a:extLst>
          </p:cNvPr>
          <p:cNvSpPr txBox="1"/>
          <p:nvPr/>
        </p:nvSpPr>
        <p:spPr>
          <a:xfrm>
            <a:off x="4584700" y="3619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1027DD39-B1EE-966C-4815-16BEBC3A1C2F}"/>
              </a:ext>
            </a:extLst>
          </p:cNvPr>
          <p:cNvSpPr/>
          <p:nvPr/>
        </p:nvSpPr>
        <p:spPr>
          <a:xfrm>
            <a:off x="965200" y="4178300"/>
            <a:ext cx="1625600" cy="3175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92,4/100 media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0BA636A1-2CA8-CF5D-7948-952B06E2D5CE}"/>
              </a:ext>
            </a:extLst>
          </p:cNvPr>
          <p:cNvSpPr/>
          <p:nvPr/>
        </p:nvSpPr>
        <p:spPr>
          <a:xfrm>
            <a:off x="2717799" y="4178300"/>
            <a:ext cx="1562189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38/38 usabili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A93DA06-133E-5514-19B3-3FD0E5099CD5}"/>
              </a:ext>
            </a:extLst>
          </p:cNvPr>
          <p:cNvSpPr txBox="1"/>
          <p:nvPr/>
        </p:nvSpPr>
        <p:spPr>
          <a:xfrm>
            <a:off x="965200" y="4660900"/>
            <a:ext cx="4127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64748B"/>
                </a:solidFill>
                <a:latin typeface="Aptos" panose="020B0004020202020204" pitchFamily="34" charset="0"/>
              </a:rPr>
              <a:t>32 VERY HIGH · 4 HIGH · 2 MEDIUM · 0 LOW</a:t>
            </a:r>
            <a:endParaRPr lang="it-IT" sz="95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B2567A81-1A96-22EE-0248-CC1F84284E8D}"/>
              </a:ext>
            </a:extLst>
          </p:cNvPr>
          <p:cNvSpPr/>
          <p:nvPr/>
        </p:nvSpPr>
        <p:spPr>
          <a:xfrm>
            <a:off x="6032500" y="1422400"/>
            <a:ext cx="5461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76D44932-8501-CCBA-EF37-16E0D86C0BCF}"/>
              </a:ext>
            </a:extLst>
          </p:cNvPr>
          <p:cNvSpPr txBox="1"/>
          <p:nvPr/>
        </p:nvSpPr>
        <p:spPr>
          <a:xfrm>
            <a:off x="6591300" y="1651000"/>
            <a:ext cx="4343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150" b="1" dirty="0">
                <a:solidFill>
                  <a:srgbClr val="059669"/>
                </a:solidFill>
                <a:latin typeface="Aptos" panose="020B0004020202020204" pitchFamily="34" charset="0"/>
              </a:rPr>
              <a:t>DIAGNOSI: QUANTO AGGIUNGE L'IMMAGINE?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50897D3E-BDFA-337A-6958-624A31E7D6BA}"/>
              </a:ext>
            </a:extLst>
          </p:cNvPr>
          <p:cNvSpPr txBox="1"/>
          <p:nvPr/>
        </p:nvSpPr>
        <p:spPr>
          <a:xfrm>
            <a:off x="6324600" y="2006600"/>
            <a:ext cx="2286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/21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74011EB3-6B9A-FB67-B930-D90F47A8BD71}"/>
              </a:ext>
            </a:extLst>
          </p:cNvPr>
          <p:cNvSpPr/>
          <p:nvPr/>
        </p:nvSpPr>
        <p:spPr>
          <a:xfrm>
            <a:off x="10375900" y="1917700"/>
            <a:ext cx="812800" cy="3048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60" b="1">
                <a:solidFill>
                  <a:srgbClr val="FFFFFF"/>
                </a:solidFill>
                <a:latin typeface="Aptos" panose="020B0004020202020204" pitchFamily="34" charset="0"/>
              </a:rPr>
              <a:t>256 run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934E19E-DD58-1E58-98F0-290161BF525F}"/>
              </a:ext>
            </a:extLst>
          </p:cNvPr>
          <p:cNvSpPr/>
          <p:nvPr/>
        </p:nvSpPr>
        <p:spPr>
          <a:xfrm>
            <a:off x="6324600" y="23876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DCE44197-28BA-D7C5-E502-6C850DC907EC}"/>
              </a:ext>
            </a:extLst>
          </p:cNvPr>
          <p:cNvSpPr txBox="1"/>
          <p:nvPr/>
        </p:nvSpPr>
        <p:spPr>
          <a:xfrm>
            <a:off x="6527800" y="2349500"/>
            <a:ext cx="1422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55" name="Rettangolo con angoli arrotondati 54">
            <a:extLst>
              <a:ext uri="{FF2B5EF4-FFF2-40B4-BE49-F238E27FC236}">
                <a16:creationId xmlns:a16="http://schemas.microsoft.com/office/drawing/2014/main" id="{178C6A10-FC7C-2F40-8A42-133052CDB94F}"/>
              </a:ext>
            </a:extLst>
          </p:cNvPr>
          <p:cNvSpPr/>
          <p:nvPr/>
        </p:nvSpPr>
        <p:spPr>
          <a:xfrm>
            <a:off x="8140700" y="23876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764154B8-C77E-31B1-CF25-EFE2EB54E318}"/>
              </a:ext>
            </a:extLst>
          </p:cNvPr>
          <p:cNvSpPr txBox="1"/>
          <p:nvPr/>
        </p:nvSpPr>
        <p:spPr>
          <a:xfrm>
            <a:off x="8343900" y="2349500"/>
            <a:ext cx="1473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immagine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7E639CD-38A0-6B22-1FEA-63D36EBEF7DA}"/>
              </a:ext>
            </a:extLst>
          </p:cNvPr>
          <p:cNvSpPr txBox="1"/>
          <p:nvPr/>
        </p:nvSpPr>
        <p:spPr>
          <a:xfrm>
            <a:off x="6477000" y="28321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4034F87B-9B90-7D6A-EE2B-6042BCF63E99}"/>
              </a:ext>
            </a:extLst>
          </p:cNvPr>
          <p:cNvSpPr/>
          <p:nvPr/>
        </p:nvSpPr>
        <p:spPr>
          <a:xfrm>
            <a:off x="7353300" y="27686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F0877D3B-ED9D-9A8F-568D-2DCFBEDF765C}"/>
              </a:ext>
            </a:extLst>
          </p:cNvPr>
          <p:cNvSpPr/>
          <p:nvPr/>
        </p:nvSpPr>
        <p:spPr>
          <a:xfrm>
            <a:off x="7353300" y="2768600"/>
            <a:ext cx="2511625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EABF8476-CD6F-47BF-E0CF-EAA28381DD73}"/>
              </a:ext>
            </a:extLst>
          </p:cNvPr>
          <p:cNvSpPr/>
          <p:nvPr/>
        </p:nvSpPr>
        <p:spPr>
          <a:xfrm>
            <a:off x="7353300" y="29845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con angoli arrotondati 60">
            <a:extLst>
              <a:ext uri="{FF2B5EF4-FFF2-40B4-BE49-F238E27FC236}">
                <a16:creationId xmlns:a16="http://schemas.microsoft.com/office/drawing/2014/main" id="{24635DFF-20E4-B2AE-F2A4-7049B5E232ED}"/>
              </a:ext>
            </a:extLst>
          </p:cNvPr>
          <p:cNvSpPr/>
          <p:nvPr/>
        </p:nvSpPr>
        <p:spPr>
          <a:xfrm>
            <a:off x="7353300" y="2984500"/>
            <a:ext cx="2554254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7E189C78-692F-883C-1A86-ADA345CD294A}"/>
              </a:ext>
            </a:extLst>
          </p:cNvPr>
          <p:cNvSpPr txBox="1"/>
          <p:nvPr/>
        </p:nvSpPr>
        <p:spPr>
          <a:xfrm>
            <a:off x="10782300" y="27305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15,67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44298627-517B-F4FF-C85A-72FC33C4D2F6}"/>
              </a:ext>
            </a:extLst>
          </p:cNvPr>
          <p:cNvSpPr txBox="1"/>
          <p:nvPr/>
        </p:nvSpPr>
        <p:spPr>
          <a:xfrm>
            <a:off x="10782300" y="29464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15,94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827CB9ED-3B5A-95BF-F325-CAF8725BDEB2}"/>
              </a:ext>
            </a:extLst>
          </p:cNvPr>
          <p:cNvSpPr txBox="1"/>
          <p:nvPr/>
        </p:nvSpPr>
        <p:spPr>
          <a:xfrm>
            <a:off x="6477000" y="35179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53D98B56-7FE0-A94F-3606-1C9903256E0D}"/>
              </a:ext>
            </a:extLst>
          </p:cNvPr>
          <p:cNvSpPr/>
          <p:nvPr/>
        </p:nvSpPr>
        <p:spPr>
          <a:xfrm>
            <a:off x="7353300" y="34544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18CB89E6-CBAC-B192-A98F-25D02495FBDE}"/>
              </a:ext>
            </a:extLst>
          </p:cNvPr>
          <p:cNvSpPr/>
          <p:nvPr/>
        </p:nvSpPr>
        <p:spPr>
          <a:xfrm>
            <a:off x="7353300" y="3454400"/>
            <a:ext cx="2393992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BBBE00AF-E8AC-6E75-7691-2039D0166099}"/>
              </a:ext>
            </a:extLst>
          </p:cNvPr>
          <p:cNvSpPr/>
          <p:nvPr/>
        </p:nvSpPr>
        <p:spPr>
          <a:xfrm>
            <a:off x="7353300" y="36703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9D8C2CF8-270B-4EF5-2404-2894AF628812}"/>
              </a:ext>
            </a:extLst>
          </p:cNvPr>
          <p:cNvSpPr/>
          <p:nvPr/>
        </p:nvSpPr>
        <p:spPr>
          <a:xfrm>
            <a:off x="7353300" y="3670300"/>
            <a:ext cx="245393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E79ED1C0-90DC-56AF-94DF-3FEC4E117756}"/>
              </a:ext>
            </a:extLst>
          </p:cNvPr>
          <p:cNvSpPr txBox="1"/>
          <p:nvPr/>
        </p:nvSpPr>
        <p:spPr>
          <a:xfrm>
            <a:off x="10782300" y="34163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14,94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FF1AE0A-9D34-FBD0-ED28-F16784BE6B33}"/>
              </a:ext>
            </a:extLst>
          </p:cNvPr>
          <p:cNvSpPr txBox="1"/>
          <p:nvPr/>
        </p:nvSpPr>
        <p:spPr>
          <a:xfrm>
            <a:off x="10782300" y="36322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15,31</a:t>
            </a:r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2F3AD73B-16BF-B404-794B-BA17451F5942}"/>
              </a:ext>
            </a:extLst>
          </p:cNvPr>
          <p:cNvSpPr/>
          <p:nvPr/>
        </p:nvSpPr>
        <p:spPr>
          <a:xfrm>
            <a:off x="6350000" y="4165600"/>
            <a:ext cx="1549400" cy="3175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Delta score +0,32</a:t>
            </a:r>
          </a:p>
        </p:txBody>
      </p: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B05FA1EC-83AA-9484-6FBB-33BCA088667C}"/>
              </a:ext>
            </a:extLst>
          </p:cNvPr>
          <p:cNvSpPr/>
          <p:nvPr/>
        </p:nvSpPr>
        <p:spPr>
          <a:xfrm>
            <a:off x="8026400" y="4165600"/>
            <a:ext cx="14097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Top-1 +3,9 pp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7FD676F9-8600-EBFC-68DC-FAA071B361DC}"/>
              </a:ext>
            </a:extLst>
          </p:cNvPr>
          <p:cNvSpPr/>
          <p:nvPr/>
        </p:nvSpPr>
        <p:spPr>
          <a:xfrm>
            <a:off x="9563100" y="4165600"/>
            <a:ext cx="1422400" cy="3175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Top-3 85,2%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A4019C4E-8A98-19DC-1F35-210006544C80}"/>
              </a:ext>
            </a:extLst>
          </p:cNvPr>
          <p:cNvSpPr txBox="1"/>
          <p:nvPr/>
        </p:nvSpPr>
        <p:spPr>
          <a:xfrm>
            <a:off x="6350000" y="4660900"/>
            <a:ext cx="4635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40" b="1">
                <a:solidFill>
                  <a:srgbClr val="64748B"/>
                </a:solidFill>
                <a:latin typeface="Aptos" panose="020B0004020202020204" pitchFamily="34" charset="0"/>
              </a:rPr>
              <a:t>Lo score cresce poco: il contributo visivo dipende dal circuito e dal modello.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8FFDF4D2-5964-7EB3-6E25-93C35FAEF1C7}"/>
              </a:ext>
            </a:extLst>
          </p:cNvPr>
          <p:cNvSpPr/>
          <p:nvPr/>
        </p:nvSpPr>
        <p:spPr>
          <a:xfrm>
            <a:off x="698500" y="5181600"/>
            <a:ext cx="10795000" cy="73659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9C7973DD-8FA8-D61A-2D9B-583CABAFA928}"/>
              </a:ext>
            </a:extLst>
          </p:cNvPr>
          <p:cNvSpPr txBox="1"/>
          <p:nvPr/>
        </p:nvSpPr>
        <p:spPr>
          <a:xfrm>
            <a:off x="952500" y="5372100"/>
            <a:ext cx="18161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059669"/>
                </a:solidFill>
                <a:latin typeface="Aptos" panose="020B0004020202020204" pitchFamily="34" charset="0"/>
              </a:rPr>
              <a:t>MESSAGGIO CHIAVE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1B26D752-5BFD-D8F6-9AED-28FA7C3039DA}"/>
              </a:ext>
            </a:extLst>
          </p:cNvPr>
          <p:cNvSpPr txBox="1"/>
          <p:nvPr/>
        </p:nvSpPr>
        <p:spPr>
          <a:xfrm>
            <a:off x="2705100" y="5321300"/>
            <a:ext cx="845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Il Graph JSON conserva già gran parte dell'informazione necessaria al </a:t>
            </a:r>
            <a:r>
              <a:rPr lang="it-IT" sz="1200" b="1" dirty="0" err="1">
                <a:solidFill>
                  <a:srgbClr val="334155"/>
                </a:solidFill>
                <a:latin typeface="Aptos" panose="020B0004020202020204" pitchFamily="34" charset="0"/>
              </a:rPr>
              <a:t>troubleshooting</a:t>
            </a:r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. </a:t>
            </a:r>
          </a:p>
          <a:p>
            <a:r>
              <a:rPr lang="it-IT" sz="1200" b="1" dirty="0">
                <a:solidFill>
                  <a:srgbClr val="334155"/>
                </a:solidFill>
                <a:latin typeface="Aptos" panose="020B0004020202020204" pitchFamily="34" charset="0"/>
              </a:rPr>
              <a:t>L'immagine è complementare: può aiutare, essere neutra o introdurre rumore a seconda del caso.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4E4E8D61-39D0-7021-95A9-E70E42F8DC69}"/>
              </a:ext>
            </a:extLst>
          </p:cNvPr>
          <p:cNvSpPr txBox="1"/>
          <p:nvPr/>
        </p:nvSpPr>
        <p:spPr>
          <a:xfrm>
            <a:off x="2705100" y="5816600"/>
            <a:ext cx="8458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it-IT" sz="88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2.0: Graph JSON → SPICE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Trasformare il grafo in netlist simulabile e contesto diagnostico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68590" y="168968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8590" y="2073729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41742" y="2146881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+ terminali + wire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268590" y="2823537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341742" y="2896689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e assunzioni dichiarate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268590" y="357334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341742" y="3646497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classi, modelli, override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91166" y="2832681"/>
            <a:ext cx="6583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50118" y="168968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TECNICI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0118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423270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6582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849734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normalize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0118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2" name="Text 20"/>
          <p:cNvSpPr/>
          <p:nvPr/>
        </p:nvSpPr>
        <p:spPr>
          <a:xfrm>
            <a:off x="4423270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node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6582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849734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0118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423270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76582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849734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spice emit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50118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423270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ngspice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76582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49734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03630" y="2832681"/>
            <a:ext cx="58521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007718" y="16896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7718" y="2037153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080870" y="2110305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07_netlist.cir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SPICE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007718" y="2649801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080870" y="2722953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08_tran.csv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 d’onda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07718" y="3262449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080870" y="3335601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10_context.json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pacchetto per agente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007718" y="3875097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080870" y="3948249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13–15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equivalente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22960" y="5166360"/>
            <a:ext cx="10287000" cy="676656"/>
          </a:xfrm>
          <a:prstGeom prst="roundRect">
            <a:avLst>
              <a:gd name="adj" fmla="val 8108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024128" y="538581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ingegneristica: la pipeline non inventa collegamenti o modelli. Se qualcosa manca, viene dichiarato come warning o assunzione.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 controllati e viewer visuale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ipotesi diagnostica produce una run separata e confrontabile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SCENARIO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scenario.json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azione proposta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8296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907792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980944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immutabile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038344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11496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alternativa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168896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42048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vs scenario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299448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372600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interattivo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Stato / valori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296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change_source_value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2296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change_component_value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Topologia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5312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52628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connect_nodes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312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52628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feed_nodes_from_source_node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5312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2628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add_resistor_between_nodes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5644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Stimoli / </a:t>
            </a:r>
            <a:r>
              <a:rPr lang="en-US" sz="1400" b="1" dirty="0" err="1">
                <a:solidFill>
                  <a:srgbClr val="0B1320"/>
                </a:solidFill>
              </a:rPr>
              <a:t>transitori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5644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22960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add_voltage_source_between_nodes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5644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22960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drive_node_voltage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5644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22960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set_initial_node_voltage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0704" y="57150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sz="10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CHAT: diagnosi guidata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L’utente sceglie quali scenari eseguire, la pipeline conserva ogni decisione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42721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FLUSSO OPERATIVO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naturale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96896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read‑only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artefatti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62272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candidati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43016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54496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27648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esegui scenario 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8392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19872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93024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+ viewer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73768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8524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5840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Risposta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interpretazioneconfronto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83280"/>
            <a:ext cx="4132618" cy="31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DIMOSTRA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7663" y="3880234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24128" y="3767327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sistema sa trasformare domande come “</a:t>
            </a:r>
            <a:r>
              <a:rPr lang="en-US" sz="125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lampada non si accende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in ipotesi elettriche eseguibili.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7662" y="4270248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024128" y="4151375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registry 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rendono ripetibile la conversazione.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787663" y="46602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24128" y="4535423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scenari sono s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elf-contained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ogni run riparte dalla base e non sporca gli output originali.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7127" y="50471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024128" y="4919471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Utile per debug, validazione manuale e raccolta di casi studio per la tesi.</a:t>
            </a:r>
            <a:endParaRPr lang="en-US" sz="12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44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AGENT: automazione controllata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propone, esegue e confronta scenari fino a una conclusione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AUTONOMO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33856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07008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/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12264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194560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194560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5184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88336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675888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675888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96512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169664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+ viewer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157216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157216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650992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+ metriche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56248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638544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38544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9168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0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/ localized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3410712"/>
            <a:ext cx="5059396" cy="201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IMPLEMENTATI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8260" y="3867912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40664" y="3803904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Massimo 2 scenari per decisione e 5 run per circuito.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8260" y="4201781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40664" y="4151376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Primitive ammesse tramite whitelist rigida.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3145" y="4575265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40664" y="4498848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duplicati rifiutati senza consumare budget.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0429" y="4928614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40664" y="4846320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expect, gain e temporal_expect per verifiche OP/TRAN.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38260" y="5257800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40664" y="5193792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Stati finali distinti: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topology_issue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inconclusive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059168" y="3355499"/>
            <a:ext cx="4556760" cy="1280507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8550933" y="3462629"/>
            <a:ext cx="1758037" cy="17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Differenza chiave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3977" y="4068351"/>
            <a:ext cx="437195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CHAT assiste </a:t>
            </a:r>
            <a:r>
              <a:rPr lang="en-US" sz="1200" b="1" dirty="0" err="1">
                <a:solidFill>
                  <a:srgbClr val="0B1320"/>
                </a:solidFill>
              </a:rPr>
              <a:t>l’utente</a:t>
            </a:r>
            <a:r>
              <a:rPr lang="en-US" sz="1200" b="1" dirty="0">
                <a:solidFill>
                  <a:srgbClr val="0B1320"/>
                </a:solidFill>
              </a:rPr>
              <a:t>.</a:t>
            </a:r>
          </a:p>
          <a:p>
            <a:pPr marL="0" indent="0">
              <a:buNone/>
            </a:pPr>
            <a:endParaRPr lang="en-US" sz="1200" b="1" dirty="0">
              <a:solidFill>
                <a:srgbClr val="0B132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AGENT chiude il ciclo diagnostico in autonomia controllata.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 sperimentale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e Batch B usati per verificare SPICE, scenari e agente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788920" y="1453895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88920" y="183794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circuiti documentati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4608" y="1453895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64608" y="183794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modalità: CHAT +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0296" y="1453895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0296" y="183794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run scenario/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— CIRCUITI SEMPLICI / DISCRETI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a01/a02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0998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continuità e alimentazione mancante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a04/a06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46557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amplificazione, gain e distorsione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83133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lampeggio con duty cycle e temporal_expect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a09/a10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970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carichi multipli: lampada + 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B — CIRCUITI PIÙ COMPLESSI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1089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099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multivibratoresimmetrico</a:t>
            </a:r>
            <a:r>
              <a:rPr lang="en-US" sz="1200" dirty="0">
                <a:solidFill>
                  <a:srgbClr val="334155"/>
                </a:solidFill>
              </a:rPr>
              <a:t>: </a:t>
            </a:r>
            <a:r>
              <a:rPr lang="en-US" sz="1200" i="1" dirty="0">
                <a:solidFill>
                  <a:srgbClr val="334155"/>
                </a:solidFill>
              </a:rPr>
              <a:t>.ic iniziale</a:t>
            </a:r>
            <a:endParaRPr lang="en-US" sz="1200" i="1" dirty="0"/>
          </a:p>
        </p:txBody>
      </p:sp>
      <p:sp>
        <p:nvSpPr>
          <p:cNvPr id="26" name="Text 24"/>
          <p:cNvSpPr/>
          <p:nvPr/>
        </p:nvSpPr>
        <p:spPr>
          <a:xfrm>
            <a:off x="6510528" y="34381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monitor batteria</a:t>
            </a:r>
            <a:r>
              <a:rPr lang="en-US" sz="1200" dirty="0">
                <a:solidFill>
                  <a:srgbClr val="334155"/>
                </a:solidFill>
              </a:rPr>
              <a:t>: sequenza rosso/giallo/verde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376732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375818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caricabatteria</a:t>
            </a:r>
            <a:r>
              <a:rPr lang="en-US" sz="1200" dirty="0">
                <a:solidFill>
                  <a:srgbClr val="334155"/>
                </a:solidFill>
              </a:rPr>
              <a:t>: corrente D4 transitoria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4096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b05/b06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0873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radio/audio</a:t>
            </a:r>
            <a:r>
              <a:rPr lang="en-US" sz="1200" dirty="0">
                <a:solidFill>
                  <a:srgbClr val="334155"/>
                </a:solidFill>
              </a:rPr>
              <a:t>: iniezione controllata del segnale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10528" y="442569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441655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switch simbolico</a:t>
            </a:r>
            <a:r>
              <a:rPr lang="en-US" sz="1200" dirty="0">
                <a:solidFill>
                  <a:srgbClr val="334155"/>
                </a:solidFill>
              </a:rPr>
              <a:t>: stato ON/OFF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" y="4956048"/>
            <a:ext cx="10824376" cy="674204"/>
          </a:xfrm>
          <a:prstGeom prst="roundRect">
            <a:avLst>
              <a:gd name="adj" fmla="val 9091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" y="5120639"/>
            <a:ext cx="10355788" cy="22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Risultato: la pipeline è stata validata come flusso di diagnosi tecnico-riproducibile; l’aggregazione quantitativa CHAT–AGENT è il prossimo step naturale.</a:t>
            </a:r>
            <a:endParaRPr lang="en-US" sz="1180" dirty="0"/>
          </a:p>
        </p:txBody>
      </p:sp>
      <p:sp>
        <p:nvSpPr>
          <p:cNvPr id="36" name="Rectangle 35"/>
          <p:cNvSpPr/>
          <p:nvPr/>
        </p:nvSpPr>
        <p:spPr>
          <a:xfrm>
            <a:off x="612648" y="5020055"/>
            <a:ext cx="11199246" cy="1287117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983480"/>
            <a:ext cx="25303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Sintesi delle validazioni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65584"/>
              </p:ext>
            </p:extLst>
          </p:nvPr>
        </p:nvGraphicFramePr>
        <p:xfrm>
          <a:off x="740664" y="5202936"/>
          <a:ext cx="10889978" cy="98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8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9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Cosa è stato verificato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Risultato operativo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judge immagine ↔ graph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errori gravi, 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benchmark modelli e compromesso score‑costo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OP/TRAN, scenari e viewer su Batch A/B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flusso SPICE riproducibile su 15 circuiti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modalità guidata e ciclo autonomo controllato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validati; aggregazione quantitativa CHAT‑AGENT come next step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94360" y="4782311"/>
            <a:ext cx="11264848" cy="1691639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3" y="4837176"/>
            <a:ext cx="1880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9966"/>
                </a:solidFill>
                <a:latin typeface="Aptos"/>
              </a:rPr>
              <a:t>Sintesi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delle </a:t>
            </a:r>
            <a:r>
              <a:rPr sz="1200" b="1" dirty="0" err="1">
                <a:solidFill>
                  <a:srgbClr val="009966"/>
                </a:solidFill>
                <a:latin typeface="Aptos"/>
              </a:rPr>
              <a:t>validazioni</a:t>
            </a:r>
            <a:endParaRPr sz="1200" b="1" dirty="0">
              <a:solidFill>
                <a:srgbClr val="009966"/>
              </a:solidFill>
              <a:latin typeface="Aptos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9916"/>
              </p:ext>
            </p:extLst>
          </p:nvPr>
        </p:nvGraphicFramePr>
        <p:xfrm>
          <a:off x="740664" y="5084064"/>
          <a:ext cx="10889977" cy="112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03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Cosa è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statoverificato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Risultatooperativo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judge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immagine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↔ graph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errorigravi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benchmark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modelli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compromesso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score‑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OP/TRAN,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scenari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viewer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Batch A/B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flusso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SPICE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riproducibilesu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15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circuiti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modalitàguidata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cicloautonomocontrollato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validati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aggregazionequantitativa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CHAT‑AGENT come next step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0992000" y="0"/>
            <a:ext cx="1200000" cy="6858000"/>
          </a:xfrm>
          <a:prstGeom prst="rect">
            <a:avLst/>
          </a:prstGeom>
          <a:solidFill>
            <a:srgbClr val="0A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13232" y="5669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F172A"/>
                </a:solidFill>
              </a:defRPr>
            </a:pPr>
            <a:r>
              <a:rPr lang="en-US" sz="3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del percorso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10399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completa che unisce computer vision, rappresentazione strutturata, simulazione elettrica e diagnosi agentica.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+ benchmark YOLO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627 immagini, augmentation e scelta YOLOv11 strong 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detection a Graph JSON con terminali, OCR e warning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 GPT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Graph JSON e diagnosi su sintomi con datasheet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8404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 → netlist SPICE → ngspice OP/TRAN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480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diagnostico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guidata, AGENT autonomo, scenari e 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>
                <a:solidFill>
                  <a:srgbClr val="1E293B"/>
                </a:solidFill>
              </a:defRPr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2263</Words>
  <Application>Microsoft Office PowerPoint</Application>
  <PresentationFormat>Widescreen</PresentationFormat>
  <Paragraphs>491</Paragraphs>
  <Slides>15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Politecnico di Torino / Data Reply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e diagnosi AI di circuiti elettrici</dc:title>
  <dc:subject>Panoramica percorso di tesi</dc:subject>
  <dc:creator>Marco Profilo</dc:creator>
  <cp:lastModifiedBy>Marco Profilo</cp:lastModifiedBy>
  <cp:revision>10</cp:revision>
  <dcterms:created xsi:type="dcterms:W3CDTF">2026-07-21T08:30:22Z</dcterms:created>
  <dcterms:modified xsi:type="dcterms:W3CDTF">2026-07-22T14:01:28Z</dcterms:modified>
</cp:coreProperties>
</file>