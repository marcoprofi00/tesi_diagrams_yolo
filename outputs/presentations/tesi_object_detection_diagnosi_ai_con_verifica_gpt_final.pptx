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8" r:id="rId6"/>
    <p:sldId id="269" r:id="rId7"/>
    <p:sldId id="260"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54" d="100"/>
          <a:sy n="54" d="100"/>
        </p:scale>
        <p:origin x="58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8272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Questa slide distingue due verifiche. La prima confronta direttamente immagine e Graph JSON su 38 circuiti: non giudica se il circuito funziona, ma solo se il grafo descrive i fili e i terminali visibili. La seconda misura l'utilità diagnostica su 16 circuiti: otto modelli ricevono il JSON con o senza immagine e le risposte vengono poi valutate da un judge separato. In totale sono state analizzate 256 diagnosi.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Il prompt del primo judge limita esplicitamente il compito alla fedeltà topologica. L'immagine è la fonte visiva principale, il JSON è l'ipotesi da verificare e il file YAML serve solo come vocabolario dei terminali. Il punteggio assegna 55 punti su 100 alle connessioni del grafo, quindi gli errori topologici pesano più degli errori semantici. Il secondo judge, GPT-5.5, valuta invece le diagnosi su sette criteri da zero a tre; nel prompt non viene inserito il nome del modello valutato. I risultati strutturati vengono convertiti in CSV, report e grafici.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it-IT"/>
              <a:t>La verifica image-graph produce una media complessiva di circa 92,4 su 100. Tutti i 38 grafi sono giudicati utilizzabili come base: 32 VERY HIGH, quattro HIGH e due MEDIUM, senza casi LOW. Nel benchmark diagnostico, aggregando i due batch, aggiungere l'immagine porta lo score medio da 15,30 a 15,63 su 21. Il miglioramento medio è piccolo e non sistematico: nel batch v1 la Top-1 peggiora, mentre nel batch v2 migliora. Il risultato sostiene quindi che il JSON sia già informativo e che l'immagine vada considerata come supporto complementare.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_rels/slide6.xml.rels><?xml version="1.0" encoding="UTF-8" standalone="yes"?><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6.xml"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0"/>
        </a:solidFill>
        <a:effectLst/>
      </p:bgPr>
    </p:bg>
    <p:spTree>
      <p:nvGrpSpPr>
        <p:cNvPr id="1" name=""/>
        <p:cNvGrpSpPr/>
        <p:nvPr/>
      </p:nvGrpSpPr>
      <p:grpSpPr>
        <a:xfrm>
          <a:off x="0" y="0"/>
          <a:ext cx="0" cy="0"/>
          <a:chOff x="0" y="0"/>
          <a:chExt cx="0" cy="0"/>
        </a:xfrm>
      </p:grpSpPr>
      <p:pic>
        <p:nvPicPr>
          <p:cNvPr id="24" name="Picture 23"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Shape 0"/>
          <p:cNvSpPr/>
          <p:nvPr/>
        </p:nvSpPr>
        <p:spPr>
          <a:xfrm>
            <a:off x="0" y="0"/>
            <a:ext cx="12191695" cy="6858000"/>
          </a:xfrm>
          <a:prstGeom prst="rect">
            <a:avLst/>
          </a:prstGeom>
          <a:solidFill>
            <a:srgbClr val="0B1320"/>
          </a:solidFill>
          <a:ln w="12700">
            <a:solidFill>
              <a:srgbClr val="0B1320"/>
            </a:solidFill>
            <a:prstDash val="solid"/>
          </a:ln>
        </p:spPr>
        <p:txBody>
          <a:bodyPr/>
          <a:lstStyle/>
          <a:p>
            <a:endParaRPr lang="it-IT"/>
          </a:p>
        </p:txBody>
      </p:sp>
      <p:sp>
        <p:nvSpPr>
          <p:cNvPr id="3" name="Text 1"/>
          <p:cNvSpPr/>
          <p:nvPr/>
        </p:nvSpPr>
        <p:spPr>
          <a:xfrm>
            <a:off x="685800" y="749808"/>
            <a:ext cx="9326880" cy="960120"/>
          </a:xfrm>
          <a:prstGeom prst="rect">
            <a:avLst/>
          </a:prstGeom>
          <a:noFill/>
          <a:ln/>
        </p:spPr>
        <p:txBody>
          <a:bodyPr wrap="square" lIns="0" tIns="0" rIns="0" bIns="0" rtlCol="0" anchor="ctr">
            <a:normAutofit fontScale="92500" lnSpcReduction="20000"/>
          </a:bodyPr>
          <a:lstStyle/>
          <a:p>
            <a:pPr marL="0" indent="0">
              <a:buNone/>
            </a:pPr>
            <a:r>
              <a:rPr lang="en-US" sz="3800" b="1" dirty="0">
                <a:solidFill>
                  <a:srgbClr val="FFFFFF"/>
                </a:solidFill>
                <a:latin typeface="Aptos Display" pitchFamily="34" charset="0"/>
                <a:ea typeface="Aptos Display" pitchFamily="34" charset="-122"/>
                <a:cs typeface="Aptos Display" pitchFamily="34" charset="-120"/>
              </a:rPr>
              <a:t>Object Detection e Diagnosi AI</a:t>
            </a:r>
            <a:endParaRPr lang="en-US" sz="3800" dirty="0"/>
          </a:p>
          <a:p>
            <a:pPr marL="0" indent="0">
              <a:buNone/>
            </a:pPr>
            <a:r>
              <a:rPr lang="en-US" sz="3800" b="1" dirty="0">
                <a:solidFill>
                  <a:srgbClr val="FFFFFF"/>
                </a:solidFill>
                <a:latin typeface="Aptos Display" pitchFamily="34" charset="0"/>
                <a:ea typeface="Aptos Display" pitchFamily="34" charset="-122"/>
                <a:cs typeface="Aptos Display" pitchFamily="34" charset="-120"/>
              </a:rPr>
              <a:t>di circuiti elettrici</a:t>
            </a:r>
            <a:endParaRPr lang="en-US" sz="3800" dirty="0"/>
          </a:p>
        </p:txBody>
      </p:sp>
      <p:sp>
        <p:nvSpPr>
          <p:cNvPr id="4" name="Text 2"/>
          <p:cNvSpPr/>
          <p:nvPr/>
        </p:nvSpPr>
        <p:spPr>
          <a:xfrm>
            <a:off x="713232" y="1905591"/>
            <a:ext cx="9509760" cy="274320"/>
          </a:xfrm>
          <a:prstGeom prst="rect">
            <a:avLst/>
          </a:prstGeom>
          <a:noFill/>
          <a:ln/>
        </p:spPr>
        <p:txBody>
          <a:bodyPr wrap="square" lIns="0" tIns="0" rIns="0" bIns="0" rtlCol="0" anchor="ctr"/>
          <a:lstStyle/>
          <a:p>
            <a:pPr marL="0" indent="0">
              <a:buNone/>
            </a:pPr>
            <a:r>
              <a:rPr lang="en-US" sz="1500" dirty="0">
                <a:solidFill>
                  <a:srgbClr val="C7D2FE"/>
                </a:solidFill>
                <a:latin typeface="Aptos" pitchFamily="34" charset="0"/>
                <a:ea typeface="Aptos" pitchFamily="34" charset="-122"/>
                <a:cs typeface="Aptos" pitchFamily="34" charset="-120"/>
              </a:rPr>
              <a:t>Panoramica del percorso di tesi: dataset → YOLO → Graph JSON → SPICE → agente diagnostico</a:t>
            </a:r>
            <a:endParaRPr lang="en-US" sz="1500" dirty="0"/>
          </a:p>
        </p:txBody>
      </p:sp>
      <p:sp>
        <p:nvSpPr>
          <p:cNvPr id="6" name="Text 4"/>
          <p:cNvSpPr/>
          <p:nvPr/>
        </p:nvSpPr>
        <p:spPr>
          <a:xfrm>
            <a:off x="786384" y="417881"/>
            <a:ext cx="1271016" cy="118872"/>
          </a:xfrm>
          <a:prstGeom prst="rect">
            <a:avLst/>
          </a:prstGeom>
          <a:noFill/>
          <a:ln/>
        </p:spPr>
        <p:txBody>
          <a:bodyPr wrap="square" lIns="0" tIns="0" rIns="0" bIns="0" rtlCol="0" anchor="ctr"/>
          <a:lstStyle/>
          <a:p>
            <a:pPr marL="0" indent="0" algn="ctr">
              <a:buNone/>
            </a:pPr>
            <a:endParaRPr lang="en-US" sz="950" dirty="0"/>
          </a:p>
        </p:txBody>
      </p:sp>
      <p:sp>
        <p:nvSpPr>
          <p:cNvPr id="7" name="Shape 5"/>
          <p:cNvSpPr/>
          <p:nvPr/>
        </p:nvSpPr>
        <p:spPr>
          <a:xfrm>
            <a:off x="1179576" y="3247612"/>
            <a:ext cx="1600200" cy="658368"/>
          </a:xfrm>
          <a:prstGeom prst="roundRect">
            <a:avLst>
              <a:gd name="adj" fmla="val 11111"/>
            </a:avLst>
          </a:prstGeom>
          <a:solidFill>
            <a:srgbClr val="2563EB"/>
          </a:solidFill>
          <a:ln w="12700">
            <a:solidFill>
              <a:srgbClr val="2563EB"/>
            </a:solidFill>
            <a:prstDash val="solid"/>
          </a:ln>
        </p:spPr>
        <p:txBody>
          <a:bodyPr/>
          <a:lstStyle/>
          <a:p>
            <a:endParaRPr lang="it-IT"/>
          </a:p>
        </p:txBody>
      </p:sp>
      <p:sp>
        <p:nvSpPr>
          <p:cNvPr id="8" name="Text 6"/>
          <p:cNvSpPr/>
          <p:nvPr/>
        </p:nvSpPr>
        <p:spPr>
          <a:xfrm>
            <a:off x="125272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Dataset</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Roboflow + bbox</a:t>
            </a:r>
            <a:endParaRPr lang="en-US" sz="1200" dirty="0"/>
          </a:p>
        </p:txBody>
      </p:sp>
      <p:sp>
        <p:nvSpPr>
          <p:cNvPr id="9" name="Shape 7"/>
          <p:cNvSpPr/>
          <p:nvPr/>
        </p:nvSpPr>
        <p:spPr>
          <a:xfrm>
            <a:off x="2816352" y="3576796"/>
            <a:ext cx="228600" cy="0"/>
          </a:xfrm>
          <a:prstGeom prst="line">
            <a:avLst/>
          </a:prstGeom>
          <a:noFill/>
          <a:ln w="17780">
            <a:solidFill>
              <a:srgbClr val="94A3B8"/>
            </a:solidFill>
            <a:prstDash val="solid"/>
            <a:tailEnd type="triangle"/>
          </a:ln>
        </p:spPr>
        <p:txBody>
          <a:bodyPr/>
          <a:lstStyle/>
          <a:p>
            <a:endParaRPr lang="it-IT"/>
          </a:p>
        </p:txBody>
      </p:sp>
      <p:sp>
        <p:nvSpPr>
          <p:cNvPr id="10" name="Shape 8"/>
          <p:cNvSpPr/>
          <p:nvPr/>
        </p:nvSpPr>
        <p:spPr>
          <a:xfrm>
            <a:off x="3099816" y="3247612"/>
            <a:ext cx="1600200" cy="658368"/>
          </a:xfrm>
          <a:prstGeom prst="roundRect">
            <a:avLst>
              <a:gd name="adj" fmla="val 11111"/>
            </a:avLst>
          </a:prstGeom>
          <a:solidFill>
            <a:srgbClr val="10B981"/>
          </a:solidFill>
          <a:ln w="12700">
            <a:solidFill>
              <a:srgbClr val="10B981"/>
            </a:solidFill>
            <a:prstDash val="solid"/>
          </a:ln>
        </p:spPr>
        <p:txBody>
          <a:bodyPr/>
          <a:lstStyle/>
          <a:p>
            <a:endParaRPr lang="it-IT"/>
          </a:p>
        </p:txBody>
      </p:sp>
      <p:sp>
        <p:nvSpPr>
          <p:cNvPr id="11" name="Text 9"/>
          <p:cNvSpPr/>
          <p:nvPr/>
        </p:nvSpPr>
        <p:spPr>
          <a:xfrm>
            <a:off x="317296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YOLOv11</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object detection</a:t>
            </a:r>
            <a:endParaRPr lang="en-US" sz="1200" dirty="0"/>
          </a:p>
        </p:txBody>
      </p:sp>
      <p:sp>
        <p:nvSpPr>
          <p:cNvPr id="12" name="Shape 10"/>
          <p:cNvSpPr/>
          <p:nvPr/>
        </p:nvSpPr>
        <p:spPr>
          <a:xfrm>
            <a:off x="4736592" y="3576796"/>
            <a:ext cx="228600" cy="0"/>
          </a:xfrm>
          <a:prstGeom prst="line">
            <a:avLst/>
          </a:prstGeom>
          <a:noFill/>
          <a:ln w="17780">
            <a:solidFill>
              <a:srgbClr val="94A3B8"/>
            </a:solidFill>
            <a:prstDash val="solid"/>
            <a:tailEnd type="triangle"/>
          </a:ln>
        </p:spPr>
        <p:txBody>
          <a:bodyPr/>
          <a:lstStyle/>
          <a:p>
            <a:endParaRPr lang="it-IT"/>
          </a:p>
        </p:txBody>
      </p:sp>
      <p:sp>
        <p:nvSpPr>
          <p:cNvPr id="13" name="Shape 11"/>
          <p:cNvSpPr/>
          <p:nvPr/>
        </p:nvSpPr>
        <p:spPr>
          <a:xfrm>
            <a:off x="5020056" y="3247612"/>
            <a:ext cx="1600200" cy="658368"/>
          </a:xfrm>
          <a:prstGeom prst="roundRect">
            <a:avLst>
              <a:gd name="adj" fmla="val 11111"/>
            </a:avLst>
          </a:prstGeom>
          <a:solidFill>
            <a:srgbClr val="10B981"/>
          </a:solidFill>
          <a:ln w="12700">
            <a:solidFill>
              <a:srgbClr val="10B981"/>
            </a:solidFill>
            <a:prstDash val="solid"/>
          </a:ln>
        </p:spPr>
        <p:txBody>
          <a:bodyPr/>
          <a:lstStyle/>
          <a:p>
            <a:endParaRPr lang="it-IT"/>
          </a:p>
        </p:txBody>
      </p:sp>
      <p:sp>
        <p:nvSpPr>
          <p:cNvPr id="14" name="Text 12"/>
          <p:cNvSpPr/>
          <p:nvPr/>
        </p:nvSpPr>
        <p:spPr>
          <a:xfrm>
            <a:off x="509320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Pipeline 1.0</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Graph JSON</a:t>
            </a:r>
            <a:endParaRPr lang="en-US" sz="1200" dirty="0"/>
          </a:p>
        </p:txBody>
      </p:sp>
      <p:sp>
        <p:nvSpPr>
          <p:cNvPr id="15" name="Shape 13"/>
          <p:cNvSpPr/>
          <p:nvPr/>
        </p:nvSpPr>
        <p:spPr>
          <a:xfrm>
            <a:off x="6656832" y="3576796"/>
            <a:ext cx="228600" cy="0"/>
          </a:xfrm>
          <a:prstGeom prst="line">
            <a:avLst/>
          </a:prstGeom>
          <a:noFill/>
          <a:ln w="17780">
            <a:solidFill>
              <a:srgbClr val="94A3B8"/>
            </a:solidFill>
            <a:prstDash val="solid"/>
            <a:tailEnd type="triangle"/>
          </a:ln>
        </p:spPr>
        <p:txBody>
          <a:bodyPr/>
          <a:lstStyle/>
          <a:p>
            <a:endParaRPr lang="it-IT"/>
          </a:p>
        </p:txBody>
      </p:sp>
      <p:sp>
        <p:nvSpPr>
          <p:cNvPr id="16" name="Shape 14"/>
          <p:cNvSpPr/>
          <p:nvPr/>
        </p:nvSpPr>
        <p:spPr>
          <a:xfrm>
            <a:off x="6940296" y="3247612"/>
            <a:ext cx="1600200" cy="658368"/>
          </a:xfrm>
          <a:prstGeom prst="roundRect">
            <a:avLst>
              <a:gd name="adj" fmla="val 11111"/>
            </a:avLst>
          </a:prstGeom>
          <a:solidFill>
            <a:srgbClr val="8B5CF6"/>
          </a:solidFill>
          <a:ln w="12700">
            <a:solidFill>
              <a:srgbClr val="8B5CF6"/>
            </a:solidFill>
            <a:prstDash val="solid"/>
          </a:ln>
        </p:spPr>
        <p:txBody>
          <a:bodyPr/>
          <a:lstStyle/>
          <a:p>
            <a:endParaRPr lang="it-IT"/>
          </a:p>
        </p:txBody>
      </p:sp>
      <p:sp>
        <p:nvSpPr>
          <p:cNvPr id="17" name="Text 15"/>
          <p:cNvSpPr/>
          <p:nvPr/>
        </p:nvSpPr>
        <p:spPr>
          <a:xfrm>
            <a:off x="701344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Pipeline 2.0</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SPICE/ngspice</a:t>
            </a:r>
            <a:endParaRPr lang="en-US" sz="1200" dirty="0"/>
          </a:p>
        </p:txBody>
      </p:sp>
      <p:sp>
        <p:nvSpPr>
          <p:cNvPr id="18" name="Shape 16"/>
          <p:cNvSpPr/>
          <p:nvPr/>
        </p:nvSpPr>
        <p:spPr>
          <a:xfrm>
            <a:off x="8577072" y="3576796"/>
            <a:ext cx="228600" cy="0"/>
          </a:xfrm>
          <a:prstGeom prst="line">
            <a:avLst/>
          </a:prstGeom>
          <a:noFill/>
          <a:ln w="17780">
            <a:solidFill>
              <a:srgbClr val="94A3B8"/>
            </a:solidFill>
            <a:prstDash val="solid"/>
            <a:tailEnd type="triangle"/>
          </a:ln>
        </p:spPr>
        <p:txBody>
          <a:bodyPr/>
          <a:lstStyle/>
          <a:p>
            <a:endParaRPr lang="it-IT"/>
          </a:p>
        </p:txBody>
      </p:sp>
      <p:sp>
        <p:nvSpPr>
          <p:cNvPr id="19" name="Shape 17"/>
          <p:cNvSpPr/>
          <p:nvPr/>
        </p:nvSpPr>
        <p:spPr>
          <a:xfrm>
            <a:off x="8860536" y="3247612"/>
            <a:ext cx="1600200" cy="658368"/>
          </a:xfrm>
          <a:prstGeom prst="roundRect">
            <a:avLst>
              <a:gd name="adj" fmla="val 11111"/>
            </a:avLst>
          </a:prstGeom>
          <a:solidFill>
            <a:srgbClr val="8B5CF6"/>
          </a:solidFill>
          <a:ln w="12700">
            <a:solidFill>
              <a:srgbClr val="8B5CF6"/>
            </a:solidFill>
            <a:prstDash val="solid"/>
          </a:ln>
        </p:spPr>
        <p:txBody>
          <a:bodyPr/>
          <a:lstStyle/>
          <a:p>
            <a:endParaRPr lang="it-IT"/>
          </a:p>
        </p:txBody>
      </p:sp>
      <p:sp>
        <p:nvSpPr>
          <p:cNvPr id="20" name="Text 18"/>
          <p:cNvSpPr/>
          <p:nvPr/>
        </p:nvSpPr>
        <p:spPr>
          <a:xfrm>
            <a:off x="8933688" y="3320764"/>
            <a:ext cx="1453896" cy="51206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Agente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CHAT + AGENT</a:t>
            </a:r>
            <a:endParaRPr lang="en-US" sz="1200" dirty="0"/>
          </a:p>
        </p:txBody>
      </p:sp>
      <p:sp>
        <p:nvSpPr>
          <p:cNvPr id="21" name="Text 19"/>
          <p:cNvSpPr/>
          <p:nvPr/>
        </p:nvSpPr>
        <p:spPr>
          <a:xfrm>
            <a:off x="749808" y="5074920"/>
            <a:ext cx="10515600" cy="502920"/>
          </a:xfrm>
          <a:prstGeom prst="rect">
            <a:avLst/>
          </a:prstGeom>
          <a:noFill/>
          <a:ln/>
        </p:spPr>
        <p:txBody>
          <a:bodyPr wrap="square" lIns="0" tIns="0" rIns="0" bIns="0" rtlCol="0" anchor="ctr">
            <a:noAutofit/>
          </a:bodyPr>
          <a:lstStyle/>
          <a:p>
            <a:pPr marL="0" indent="0">
              <a:buNone/>
            </a:pPr>
            <a:r>
              <a:rPr lang="en-US" sz="1650" dirty="0">
                <a:solidFill>
                  <a:srgbClr val="FFFFFF"/>
                </a:solidFill>
                <a:latin typeface="Aptos" pitchFamily="34" charset="0"/>
                <a:ea typeface="Aptos" pitchFamily="34" charset="-122"/>
                <a:cs typeface="Aptos" pitchFamily="34" charset="-120"/>
              </a:rPr>
              <a:t>Obiettivo: trasformare immagini di schemi elettrici in evidenze strutturate, simulabili e interrogabili da un agente AI.</a:t>
            </a:r>
            <a:endParaRPr lang="en-US" sz="1650" dirty="0"/>
          </a:p>
        </p:txBody>
      </p:sp>
      <p:sp>
        <p:nvSpPr>
          <p:cNvPr id="22" name="Text 20"/>
          <p:cNvSpPr/>
          <p:nvPr/>
        </p:nvSpPr>
        <p:spPr>
          <a:xfrm>
            <a:off x="731520" y="6272784"/>
            <a:ext cx="2194560" cy="219456"/>
          </a:xfrm>
          <a:prstGeom prst="rect">
            <a:avLst/>
          </a:prstGeom>
          <a:noFill/>
          <a:ln/>
        </p:spPr>
        <p:txBody>
          <a:bodyPr wrap="square" lIns="0" tIns="0" rIns="0" bIns="0" rtlCol="0" anchor="ctr"/>
          <a:lstStyle/>
          <a:p>
            <a:pPr marL="0" indent="0">
              <a:buNone/>
            </a:pPr>
            <a:r>
              <a:rPr lang="en-US" sz="1000" dirty="0">
                <a:solidFill>
                  <a:srgbClr val="CBD5E1"/>
                </a:solidFill>
                <a:latin typeface="Aptos" pitchFamily="34" charset="0"/>
                <a:ea typeface="Aptos" pitchFamily="34" charset="-122"/>
                <a:cs typeface="Aptos" pitchFamily="34" charset="-120"/>
              </a:rPr>
              <a:t>Marco Profilo</a:t>
            </a:r>
            <a:endParaRPr lang="en-US" sz="1000" dirty="0"/>
          </a:p>
        </p:txBody>
      </p:sp>
      <p:sp>
        <p:nvSpPr>
          <p:cNvPr id="23" name="Text 21"/>
          <p:cNvSpPr/>
          <p:nvPr/>
        </p:nvSpPr>
        <p:spPr>
          <a:xfrm>
            <a:off x="11356848" y="6254496"/>
            <a:ext cx="320040" cy="219456"/>
          </a:xfrm>
          <a:prstGeom prst="rect">
            <a:avLst/>
          </a:prstGeom>
          <a:noFill/>
          <a:ln/>
        </p:spPr>
        <p:txBody>
          <a:bodyPr wrap="square" lIns="0" tIns="0" rIns="0" bIns="0" rtlCol="0" anchor="ctr"/>
          <a:lstStyle/>
          <a:p>
            <a:pPr marL="0" indent="0" algn="r">
              <a:buNone/>
            </a:pPr>
            <a:r>
              <a:rPr lang="en-US" sz="1000" b="1" dirty="0">
                <a:solidFill>
                  <a:srgbClr val="CBD5E1"/>
                </a:solidFill>
                <a:latin typeface="Aptos" pitchFamily="34" charset="0"/>
                <a:ea typeface="Aptos" pitchFamily="34" charset="-122"/>
                <a:cs typeface="Aptos"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pic>
        <p:nvPicPr>
          <p:cNvPr id="55" name="Picture 5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Visione del progetto</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Una pipeline end-to-end, modulare e verificabile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02</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Shape 6"/>
          <p:cNvSpPr/>
          <p:nvPr/>
        </p:nvSpPr>
        <p:spPr>
          <a:xfrm>
            <a:off x="1124712" y="2029968"/>
            <a:ext cx="1389888" cy="530352"/>
          </a:xfrm>
          <a:prstGeom prst="roundRect">
            <a:avLst>
              <a:gd name="adj" fmla="val 13793"/>
            </a:avLst>
          </a:prstGeom>
          <a:solidFill>
            <a:srgbClr val="2563EB"/>
          </a:solidFill>
          <a:ln w="12700">
            <a:solidFill>
              <a:srgbClr val="2563EB"/>
            </a:solidFill>
            <a:prstDash val="solid"/>
          </a:ln>
        </p:spPr>
        <p:txBody>
          <a:bodyPr/>
          <a:lstStyle/>
          <a:p>
            <a:endParaRPr lang="it-IT"/>
          </a:p>
        </p:txBody>
      </p:sp>
      <p:sp>
        <p:nvSpPr>
          <p:cNvPr id="9" name="Text 7"/>
          <p:cNvSpPr/>
          <p:nvPr/>
        </p:nvSpPr>
        <p:spPr>
          <a:xfrm>
            <a:off x="119786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Immagine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schema elettrico</a:t>
            </a:r>
            <a:endParaRPr lang="en-US" sz="1200" dirty="0"/>
          </a:p>
        </p:txBody>
      </p:sp>
      <p:sp>
        <p:nvSpPr>
          <p:cNvPr id="10" name="Shape 8"/>
          <p:cNvSpPr/>
          <p:nvPr/>
        </p:nvSpPr>
        <p:spPr>
          <a:xfrm>
            <a:off x="2542032" y="2295144"/>
            <a:ext cx="182880" cy="0"/>
          </a:xfrm>
          <a:prstGeom prst="line">
            <a:avLst/>
          </a:prstGeom>
          <a:noFill/>
          <a:ln w="15875">
            <a:solidFill>
              <a:srgbClr val="64748B"/>
            </a:solidFill>
            <a:prstDash val="solid"/>
            <a:tailEnd type="triangle"/>
          </a:ln>
        </p:spPr>
        <p:txBody>
          <a:bodyPr/>
          <a:lstStyle/>
          <a:p>
            <a:endParaRPr lang="it-IT"/>
          </a:p>
        </p:txBody>
      </p:sp>
      <p:sp>
        <p:nvSpPr>
          <p:cNvPr id="11" name="Shape 9"/>
          <p:cNvSpPr/>
          <p:nvPr/>
        </p:nvSpPr>
        <p:spPr>
          <a:xfrm>
            <a:off x="2770632" y="2029968"/>
            <a:ext cx="1389888" cy="530352"/>
          </a:xfrm>
          <a:prstGeom prst="roundRect">
            <a:avLst>
              <a:gd name="adj" fmla="val 13793"/>
            </a:avLst>
          </a:prstGeom>
          <a:solidFill>
            <a:srgbClr val="2563EB"/>
          </a:solidFill>
          <a:ln w="12700">
            <a:solidFill>
              <a:srgbClr val="2563EB"/>
            </a:solidFill>
            <a:prstDash val="solid"/>
          </a:ln>
        </p:spPr>
        <p:txBody>
          <a:bodyPr/>
          <a:lstStyle/>
          <a:p>
            <a:endParaRPr lang="it-IT"/>
          </a:p>
        </p:txBody>
      </p:sp>
      <p:sp>
        <p:nvSpPr>
          <p:cNvPr id="12" name="Text 10"/>
          <p:cNvSpPr/>
          <p:nvPr/>
        </p:nvSpPr>
        <p:spPr>
          <a:xfrm>
            <a:off x="284378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YOLO</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componenti</a:t>
            </a:r>
            <a:endParaRPr lang="en-US" sz="1200" dirty="0"/>
          </a:p>
        </p:txBody>
      </p:sp>
      <p:sp>
        <p:nvSpPr>
          <p:cNvPr id="13" name="Shape 11"/>
          <p:cNvSpPr/>
          <p:nvPr/>
        </p:nvSpPr>
        <p:spPr>
          <a:xfrm>
            <a:off x="4187952" y="2295144"/>
            <a:ext cx="182880" cy="0"/>
          </a:xfrm>
          <a:prstGeom prst="line">
            <a:avLst/>
          </a:prstGeom>
          <a:noFill/>
          <a:ln w="15875">
            <a:solidFill>
              <a:srgbClr val="64748B"/>
            </a:solidFill>
            <a:prstDash val="solid"/>
            <a:tailEnd type="triangle"/>
          </a:ln>
        </p:spPr>
        <p:txBody>
          <a:bodyPr/>
          <a:lstStyle/>
          <a:p>
            <a:endParaRPr lang="it-IT"/>
          </a:p>
        </p:txBody>
      </p:sp>
      <p:sp>
        <p:nvSpPr>
          <p:cNvPr id="14" name="Shape 12"/>
          <p:cNvSpPr/>
          <p:nvPr/>
        </p:nvSpPr>
        <p:spPr>
          <a:xfrm>
            <a:off x="4416552" y="2029968"/>
            <a:ext cx="1389888" cy="530352"/>
          </a:xfrm>
          <a:prstGeom prst="roundRect">
            <a:avLst>
              <a:gd name="adj" fmla="val 13793"/>
            </a:avLst>
          </a:prstGeom>
          <a:solidFill>
            <a:srgbClr val="10B981"/>
          </a:solidFill>
          <a:ln w="12700">
            <a:solidFill>
              <a:srgbClr val="10B981"/>
            </a:solidFill>
            <a:prstDash val="solid"/>
          </a:ln>
        </p:spPr>
        <p:txBody>
          <a:bodyPr/>
          <a:lstStyle/>
          <a:p>
            <a:endParaRPr lang="it-IT"/>
          </a:p>
        </p:txBody>
      </p:sp>
      <p:sp>
        <p:nvSpPr>
          <p:cNvPr id="15" name="Text 13"/>
          <p:cNvSpPr/>
          <p:nvPr/>
        </p:nvSpPr>
        <p:spPr>
          <a:xfrm>
            <a:off x="448970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Terminali</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OCR + pin</a:t>
            </a:r>
            <a:endParaRPr lang="en-US" sz="1200" dirty="0"/>
          </a:p>
        </p:txBody>
      </p:sp>
      <p:sp>
        <p:nvSpPr>
          <p:cNvPr id="16" name="Shape 14"/>
          <p:cNvSpPr/>
          <p:nvPr/>
        </p:nvSpPr>
        <p:spPr>
          <a:xfrm>
            <a:off x="5833872" y="2295144"/>
            <a:ext cx="182880" cy="0"/>
          </a:xfrm>
          <a:prstGeom prst="line">
            <a:avLst/>
          </a:prstGeom>
          <a:noFill/>
          <a:ln w="15875">
            <a:solidFill>
              <a:srgbClr val="64748B"/>
            </a:solidFill>
            <a:prstDash val="solid"/>
            <a:tailEnd type="triangle"/>
          </a:ln>
        </p:spPr>
        <p:txBody>
          <a:bodyPr/>
          <a:lstStyle/>
          <a:p>
            <a:endParaRPr lang="it-IT"/>
          </a:p>
        </p:txBody>
      </p:sp>
      <p:sp>
        <p:nvSpPr>
          <p:cNvPr id="17" name="Shape 15"/>
          <p:cNvSpPr/>
          <p:nvPr/>
        </p:nvSpPr>
        <p:spPr>
          <a:xfrm>
            <a:off x="6062472" y="2029968"/>
            <a:ext cx="1389888" cy="530352"/>
          </a:xfrm>
          <a:prstGeom prst="roundRect">
            <a:avLst>
              <a:gd name="adj" fmla="val 13793"/>
            </a:avLst>
          </a:prstGeom>
          <a:solidFill>
            <a:srgbClr val="10B981"/>
          </a:solidFill>
          <a:ln w="12700">
            <a:solidFill>
              <a:srgbClr val="10B981"/>
            </a:solidFill>
            <a:prstDash val="solid"/>
          </a:ln>
        </p:spPr>
        <p:txBody>
          <a:bodyPr/>
          <a:lstStyle/>
          <a:p>
            <a:endParaRPr lang="it-IT"/>
          </a:p>
        </p:txBody>
      </p:sp>
      <p:sp>
        <p:nvSpPr>
          <p:cNvPr id="18" name="Text 16"/>
          <p:cNvSpPr/>
          <p:nvPr/>
        </p:nvSpPr>
        <p:spPr>
          <a:xfrm>
            <a:off x="613562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Graph JSON</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nodi + fili</a:t>
            </a:r>
            <a:endParaRPr lang="en-US" sz="1200" dirty="0"/>
          </a:p>
        </p:txBody>
      </p:sp>
      <p:sp>
        <p:nvSpPr>
          <p:cNvPr id="19" name="Shape 17"/>
          <p:cNvSpPr/>
          <p:nvPr/>
        </p:nvSpPr>
        <p:spPr>
          <a:xfrm>
            <a:off x="7479792" y="2295144"/>
            <a:ext cx="182880" cy="0"/>
          </a:xfrm>
          <a:prstGeom prst="line">
            <a:avLst/>
          </a:prstGeom>
          <a:noFill/>
          <a:ln w="15875">
            <a:solidFill>
              <a:srgbClr val="64748B"/>
            </a:solidFill>
            <a:prstDash val="solid"/>
            <a:tailEnd type="triangle"/>
          </a:ln>
        </p:spPr>
        <p:txBody>
          <a:bodyPr/>
          <a:lstStyle/>
          <a:p>
            <a:endParaRPr lang="it-IT"/>
          </a:p>
        </p:txBody>
      </p:sp>
      <p:sp>
        <p:nvSpPr>
          <p:cNvPr id="20" name="Shape 18"/>
          <p:cNvSpPr/>
          <p:nvPr/>
        </p:nvSpPr>
        <p:spPr>
          <a:xfrm>
            <a:off x="7708392" y="2029968"/>
            <a:ext cx="1389888" cy="530352"/>
          </a:xfrm>
          <a:prstGeom prst="roundRect">
            <a:avLst>
              <a:gd name="adj" fmla="val 13793"/>
            </a:avLst>
          </a:prstGeom>
          <a:solidFill>
            <a:srgbClr val="8B5CF6"/>
          </a:solidFill>
          <a:ln w="12700">
            <a:solidFill>
              <a:srgbClr val="8B5CF6"/>
            </a:solidFill>
            <a:prstDash val="solid"/>
          </a:ln>
        </p:spPr>
        <p:txBody>
          <a:bodyPr/>
          <a:lstStyle/>
          <a:p>
            <a:endParaRPr lang="it-IT"/>
          </a:p>
        </p:txBody>
      </p:sp>
      <p:sp>
        <p:nvSpPr>
          <p:cNvPr id="21" name="Text 19"/>
          <p:cNvSpPr/>
          <p:nvPr/>
        </p:nvSpPr>
        <p:spPr>
          <a:xfrm>
            <a:off x="778154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SPICE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netlist + run</a:t>
            </a:r>
            <a:endParaRPr lang="en-US" sz="1200" dirty="0"/>
          </a:p>
        </p:txBody>
      </p:sp>
      <p:sp>
        <p:nvSpPr>
          <p:cNvPr id="22" name="Shape 20"/>
          <p:cNvSpPr/>
          <p:nvPr/>
        </p:nvSpPr>
        <p:spPr>
          <a:xfrm>
            <a:off x="9125712" y="2295144"/>
            <a:ext cx="182880" cy="0"/>
          </a:xfrm>
          <a:prstGeom prst="line">
            <a:avLst/>
          </a:prstGeom>
          <a:noFill/>
          <a:ln w="15875">
            <a:solidFill>
              <a:srgbClr val="64748B"/>
            </a:solidFill>
            <a:prstDash val="solid"/>
            <a:tailEnd type="triangle"/>
          </a:ln>
        </p:spPr>
        <p:txBody>
          <a:bodyPr/>
          <a:lstStyle/>
          <a:p>
            <a:endParaRPr lang="it-IT"/>
          </a:p>
        </p:txBody>
      </p:sp>
      <p:sp>
        <p:nvSpPr>
          <p:cNvPr id="23" name="Shape 21"/>
          <p:cNvSpPr/>
          <p:nvPr/>
        </p:nvSpPr>
        <p:spPr>
          <a:xfrm>
            <a:off x="9354312" y="2029968"/>
            <a:ext cx="1389888" cy="530352"/>
          </a:xfrm>
          <a:prstGeom prst="roundRect">
            <a:avLst>
              <a:gd name="adj" fmla="val 13793"/>
            </a:avLst>
          </a:prstGeom>
          <a:solidFill>
            <a:srgbClr val="8B5CF6"/>
          </a:solidFill>
          <a:ln w="12700">
            <a:solidFill>
              <a:srgbClr val="8B5CF6"/>
            </a:solidFill>
            <a:prstDash val="solid"/>
          </a:ln>
        </p:spPr>
        <p:txBody>
          <a:bodyPr/>
          <a:lstStyle/>
          <a:p>
            <a:endParaRPr lang="it-IT"/>
          </a:p>
        </p:txBody>
      </p:sp>
      <p:sp>
        <p:nvSpPr>
          <p:cNvPr id="24" name="Text 22"/>
          <p:cNvSpPr/>
          <p:nvPr/>
        </p:nvSpPr>
        <p:spPr>
          <a:xfrm>
            <a:off x="9427464" y="2103120"/>
            <a:ext cx="1243584" cy="384048"/>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Agente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scenari + risposta</a:t>
            </a:r>
            <a:endParaRPr lang="en-US" sz="1200" dirty="0"/>
          </a:p>
        </p:txBody>
      </p:sp>
      <p:sp>
        <p:nvSpPr>
          <p:cNvPr id="25" name="Text 23"/>
          <p:cNvSpPr/>
          <p:nvPr/>
        </p:nvSpPr>
        <p:spPr>
          <a:xfrm>
            <a:off x="749808" y="3273552"/>
            <a:ext cx="22860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PRINCIPIO GUIDA</a:t>
            </a:r>
            <a:endParaRPr lang="en-US" sz="1200" dirty="0"/>
          </a:p>
        </p:txBody>
      </p:sp>
      <p:sp>
        <p:nvSpPr>
          <p:cNvPr id="26" name="Text 24"/>
          <p:cNvSpPr/>
          <p:nvPr/>
        </p:nvSpPr>
        <p:spPr>
          <a:xfrm>
            <a:off x="749808" y="3566160"/>
            <a:ext cx="5120640" cy="502920"/>
          </a:xfrm>
          <a:prstGeom prst="rect">
            <a:avLst/>
          </a:prstGeom>
          <a:noFill/>
          <a:ln/>
        </p:spPr>
        <p:txBody>
          <a:bodyPr wrap="square" lIns="0" tIns="0" rIns="0" bIns="0" rtlCol="0" anchor="ctr">
            <a:normAutofit fontScale="92500" lnSpcReduction="20000"/>
          </a:bodyPr>
          <a:lstStyle/>
          <a:p>
            <a:pPr marL="0" indent="0">
              <a:buNone/>
            </a:pPr>
            <a:r>
              <a:rPr lang="en-US" sz="2200" b="1" dirty="0">
                <a:solidFill>
                  <a:srgbClr val="0B1320"/>
                </a:solidFill>
                <a:latin typeface="Aptos Display" pitchFamily="34" charset="0"/>
                <a:ea typeface="Aptos Display" pitchFamily="34" charset="-122"/>
                <a:cs typeface="Aptos Display" pitchFamily="34" charset="-120"/>
              </a:rPr>
              <a:t>Non ricostruzione perfetta dello schema, ma rappresentazione tecnica controllabile.</a:t>
            </a:r>
            <a:endParaRPr lang="en-US" sz="2200" dirty="0"/>
          </a:p>
        </p:txBody>
      </p:sp>
      <p:sp>
        <p:nvSpPr>
          <p:cNvPr id="27" name="Shape 25"/>
          <p:cNvSpPr/>
          <p:nvPr/>
        </p:nvSpPr>
        <p:spPr>
          <a:xfrm>
            <a:off x="804672" y="4434840"/>
            <a:ext cx="73152" cy="73152"/>
          </a:xfrm>
          <a:prstGeom prst="ellipse">
            <a:avLst/>
          </a:prstGeom>
          <a:solidFill>
            <a:srgbClr val="10B981"/>
          </a:solidFill>
          <a:ln w="12700">
            <a:solidFill>
              <a:srgbClr val="10B981"/>
            </a:solidFill>
            <a:prstDash val="solid"/>
          </a:ln>
        </p:spPr>
        <p:txBody>
          <a:bodyPr/>
          <a:lstStyle/>
          <a:p>
            <a:endParaRPr lang="it-IT"/>
          </a:p>
        </p:txBody>
      </p:sp>
      <p:sp>
        <p:nvSpPr>
          <p:cNvPr id="28" name="Text 26"/>
          <p:cNvSpPr/>
          <p:nvPr/>
        </p:nvSpPr>
        <p:spPr>
          <a:xfrm>
            <a:off x="969264" y="4370832"/>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Ogni step produce artefatti leggibili e versionabili.</a:t>
            </a:r>
            <a:endParaRPr lang="en-US" sz="1260" dirty="0"/>
          </a:p>
        </p:txBody>
      </p:sp>
      <p:sp>
        <p:nvSpPr>
          <p:cNvPr id="29" name="Shape 27"/>
          <p:cNvSpPr/>
          <p:nvPr/>
        </p:nvSpPr>
        <p:spPr>
          <a:xfrm>
            <a:off x="804672" y="4773168"/>
            <a:ext cx="73152" cy="73152"/>
          </a:xfrm>
          <a:prstGeom prst="ellipse">
            <a:avLst/>
          </a:prstGeom>
          <a:solidFill>
            <a:srgbClr val="10B981"/>
          </a:solidFill>
          <a:ln w="12700">
            <a:solidFill>
              <a:srgbClr val="10B981"/>
            </a:solidFill>
            <a:prstDash val="solid"/>
          </a:ln>
        </p:spPr>
        <p:txBody>
          <a:bodyPr/>
          <a:lstStyle/>
          <a:p>
            <a:endParaRPr lang="it-IT"/>
          </a:p>
        </p:txBody>
      </p:sp>
      <p:sp>
        <p:nvSpPr>
          <p:cNvPr id="30" name="Text 28"/>
          <p:cNvSpPr/>
          <p:nvPr/>
        </p:nvSpPr>
        <p:spPr>
          <a:xfrm>
            <a:off x="969264" y="4709160"/>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Le assunzioni sono dichiarate nei file YAML, non nascoste nel codice.</a:t>
            </a:r>
            <a:endParaRPr lang="en-US" sz="1260" dirty="0"/>
          </a:p>
        </p:txBody>
      </p:sp>
      <p:sp>
        <p:nvSpPr>
          <p:cNvPr id="31" name="Shape 29"/>
          <p:cNvSpPr/>
          <p:nvPr/>
        </p:nvSpPr>
        <p:spPr>
          <a:xfrm>
            <a:off x="804672" y="5111496"/>
            <a:ext cx="73152" cy="73152"/>
          </a:xfrm>
          <a:prstGeom prst="ellipse">
            <a:avLst/>
          </a:prstGeom>
          <a:solidFill>
            <a:srgbClr val="10B981"/>
          </a:solidFill>
          <a:ln w="12700">
            <a:solidFill>
              <a:srgbClr val="10B981"/>
            </a:solidFill>
            <a:prstDash val="solid"/>
          </a:ln>
        </p:spPr>
        <p:txBody>
          <a:bodyPr/>
          <a:lstStyle/>
          <a:p>
            <a:endParaRPr lang="it-IT"/>
          </a:p>
        </p:txBody>
      </p:sp>
      <p:sp>
        <p:nvSpPr>
          <p:cNvPr id="32" name="Text 30"/>
          <p:cNvSpPr/>
          <p:nvPr/>
        </p:nvSpPr>
        <p:spPr>
          <a:xfrm>
            <a:off x="969264" y="5047488"/>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La base run non viene mai modificata: ogni test è una copia scenario.</a:t>
            </a:r>
            <a:endParaRPr lang="en-US" sz="1260" dirty="0"/>
          </a:p>
        </p:txBody>
      </p:sp>
      <p:sp>
        <p:nvSpPr>
          <p:cNvPr id="33" name="Shape 31"/>
          <p:cNvSpPr/>
          <p:nvPr/>
        </p:nvSpPr>
        <p:spPr>
          <a:xfrm>
            <a:off x="804672" y="5449824"/>
            <a:ext cx="73152" cy="73152"/>
          </a:xfrm>
          <a:prstGeom prst="ellipse">
            <a:avLst/>
          </a:prstGeom>
          <a:solidFill>
            <a:srgbClr val="10B981"/>
          </a:solidFill>
          <a:ln w="12700">
            <a:solidFill>
              <a:srgbClr val="10B981"/>
            </a:solidFill>
            <a:prstDash val="solid"/>
          </a:ln>
        </p:spPr>
        <p:txBody>
          <a:bodyPr/>
          <a:lstStyle/>
          <a:p>
            <a:endParaRPr lang="it-IT"/>
          </a:p>
        </p:txBody>
      </p:sp>
      <p:sp>
        <p:nvSpPr>
          <p:cNvPr id="34" name="Text 32"/>
          <p:cNvSpPr/>
          <p:nvPr/>
        </p:nvSpPr>
        <p:spPr>
          <a:xfrm>
            <a:off x="969264" y="5385816"/>
            <a:ext cx="5093208" cy="237744"/>
          </a:xfrm>
          <a:prstGeom prst="rect">
            <a:avLst/>
          </a:prstGeom>
          <a:noFill/>
          <a:ln/>
        </p:spPr>
        <p:txBody>
          <a:bodyPr wrap="square" lIns="0" tIns="0" rIns="0" bIns="0" rtlCol="0" anchor="ctr">
            <a:normAutofit/>
          </a:bodyPr>
          <a:lstStyle/>
          <a:p>
            <a:pPr marL="0" indent="0">
              <a:buNone/>
            </a:pPr>
            <a:r>
              <a:rPr lang="en-US" sz="1260" dirty="0">
                <a:solidFill>
                  <a:srgbClr val="1F2937"/>
                </a:solidFill>
                <a:latin typeface="Aptos" pitchFamily="34" charset="0"/>
                <a:ea typeface="Aptos" pitchFamily="34" charset="-122"/>
                <a:cs typeface="Aptos" pitchFamily="34" charset="-120"/>
              </a:rPr>
              <a:t>Il modello AI ragiona su evidenze, non su ipotesi libere.</a:t>
            </a:r>
            <a:endParaRPr lang="en-US" sz="1260" dirty="0"/>
          </a:p>
        </p:txBody>
      </p:sp>
      <p:sp>
        <p:nvSpPr>
          <p:cNvPr id="35" name="Text 33"/>
          <p:cNvSpPr/>
          <p:nvPr/>
        </p:nvSpPr>
        <p:spPr>
          <a:xfrm>
            <a:off x="6537960" y="3273552"/>
            <a:ext cx="22860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OUTPUT TECNICI</a:t>
            </a:r>
            <a:endParaRPr lang="en-US" sz="1200" dirty="0"/>
          </a:p>
        </p:txBody>
      </p:sp>
      <p:sp>
        <p:nvSpPr>
          <p:cNvPr id="36" name="Shape 34"/>
          <p:cNvSpPr/>
          <p:nvPr/>
        </p:nvSpPr>
        <p:spPr>
          <a:xfrm>
            <a:off x="6537960" y="3611880"/>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37" name="Text 35"/>
          <p:cNvSpPr/>
          <p:nvPr/>
        </p:nvSpPr>
        <p:spPr>
          <a:xfrm>
            <a:off x="6647688" y="3721608"/>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01</a:t>
            </a:r>
            <a:endParaRPr lang="en-US" sz="1200" dirty="0"/>
          </a:p>
        </p:txBody>
      </p:sp>
      <p:sp>
        <p:nvSpPr>
          <p:cNvPr id="38" name="Text 36"/>
          <p:cNvSpPr/>
          <p:nvPr/>
        </p:nvSpPr>
        <p:spPr>
          <a:xfrm>
            <a:off x="6922008" y="3712464"/>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bbox + istanze</a:t>
            </a:r>
            <a:endParaRPr lang="en-US" sz="1200" dirty="0"/>
          </a:p>
        </p:txBody>
      </p:sp>
      <p:sp>
        <p:nvSpPr>
          <p:cNvPr id="39" name="Shape 37"/>
          <p:cNvSpPr/>
          <p:nvPr/>
        </p:nvSpPr>
        <p:spPr>
          <a:xfrm>
            <a:off x="8549640" y="3611880"/>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0" name="Text 38"/>
          <p:cNvSpPr/>
          <p:nvPr/>
        </p:nvSpPr>
        <p:spPr>
          <a:xfrm>
            <a:off x="8659368" y="3721608"/>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02</a:t>
            </a:r>
            <a:endParaRPr lang="en-US" sz="1200" dirty="0"/>
          </a:p>
        </p:txBody>
      </p:sp>
      <p:sp>
        <p:nvSpPr>
          <p:cNvPr id="41" name="Text 39"/>
          <p:cNvSpPr/>
          <p:nvPr/>
        </p:nvSpPr>
        <p:spPr>
          <a:xfrm>
            <a:off x="8933688" y="3712464"/>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Graph JSON</a:t>
            </a:r>
            <a:endParaRPr lang="en-US" sz="1200" dirty="0"/>
          </a:p>
        </p:txBody>
      </p:sp>
      <p:sp>
        <p:nvSpPr>
          <p:cNvPr id="42" name="Shape 40"/>
          <p:cNvSpPr/>
          <p:nvPr/>
        </p:nvSpPr>
        <p:spPr>
          <a:xfrm>
            <a:off x="6537960" y="4233672"/>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3" name="Text 41"/>
          <p:cNvSpPr/>
          <p:nvPr/>
        </p:nvSpPr>
        <p:spPr>
          <a:xfrm>
            <a:off x="6647688" y="4343400"/>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03</a:t>
            </a:r>
            <a:endParaRPr lang="en-US" sz="1200" dirty="0"/>
          </a:p>
        </p:txBody>
      </p:sp>
      <p:sp>
        <p:nvSpPr>
          <p:cNvPr id="44" name="Text 42"/>
          <p:cNvSpPr/>
          <p:nvPr/>
        </p:nvSpPr>
        <p:spPr>
          <a:xfrm>
            <a:off x="6922008" y="4334256"/>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netlist SPICE</a:t>
            </a:r>
            <a:endParaRPr lang="en-US" sz="1200" dirty="0"/>
          </a:p>
        </p:txBody>
      </p:sp>
      <p:sp>
        <p:nvSpPr>
          <p:cNvPr id="45" name="Shape 43"/>
          <p:cNvSpPr/>
          <p:nvPr/>
        </p:nvSpPr>
        <p:spPr>
          <a:xfrm>
            <a:off x="8549640" y="4233672"/>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6" name="Text 44"/>
          <p:cNvSpPr/>
          <p:nvPr/>
        </p:nvSpPr>
        <p:spPr>
          <a:xfrm>
            <a:off x="8659368" y="4343400"/>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04</a:t>
            </a:r>
            <a:endParaRPr lang="en-US" sz="1200" dirty="0"/>
          </a:p>
        </p:txBody>
      </p:sp>
      <p:sp>
        <p:nvSpPr>
          <p:cNvPr id="47" name="Text 45"/>
          <p:cNvSpPr/>
          <p:nvPr/>
        </p:nvSpPr>
        <p:spPr>
          <a:xfrm>
            <a:off x="8933688" y="4334256"/>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ngspice OP/TRAN</a:t>
            </a:r>
            <a:endParaRPr lang="en-US" sz="1200" dirty="0"/>
          </a:p>
        </p:txBody>
      </p:sp>
      <p:sp>
        <p:nvSpPr>
          <p:cNvPr id="48" name="Shape 46"/>
          <p:cNvSpPr/>
          <p:nvPr/>
        </p:nvSpPr>
        <p:spPr>
          <a:xfrm>
            <a:off x="6537960" y="4855464"/>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49" name="Text 47"/>
          <p:cNvSpPr/>
          <p:nvPr/>
        </p:nvSpPr>
        <p:spPr>
          <a:xfrm>
            <a:off x="6647688" y="4965192"/>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05</a:t>
            </a:r>
            <a:endParaRPr lang="en-US" sz="1200" dirty="0"/>
          </a:p>
        </p:txBody>
      </p:sp>
      <p:sp>
        <p:nvSpPr>
          <p:cNvPr id="50" name="Text 48"/>
          <p:cNvSpPr/>
          <p:nvPr/>
        </p:nvSpPr>
        <p:spPr>
          <a:xfrm>
            <a:off x="6922008" y="4956048"/>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scenario_comparison</a:t>
            </a:r>
            <a:endParaRPr lang="en-US" sz="1200" dirty="0"/>
          </a:p>
        </p:txBody>
      </p:sp>
      <p:sp>
        <p:nvSpPr>
          <p:cNvPr id="51" name="Shape 49"/>
          <p:cNvSpPr/>
          <p:nvPr/>
        </p:nvSpPr>
        <p:spPr>
          <a:xfrm>
            <a:off x="8549640" y="4855464"/>
            <a:ext cx="1783080" cy="384048"/>
          </a:xfrm>
          <a:prstGeom prst="roundRect">
            <a:avLst>
              <a:gd name="adj" fmla="val 11905"/>
            </a:avLst>
          </a:prstGeom>
          <a:solidFill>
            <a:srgbClr val="FFFFFF"/>
          </a:solidFill>
          <a:ln w="12700">
            <a:solidFill>
              <a:srgbClr val="E2E8F0"/>
            </a:solidFill>
            <a:prstDash val="solid"/>
          </a:ln>
        </p:spPr>
        <p:txBody>
          <a:bodyPr/>
          <a:lstStyle/>
          <a:p>
            <a:endParaRPr lang="it-IT"/>
          </a:p>
        </p:txBody>
      </p:sp>
      <p:sp>
        <p:nvSpPr>
          <p:cNvPr id="52" name="Text 50"/>
          <p:cNvSpPr/>
          <p:nvPr/>
        </p:nvSpPr>
        <p:spPr>
          <a:xfrm>
            <a:off x="8659368" y="4965192"/>
            <a:ext cx="228600" cy="109728"/>
          </a:xfrm>
          <a:prstGeom prst="rect">
            <a:avLst/>
          </a:prstGeom>
          <a:noFill/>
          <a:ln/>
        </p:spPr>
        <p:txBody>
          <a:bodyPr wrap="square" lIns="0" tIns="0" rIns="0" bIns="0" rtlCol="0" anchor="ctr"/>
          <a:lstStyle/>
          <a:p>
            <a:pPr marL="0" indent="0">
              <a:buNone/>
            </a:pPr>
            <a:r>
              <a:rPr lang="en-US" sz="1200" b="1" dirty="0">
                <a:solidFill>
                  <a:srgbClr val="059669"/>
                </a:solidFill>
              </a:rPr>
              <a:t>06</a:t>
            </a:r>
            <a:endParaRPr lang="en-US" sz="1200" dirty="0"/>
          </a:p>
        </p:txBody>
      </p:sp>
      <p:sp>
        <p:nvSpPr>
          <p:cNvPr id="53" name="Text 51"/>
          <p:cNvSpPr/>
          <p:nvPr/>
        </p:nvSpPr>
        <p:spPr>
          <a:xfrm>
            <a:off x="8933688" y="4956048"/>
            <a:ext cx="123444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viewer SVG + diagnosi</a:t>
            </a:r>
            <a:endParaRPr lang="en-US" sz="1200" dirty="0"/>
          </a:p>
        </p:txBody>
      </p:sp>
      <p:sp>
        <p:nvSpPr>
          <p:cNvPr id="54" name="Text 52"/>
          <p:cNvSpPr/>
          <p:nvPr/>
        </p:nvSpPr>
        <p:spPr>
          <a:xfrm>
            <a:off x="6565392" y="5623560"/>
            <a:ext cx="4434840" cy="402336"/>
          </a:xfrm>
          <a:prstGeom prst="rect">
            <a:avLst/>
          </a:prstGeom>
          <a:noFill/>
          <a:ln/>
        </p:spPr>
        <p:txBody>
          <a:bodyPr wrap="square" lIns="0" tIns="0" rIns="0" bIns="0" rtlCol="0" anchor="ctr">
            <a:normAutofit/>
          </a:bodyPr>
          <a:lstStyle/>
          <a:p>
            <a:pPr marL="0" indent="0">
              <a:buNone/>
            </a:pPr>
            <a:r>
              <a:rPr lang="en-US" sz="1320" dirty="0">
                <a:solidFill>
                  <a:srgbClr val="334155"/>
                </a:solidFill>
                <a:latin typeface="Aptos" pitchFamily="34" charset="0"/>
                <a:ea typeface="Aptos" pitchFamily="34" charset="-122"/>
                <a:cs typeface="Aptos" pitchFamily="34" charset="-120"/>
              </a:rPr>
              <a:t>Stesso schema logico per circuiti semplici e complessi: cambia il livello di simulabilità, non il metodo.</a:t>
            </a:r>
            <a:endParaRPr lang="en-US" sz="13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pic>
        <p:nvPicPr>
          <p:cNvPr id="45" name="Picture 4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Dataset e augmentation</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Costruzione della base dati per object detection</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03</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658368" y="1600200"/>
            <a:ext cx="1828800" cy="384048"/>
          </a:xfrm>
          <a:prstGeom prst="rect">
            <a:avLst/>
          </a:prstGeom>
          <a:noFill/>
          <a:ln/>
        </p:spPr>
        <p:txBody>
          <a:bodyPr wrap="square" lIns="0" tIns="0" rIns="0" bIns="0" rtlCol="0" anchor="ctr"/>
          <a:lstStyle/>
          <a:p>
            <a:pPr marL="0" indent="0" algn="ctr">
              <a:buNone/>
            </a:pPr>
            <a:r>
              <a:rPr lang="en-US" sz="2800" b="1" dirty="0">
                <a:solidFill>
                  <a:srgbClr val="10B981"/>
                </a:solidFill>
                <a:latin typeface="Aptos Display" pitchFamily="34" charset="0"/>
                <a:ea typeface="Aptos Display" pitchFamily="34" charset="-122"/>
                <a:cs typeface="Aptos Display" pitchFamily="34" charset="-120"/>
              </a:rPr>
              <a:t>627</a:t>
            </a:r>
            <a:endParaRPr lang="en-US" sz="2800" dirty="0"/>
          </a:p>
        </p:txBody>
      </p:sp>
      <p:sp>
        <p:nvSpPr>
          <p:cNvPr id="9" name="Text 7"/>
          <p:cNvSpPr/>
          <p:nvPr/>
        </p:nvSpPr>
        <p:spPr>
          <a:xfrm>
            <a:off x="658368" y="1984248"/>
            <a:ext cx="1828800" cy="274320"/>
          </a:xfrm>
          <a:prstGeom prst="rect">
            <a:avLst/>
          </a:prstGeom>
          <a:noFill/>
          <a:ln/>
        </p:spPr>
        <p:txBody>
          <a:bodyPr wrap="square" lIns="0" tIns="0" rIns="0" bIns="0" rtlCol="0" anchor="ctr"/>
          <a:lstStyle/>
          <a:p>
            <a:pPr marL="0" indent="0" algn="ctr">
              <a:buNone/>
            </a:pPr>
            <a:r>
              <a:rPr lang="en-US" sz="1200" dirty="0" err="1">
                <a:solidFill>
                  <a:srgbClr val="334155"/>
                </a:solidFill>
                <a:latin typeface="Aptos" pitchFamily="34" charset="0"/>
                <a:ea typeface="Aptos" pitchFamily="34" charset="-122"/>
                <a:cs typeface="Aptos" pitchFamily="34" charset="-120"/>
              </a:rPr>
              <a:t>immagini</a:t>
            </a:r>
            <a:r>
              <a:rPr lang="en-US" sz="1200" dirty="0">
                <a:solidFill>
                  <a:srgbClr val="334155"/>
                </a:solidFill>
                <a:latin typeface="Aptos" pitchFamily="34" charset="0"/>
                <a:ea typeface="Aptos" pitchFamily="34" charset="-122"/>
                <a:cs typeface="Aptos" pitchFamily="34" charset="-120"/>
              </a:rPr>
              <a:t> annotate</a:t>
            </a:r>
            <a:endParaRPr lang="en-US" sz="1200" dirty="0"/>
          </a:p>
        </p:txBody>
      </p:sp>
      <p:sp>
        <p:nvSpPr>
          <p:cNvPr id="10" name="Text 8"/>
          <p:cNvSpPr/>
          <p:nvPr/>
        </p:nvSpPr>
        <p:spPr>
          <a:xfrm>
            <a:off x="2788920" y="1600200"/>
            <a:ext cx="1828800" cy="384048"/>
          </a:xfrm>
          <a:prstGeom prst="rect">
            <a:avLst/>
          </a:prstGeom>
          <a:noFill/>
          <a:ln/>
        </p:spPr>
        <p:txBody>
          <a:bodyPr wrap="square" lIns="0" tIns="0" rIns="0" bIns="0" rtlCol="0" anchor="ctr"/>
          <a:lstStyle/>
          <a:p>
            <a:pPr marL="0" indent="0" algn="ctr">
              <a:buNone/>
            </a:pPr>
            <a:r>
              <a:rPr lang="en-US" sz="2800" b="1" dirty="0">
                <a:solidFill>
                  <a:srgbClr val="2563EB"/>
                </a:solidFill>
                <a:latin typeface="Aptos Display" pitchFamily="34" charset="0"/>
                <a:ea typeface="Aptos Display" pitchFamily="34" charset="-122"/>
                <a:cs typeface="Aptos Display" pitchFamily="34" charset="-120"/>
              </a:rPr>
              <a:t>YOLO</a:t>
            </a:r>
            <a:endParaRPr lang="en-US" sz="2800" dirty="0"/>
          </a:p>
        </p:txBody>
      </p:sp>
      <p:sp>
        <p:nvSpPr>
          <p:cNvPr id="11" name="Text 9"/>
          <p:cNvSpPr/>
          <p:nvPr/>
        </p:nvSpPr>
        <p:spPr>
          <a:xfrm>
            <a:off x="2788920" y="198424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formato bbox + classi</a:t>
            </a:r>
            <a:endParaRPr lang="en-US" sz="1200" dirty="0"/>
          </a:p>
        </p:txBody>
      </p:sp>
      <p:sp>
        <p:nvSpPr>
          <p:cNvPr id="12" name="Text 10"/>
          <p:cNvSpPr/>
          <p:nvPr/>
        </p:nvSpPr>
        <p:spPr>
          <a:xfrm>
            <a:off x="4919472" y="1600200"/>
            <a:ext cx="1828800" cy="384048"/>
          </a:xfrm>
          <a:prstGeom prst="rect">
            <a:avLst/>
          </a:prstGeom>
          <a:noFill/>
          <a:ln/>
        </p:spPr>
        <p:txBody>
          <a:bodyPr wrap="square" lIns="0" tIns="0" rIns="0" bIns="0" rtlCol="0" anchor="ctr"/>
          <a:lstStyle/>
          <a:p>
            <a:pPr marL="0" indent="0" algn="ctr">
              <a:buNone/>
            </a:pPr>
            <a:r>
              <a:rPr lang="en-US" sz="2800" b="1" dirty="0">
                <a:solidFill>
                  <a:srgbClr val="8B5CF6"/>
                </a:solidFill>
                <a:latin typeface="Aptos Display" pitchFamily="34" charset="0"/>
                <a:ea typeface="Aptos Display" pitchFamily="34" charset="-122"/>
                <a:cs typeface="Aptos Display" pitchFamily="34" charset="-120"/>
              </a:rPr>
              <a:t>1024</a:t>
            </a:r>
            <a:endParaRPr lang="en-US" sz="2800" dirty="0"/>
          </a:p>
        </p:txBody>
      </p:sp>
      <p:sp>
        <p:nvSpPr>
          <p:cNvPr id="13" name="Text 11"/>
          <p:cNvSpPr/>
          <p:nvPr/>
        </p:nvSpPr>
        <p:spPr>
          <a:xfrm>
            <a:off x="4919472" y="198424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risoluzione input</a:t>
            </a:r>
            <a:endParaRPr lang="en-US" sz="1200" dirty="0"/>
          </a:p>
        </p:txBody>
      </p:sp>
      <p:sp>
        <p:nvSpPr>
          <p:cNvPr id="14" name="Shape 12"/>
          <p:cNvSpPr/>
          <p:nvPr/>
        </p:nvSpPr>
        <p:spPr>
          <a:xfrm>
            <a:off x="749808" y="2606040"/>
            <a:ext cx="5806440" cy="0"/>
          </a:xfrm>
          <a:prstGeom prst="line">
            <a:avLst/>
          </a:prstGeom>
          <a:noFill/>
          <a:ln w="12700">
            <a:solidFill>
              <a:srgbClr val="CBD5E1"/>
            </a:solidFill>
            <a:prstDash val="solid"/>
          </a:ln>
        </p:spPr>
        <p:txBody>
          <a:bodyPr/>
          <a:lstStyle/>
          <a:p>
            <a:endParaRPr lang="it-IT"/>
          </a:p>
        </p:txBody>
      </p:sp>
      <p:sp>
        <p:nvSpPr>
          <p:cNvPr id="15" name="Text 13"/>
          <p:cNvSpPr/>
          <p:nvPr/>
        </p:nvSpPr>
        <p:spPr>
          <a:xfrm>
            <a:off x="786384" y="2907792"/>
            <a:ext cx="2743200" cy="201168"/>
          </a:xfrm>
          <a:prstGeom prst="rect">
            <a:avLst/>
          </a:prstGeom>
          <a:noFill/>
          <a:ln/>
        </p:spPr>
        <p:txBody>
          <a:bodyPr wrap="square" lIns="0" tIns="0" rIns="0" bIns="0" rtlCol="0" anchor="ctr"/>
          <a:lstStyle/>
          <a:p>
            <a:pPr marL="0" indent="0">
              <a:buNone/>
            </a:pPr>
            <a:r>
              <a:rPr lang="en-US" sz="860" b="1" dirty="0">
                <a:solidFill>
                  <a:srgbClr val="059669"/>
                </a:solidFill>
                <a:latin typeface="Aptos" pitchFamily="34" charset="0"/>
                <a:ea typeface="Aptos" pitchFamily="34" charset="-122"/>
                <a:cs typeface="Aptos" pitchFamily="34" charset="-120"/>
              </a:rPr>
              <a:t>DATASET ROBOFLOW</a:t>
            </a:r>
            <a:endParaRPr lang="en-US" sz="860" dirty="0"/>
          </a:p>
        </p:txBody>
      </p:sp>
      <p:sp>
        <p:nvSpPr>
          <p:cNvPr id="16" name="Shape 14"/>
          <p:cNvSpPr/>
          <p:nvPr/>
        </p:nvSpPr>
        <p:spPr>
          <a:xfrm>
            <a:off x="841248" y="3355848"/>
            <a:ext cx="73152" cy="73152"/>
          </a:xfrm>
          <a:prstGeom prst="ellipse">
            <a:avLst/>
          </a:prstGeom>
          <a:solidFill>
            <a:srgbClr val="10B981"/>
          </a:solidFill>
          <a:ln w="12700">
            <a:solidFill>
              <a:srgbClr val="10B981"/>
            </a:solidFill>
            <a:prstDash val="solid"/>
          </a:ln>
        </p:spPr>
        <p:txBody>
          <a:bodyPr/>
          <a:lstStyle/>
          <a:p>
            <a:endParaRPr lang="it-IT"/>
          </a:p>
        </p:txBody>
      </p:sp>
      <p:sp>
        <p:nvSpPr>
          <p:cNvPr id="17" name="Text 15"/>
          <p:cNvSpPr/>
          <p:nvPr/>
        </p:nvSpPr>
        <p:spPr>
          <a:xfrm>
            <a:off x="1005840" y="3291840"/>
            <a:ext cx="4956048" cy="237744"/>
          </a:xfrm>
          <a:prstGeom prst="rect">
            <a:avLst/>
          </a:prstGeom>
          <a:noFill/>
          <a:ln/>
        </p:spPr>
        <p:txBody>
          <a:bodyPr wrap="square" lIns="0" tIns="0" rIns="0" bIns="0" rtlCol="0" anchor="ctr">
            <a:normAutofit/>
          </a:bodyPr>
          <a:lstStyle/>
          <a:p>
            <a:pPr marL="0" indent="0">
              <a:buNone/>
            </a:pPr>
            <a:r>
              <a:rPr lang="en-US" sz="1270" dirty="0">
                <a:solidFill>
                  <a:srgbClr val="1F2937"/>
                </a:solidFill>
                <a:latin typeface="Aptos" pitchFamily="34" charset="0"/>
                <a:ea typeface="Aptos" pitchFamily="34" charset="-122"/>
                <a:cs typeface="Aptos" pitchFamily="34" charset="-120"/>
              </a:rPr>
              <a:t>Annotazione manuale dei componenti con bounding box.</a:t>
            </a:r>
            <a:endParaRPr lang="en-US" sz="1270" dirty="0"/>
          </a:p>
        </p:txBody>
      </p:sp>
      <p:sp>
        <p:nvSpPr>
          <p:cNvPr id="18" name="Shape 16"/>
          <p:cNvSpPr/>
          <p:nvPr/>
        </p:nvSpPr>
        <p:spPr>
          <a:xfrm>
            <a:off x="841248" y="3739896"/>
            <a:ext cx="73152" cy="73152"/>
          </a:xfrm>
          <a:prstGeom prst="ellipse">
            <a:avLst/>
          </a:prstGeom>
          <a:solidFill>
            <a:srgbClr val="10B981"/>
          </a:solidFill>
          <a:ln w="12700">
            <a:solidFill>
              <a:srgbClr val="10B981"/>
            </a:solidFill>
            <a:prstDash val="solid"/>
          </a:ln>
        </p:spPr>
        <p:txBody>
          <a:bodyPr/>
          <a:lstStyle/>
          <a:p>
            <a:endParaRPr lang="it-IT"/>
          </a:p>
        </p:txBody>
      </p:sp>
      <p:sp>
        <p:nvSpPr>
          <p:cNvPr id="19" name="Text 17"/>
          <p:cNvSpPr/>
          <p:nvPr/>
        </p:nvSpPr>
        <p:spPr>
          <a:xfrm>
            <a:off x="1005840" y="3675888"/>
            <a:ext cx="4956048" cy="237744"/>
          </a:xfrm>
          <a:prstGeom prst="rect">
            <a:avLst/>
          </a:prstGeom>
          <a:noFill/>
          <a:ln/>
        </p:spPr>
        <p:txBody>
          <a:bodyPr wrap="square" lIns="0" tIns="0" rIns="0" bIns="0" rtlCol="0" anchor="ctr">
            <a:normAutofit/>
          </a:bodyPr>
          <a:lstStyle/>
          <a:p>
            <a:pPr marL="0" indent="0">
              <a:buNone/>
            </a:pPr>
            <a:r>
              <a:rPr lang="en-US" sz="1270" dirty="0">
                <a:solidFill>
                  <a:srgbClr val="1F2937"/>
                </a:solidFill>
                <a:latin typeface="Aptos" pitchFamily="34" charset="0"/>
                <a:ea typeface="Aptos" pitchFamily="34" charset="-122"/>
                <a:cs typeface="Aptos" pitchFamily="34" charset="-120"/>
              </a:rPr>
              <a:t>Esportazione in formato YOLO per train/validation/test.</a:t>
            </a:r>
            <a:endParaRPr lang="en-US" sz="1270" dirty="0"/>
          </a:p>
        </p:txBody>
      </p:sp>
      <p:sp>
        <p:nvSpPr>
          <p:cNvPr id="20" name="Shape 18"/>
          <p:cNvSpPr/>
          <p:nvPr/>
        </p:nvSpPr>
        <p:spPr>
          <a:xfrm>
            <a:off x="841248" y="4123944"/>
            <a:ext cx="73152" cy="73152"/>
          </a:xfrm>
          <a:prstGeom prst="ellipse">
            <a:avLst/>
          </a:prstGeom>
          <a:solidFill>
            <a:srgbClr val="10B981"/>
          </a:solidFill>
          <a:ln w="12700">
            <a:solidFill>
              <a:srgbClr val="10B981"/>
            </a:solidFill>
            <a:prstDash val="solid"/>
          </a:ln>
        </p:spPr>
        <p:txBody>
          <a:bodyPr/>
          <a:lstStyle/>
          <a:p>
            <a:endParaRPr lang="it-IT"/>
          </a:p>
        </p:txBody>
      </p:sp>
      <p:sp>
        <p:nvSpPr>
          <p:cNvPr id="21" name="Text 19"/>
          <p:cNvSpPr/>
          <p:nvPr/>
        </p:nvSpPr>
        <p:spPr>
          <a:xfrm>
            <a:off x="1005840" y="4059936"/>
            <a:ext cx="4956048" cy="237744"/>
          </a:xfrm>
          <a:prstGeom prst="rect">
            <a:avLst/>
          </a:prstGeom>
          <a:noFill/>
          <a:ln/>
        </p:spPr>
        <p:txBody>
          <a:bodyPr wrap="square" lIns="0" tIns="0" rIns="0" bIns="0" rtlCol="0" anchor="ctr">
            <a:normAutofit/>
          </a:bodyPr>
          <a:lstStyle/>
          <a:p>
            <a:pPr marL="0" indent="0">
              <a:buNone/>
            </a:pPr>
            <a:r>
              <a:rPr lang="en-US" sz="1270" dirty="0">
                <a:solidFill>
                  <a:srgbClr val="1F2937"/>
                </a:solidFill>
                <a:latin typeface="Aptos" pitchFamily="34" charset="0"/>
                <a:ea typeface="Aptos" pitchFamily="34" charset="-122"/>
                <a:cs typeface="Aptos" pitchFamily="34" charset="-120"/>
              </a:rPr>
              <a:t>Label e split mantenuti tracciabili tra esperimenti.</a:t>
            </a:r>
            <a:endParaRPr lang="en-US" sz="1270" dirty="0"/>
          </a:p>
        </p:txBody>
      </p:sp>
      <p:sp>
        <p:nvSpPr>
          <p:cNvPr id="22" name="Text 20"/>
          <p:cNvSpPr/>
          <p:nvPr/>
        </p:nvSpPr>
        <p:spPr>
          <a:xfrm>
            <a:off x="6812280" y="1463040"/>
            <a:ext cx="27432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VARIANTI GENERATE</a:t>
            </a:r>
            <a:endParaRPr lang="en-US" sz="1200" dirty="0"/>
          </a:p>
        </p:txBody>
      </p:sp>
      <p:sp>
        <p:nvSpPr>
          <p:cNvPr id="23" name="Shape 21"/>
          <p:cNvSpPr/>
          <p:nvPr/>
        </p:nvSpPr>
        <p:spPr>
          <a:xfrm>
            <a:off x="6812280" y="1874520"/>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24" name="Text 22"/>
          <p:cNvSpPr/>
          <p:nvPr/>
        </p:nvSpPr>
        <p:spPr>
          <a:xfrm>
            <a:off x="6885432" y="1947672"/>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RGB baseline</a:t>
            </a:r>
            <a:endParaRPr lang="en-US" sz="1200" dirty="0"/>
          </a:p>
        </p:txBody>
      </p:sp>
      <p:sp>
        <p:nvSpPr>
          <p:cNvPr id="25" name="Text 23"/>
          <p:cNvSpPr/>
          <p:nvPr/>
        </p:nvSpPr>
        <p:spPr>
          <a:xfrm>
            <a:off x="8458200" y="1929384"/>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dataset originale</a:t>
            </a:r>
            <a:endParaRPr lang="en-US" sz="1200" dirty="0"/>
          </a:p>
        </p:txBody>
      </p:sp>
      <p:sp>
        <p:nvSpPr>
          <p:cNvPr id="26" name="Shape 24"/>
          <p:cNvSpPr/>
          <p:nvPr/>
        </p:nvSpPr>
        <p:spPr>
          <a:xfrm>
            <a:off x="7552944" y="2203704"/>
            <a:ext cx="0" cy="274320"/>
          </a:xfrm>
          <a:prstGeom prst="line">
            <a:avLst/>
          </a:prstGeom>
          <a:noFill/>
          <a:ln w="13970">
            <a:solidFill>
              <a:srgbClr val="CBD5E1"/>
            </a:solidFill>
            <a:prstDash val="solid"/>
            <a:tailEnd type="triangle"/>
          </a:ln>
        </p:spPr>
        <p:txBody>
          <a:bodyPr/>
          <a:lstStyle/>
          <a:p>
            <a:endParaRPr lang="it-IT" dirty="0"/>
          </a:p>
        </p:txBody>
      </p:sp>
      <p:sp>
        <p:nvSpPr>
          <p:cNvPr id="27" name="Shape 25"/>
          <p:cNvSpPr/>
          <p:nvPr/>
        </p:nvSpPr>
        <p:spPr>
          <a:xfrm>
            <a:off x="6812280" y="2478024"/>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28" name="Text 26"/>
          <p:cNvSpPr/>
          <p:nvPr/>
        </p:nvSpPr>
        <p:spPr>
          <a:xfrm>
            <a:off x="6885432" y="2551176"/>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Grayscale</a:t>
            </a:r>
            <a:endParaRPr lang="en-US" sz="1200" dirty="0"/>
          </a:p>
        </p:txBody>
      </p:sp>
      <p:sp>
        <p:nvSpPr>
          <p:cNvPr id="29" name="Text 27"/>
          <p:cNvSpPr/>
          <p:nvPr/>
        </p:nvSpPr>
        <p:spPr>
          <a:xfrm>
            <a:off x="8458200" y="2532888"/>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conversione immagini, label identiche</a:t>
            </a:r>
            <a:endParaRPr lang="en-US" sz="1200" dirty="0"/>
          </a:p>
        </p:txBody>
      </p:sp>
      <p:sp>
        <p:nvSpPr>
          <p:cNvPr id="30" name="Shape 28"/>
          <p:cNvSpPr/>
          <p:nvPr/>
        </p:nvSpPr>
        <p:spPr>
          <a:xfrm>
            <a:off x="7552944" y="2807208"/>
            <a:ext cx="0" cy="274320"/>
          </a:xfrm>
          <a:prstGeom prst="line">
            <a:avLst/>
          </a:prstGeom>
          <a:noFill/>
          <a:ln w="13970">
            <a:solidFill>
              <a:srgbClr val="CBD5E1"/>
            </a:solidFill>
            <a:prstDash val="solid"/>
            <a:tailEnd type="triangle"/>
          </a:ln>
        </p:spPr>
        <p:txBody>
          <a:bodyPr/>
          <a:lstStyle/>
          <a:p>
            <a:endParaRPr lang="it-IT"/>
          </a:p>
        </p:txBody>
      </p:sp>
      <p:sp>
        <p:nvSpPr>
          <p:cNvPr id="31" name="Shape 29"/>
          <p:cNvSpPr/>
          <p:nvPr/>
        </p:nvSpPr>
        <p:spPr>
          <a:xfrm>
            <a:off x="6812280" y="3081528"/>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32" name="Text 30"/>
          <p:cNvSpPr/>
          <p:nvPr/>
        </p:nvSpPr>
        <p:spPr>
          <a:xfrm>
            <a:off x="6885432" y="3154680"/>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Aug v1</a:t>
            </a:r>
            <a:endParaRPr lang="en-US" sz="1200" dirty="0"/>
          </a:p>
        </p:txBody>
      </p:sp>
      <p:sp>
        <p:nvSpPr>
          <p:cNvPr id="33" name="Text 31"/>
          <p:cNvSpPr/>
          <p:nvPr/>
        </p:nvSpPr>
        <p:spPr>
          <a:xfrm>
            <a:off x="8458200" y="3136392"/>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rotazioni leggere + rumore</a:t>
            </a:r>
            <a:endParaRPr lang="en-US" sz="1200" dirty="0"/>
          </a:p>
        </p:txBody>
      </p:sp>
      <p:sp>
        <p:nvSpPr>
          <p:cNvPr id="34" name="Shape 32"/>
          <p:cNvSpPr/>
          <p:nvPr/>
        </p:nvSpPr>
        <p:spPr>
          <a:xfrm>
            <a:off x="7552944" y="3410712"/>
            <a:ext cx="0" cy="274320"/>
          </a:xfrm>
          <a:prstGeom prst="line">
            <a:avLst/>
          </a:prstGeom>
          <a:noFill/>
          <a:ln w="13970">
            <a:solidFill>
              <a:srgbClr val="CBD5E1"/>
            </a:solidFill>
            <a:prstDash val="solid"/>
            <a:tailEnd type="triangle"/>
          </a:ln>
        </p:spPr>
        <p:txBody>
          <a:bodyPr/>
          <a:lstStyle/>
          <a:p>
            <a:endParaRPr lang="it-IT"/>
          </a:p>
        </p:txBody>
      </p:sp>
      <p:sp>
        <p:nvSpPr>
          <p:cNvPr id="35" name="Shape 33"/>
          <p:cNvSpPr/>
          <p:nvPr/>
        </p:nvSpPr>
        <p:spPr>
          <a:xfrm>
            <a:off x="6812280" y="3685032"/>
            <a:ext cx="1481328" cy="310896"/>
          </a:xfrm>
          <a:prstGeom prst="roundRect">
            <a:avLst>
              <a:gd name="adj" fmla="val 23529"/>
            </a:avLst>
          </a:prstGeom>
          <a:solidFill>
            <a:srgbClr val="2563EB"/>
          </a:solidFill>
          <a:ln w="12700">
            <a:solidFill>
              <a:srgbClr val="2563EB"/>
            </a:solidFill>
            <a:prstDash val="solid"/>
          </a:ln>
        </p:spPr>
        <p:txBody>
          <a:bodyPr/>
          <a:lstStyle/>
          <a:p>
            <a:endParaRPr lang="it-IT"/>
          </a:p>
        </p:txBody>
      </p:sp>
      <p:sp>
        <p:nvSpPr>
          <p:cNvPr id="36" name="Text 34"/>
          <p:cNvSpPr/>
          <p:nvPr/>
        </p:nvSpPr>
        <p:spPr>
          <a:xfrm>
            <a:off x="6885432" y="3758184"/>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Aug v2 compose</a:t>
            </a:r>
            <a:endParaRPr lang="en-US" sz="1200" dirty="0"/>
          </a:p>
        </p:txBody>
      </p:sp>
      <p:sp>
        <p:nvSpPr>
          <p:cNvPr id="37" name="Text 35"/>
          <p:cNvSpPr/>
          <p:nvPr/>
        </p:nvSpPr>
        <p:spPr>
          <a:xfrm>
            <a:off x="8458200" y="3739896"/>
            <a:ext cx="2926080" cy="164592"/>
          </a:xfrm>
          <a:prstGeom prst="rect">
            <a:avLst/>
          </a:prstGeom>
          <a:noFill/>
          <a:ln/>
        </p:spPr>
        <p:txBody>
          <a:bodyPr wrap="square" lIns="0" tIns="0" rIns="0" bIns="0" rtlCol="0" anchor="ctr">
            <a:noAutofit/>
          </a:bodyPr>
          <a:lstStyle/>
          <a:p>
            <a:pPr marL="0" indent="0">
              <a:buNone/>
            </a:pPr>
            <a:r>
              <a:rPr lang="en-US" sz="1200" dirty="0">
                <a:solidFill>
                  <a:srgbClr val="334155"/>
                </a:solidFill>
                <a:latin typeface="Aptos" pitchFamily="34" charset="0"/>
                <a:ea typeface="Aptos" pitchFamily="34" charset="-122"/>
                <a:cs typeface="Aptos" pitchFamily="34" charset="-120"/>
              </a:rPr>
              <a:t>schemi affiancati + padding</a:t>
            </a:r>
            <a:endParaRPr lang="en-US" sz="1200" dirty="0"/>
          </a:p>
        </p:txBody>
      </p:sp>
      <p:sp>
        <p:nvSpPr>
          <p:cNvPr id="38" name="Shape 36"/>
          <p:cNvSpPr/>
          <p:nvPr/>
        </p:nvSpPr>
        <p:spPr>
          <a:xfrm>
            <a:off x="7552944" y="4014216"/>
            <a:ext cx="0" cy="274320"/>
          </a:xfrm>
          <a:prstGeom prst="line">
            <a:avLst/>
          </a:prstGeom>
          <a:noFill/>
          <a:ln w="13970">
            <a:solidFill>
              <a:srgbClr val="CBD5E1"/>
            </a:solidFill>
            <a:prstDash val="solid"/>
            <a:tailEnd type="triangle"/>
          </a:ln>
        </p:spPr>
        <p:txBody>
          <a:bodyPr/>
          <a:lstStyle/>
          <a:p>
            <a:endParaRPr lang="it-IT"/>
          </a:p>
        </p:txBody>
      </p:sp>
      <p:sp>
        <p:nvSpPr>
          <p:cNvPr id="39" name="Shape 37"/>
          <p:cNvSpPr/>
          <p:nvPr/>
        </p:nvSpPr>
        <p:spPr>
          <a:xfrm>
            <a:off x="6812280" y="4288536"/>
            <a:ext cx="1481328" cy="310896"/>
          </a:xfrm>
          <a:prstGeom prst="roundRect">
            <a:avLst>
              <a:gd name="adj" fmla="val 23529"/>
            </a:avLst>
          </a:prstGeom>
          <a:solidFill>
            <a:srgbClr val="10B981"/>
          </a:solidFill>
          <a:ln w="12700">
            <a:solidFill>
              <a:srgbClr val="10B981"/>
            </a:solidFill>
            <a:prstDash val="solid"/>
          </a:ln>
        </p:spPr>
        <p:txBody>
          <a:bodyPr/>
          <a:lstStyle/>
          <a:p>
            <a:endParaRPr lang="it-IT"/>
          </a:p>
        </p:txBody>
      </p:sp>
      <p:sp>
        <p:nvSpPr>
          <p:cNvPr id="40" name="Text 38"/>
          <p:cNvSpPr/>
          <p:nvPr/>
        </p:nvSpPr>
        <p:spPr>
          <a:xfrm>
            <a:off x="6885432" y="4361688"/>
            <a:ext cx="1335024" cy="16459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Strong v3</a:t>
            </a:r>
            <a:endParaRPr lang="en-US" sz="1200" dirty="0"/>
          </a:p>
        </p:txBody>
      </p:sp>
      <p:sp>
        <p:nvSpPr>
          <p:cNvPr id="41" name="Text 39"/>
          <p:cNvSpPr/>
          <p:nvPr/>
        </p:nvSpPr>
        <p:spPr>
          <a:xfrm>
            <a:off x="8458200" y="4343400"/>
            <a:ext cx="2926080" cy="164592"/>
          </a:xfrm>
          <a:prstGeom prst="rect">
            <a:avLst/>
          </a:prstGeom>
          <a:noFill/>
          <a:ln/>
        </p:spPr>
        <p:txBody>
          <a:bodyPr wrap="square" lIns="0" tIns="0" rIns="0" bIns="0" rtlCol="0" anchor="ctr">
            <a:noAutofit/>
          </a:bodyPr>
          <a:lstStyle/>
          <a:p>
            <a:pPr marL="0" indent="0">
              <a:buNone/>
            </a:pPr>
            <a:r>
              <a:rPr lang="en-US" sz="1200" dirty="0" err="1">
                <a:solidFill>
                  <a:srgbClr val="334155"/>
                </a:solidFill>
                <a:latin typeface="Aptos" pitchFamily="34" charset="0"/>
                <a:ea typeface="Aptos" pitchFamily="34" charset="-122"/>
                <a:cs typeface="Aptos" pitchFamily="34" charset="-120"/>
              </a:rPr>
              <a:t>rotazioni</a:t>
            </a:r>
            <a:r>
              <a:rPr lang="en-US" sz="1200" dirty="0">
                <a:solidFill>
                  <a:srgbClr val="334155"/>
                </a:solidFill>
                <a:latin typeface="Aptos" pitchFamily="34" charset="0"/>
                <a:ea typeface="Aptos" pitchFamily="34" charset="-122"/>
                <a:cs typeface="Aptos" pitchFamily="34" charset="-120"/>
              </a:rPr>
              <a:t> 25–45°, </a:t>
            </a:r>
            <a:r>
              <a:rPr lang="en-US" sz="1200" dirty="0" err="1">
                <a:solidFill>
                  <a:srgbClr val="334155"/>
                </a:solidFill>
                <a:latin typeface="Aptos" pitchFamily="34" charset="0"/>
                <a:ea typeface="Aptos" pitchFamily="34" charset="-122"/>
                <a:cs typeface="Aptos" pitchFamily="34" charset="-120"/>
              </a:rPr>
              <a:t>traslazioni</a:t>
            </a:r>
            <a:r>
              <a:rPr lang="en-US" sz="1200" dirty="0">
                <a:solidFill>
                  <a:srgbClr val="334155"/>
                </a:solidFill>
                <a:latin typeface="Aptos" pitchFamily="34" charset="0"/>
                <a:ea typeface="Aptos" pitchFamily="34" charset="-122"/>
                <a:cs typeface="Aptos" pitchFamily="34" charset="-120"/>
              </a:rPr>
              <a:t> 8–15%</a:t>
            </a:r>
            <a:endParaRPr lang="en-US" sz="1200" dirty="0"/>
          </a:p>
        </p:txBody>
      </p:sp>
      <p:sp>
        <p:nvSpPr>
          <p:cNvPr id="42" name="Text 40"/>
          <p:cNvSpPr/>
          <p:nvPr/>
        </p:nvSpPr>
        <p:spPr>
          <a:xfrm>
            <a:off x="6839712" y="5175504"/>
            <a:ext cx="4480560" cy="457200"/>
          </a:xfrm>
          <a:prstGeom prst="rect">
            <a:avLst/>
          </a:prstGeom>
          <a:noFill/>
          <a:ln/>
        </p:spPr>
        <p:txBody>
          <a:bodyPr wrap="square" lIns="0" tIns="0" rIns="0" bIns="0" rtlCol="0" anchor="ctr">
            <a:normAutofit fontScale="92500" lnSpcReduction="10000"/>
          </a:bodyPr>
          <a:lstStyle/>
          <a:p>
            <a:pPr marL="0" indent="0">
              <a:buNone/>
            </a:pPr>
            <a:r>
              <a:rPr lang="en-US" sz="1750" b="1" dirty="0">
                <a:solidFill>
                  <a:srgbClr val="0B1320"/>
                </a:solidFill>
                <a:latin typeface="Aptos Display" pitchFamily="34" charset="0"/>
                <a:ea typeface="Aptos Display" pitchFamily="34" charset="-122"/>
                <a:cs typeface="Aptos Display" pitchFamily="34" charset="-120"/>
              </a:rPr>
              <a:t>La versione finale scelta per il training YOLO è la variante RGB con augmentation strong v3.</a:t>
            </a:r>
            <a:endParaRPr lang="en-US" sz="1750" dirty="0"/>
          </a:p>
        </p:txBody>
      </p:sp>
      <p:sp>
        <p:nvSpPr>
          <p:cNvPr id="43" name="Shape 41"/>
          <p:cNvSpPr/>
          <p:nvPr/>
        </p:nvSpPr>
        <p:spPr>
          <a:xfrm>
            <a:off x="6839712" y="5806440"/>
            <a:ext cx="324612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44" name="Text 42"/>
          <p:cNvSpPr/>
          <p:nvPr/>
        </p:nvSpPr>
        <p:spPr>
          <a:xfrm>
            <a:off x="6912864" y="5858561"/>
            <a:ext cx="309981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exp11b1_yolo11_rgb_aug_strong_v3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pic>
        <p:nvPicPr>
          <p:cNvPr id="16" name="Picture 15"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Benchmark YOLO e scelta del modello</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YOLOv7, YOLOv8 e YOLOv11 confrontati su varianti di dataset</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04</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pic>
        <p:nvPicPr>
          <p:cNvPr id="8" name="Image 0" descr="/mnt/data/bar_chart_map5095.png"/>
          <p:cNvPicPr>
            <a:picLocks noChangeAspect="1"/>
          </p:cNvPicPr>
          <p:nvPr/>
        </p:nvPicPr>
        <p:blipFill>
          <a:blip r:embed="rId4"/>
          <a:stretch>
            <a:fillRect/>
          </a:stretch>
        </p:blipFill>
        <p:spPr>
          <a:xfrm>
            <a:off x="502919" y="1435608"/>
            <a:ext cx="5700757" cy="4059936"/>
          </a:xfrm>
          <a:prstGeom prst="rect">
            <a:avLst/>
          </a:prstGeom>
        </p:spPr>
      </p:pic>
      <p:pic>
        <p:nvPicPr>
          <p:cNvPr id="9" name="Image 1" descr="/mnt/data/bar_chart_f1_score.png"/>
          <p:cNvPicPr>
            <a:picLocks noChangeAspect="1"/>
          </p:cNvPicPr>
          <p:nvPr/>
        </p:nvPicPr>
        <p:blipFill>
          <a:blip r:embed="rId5"/>
          <a:stretch>
            <a:fillRect/>
          </a:stretch>
        </p:blipFill>
        <p:spPr>
          <a:xfrm>
            <a:off x="6203675" y="1362455"/>
            <a:ext cx="5955587" cy="4059935"/>
          </a:xfrm>
          <a:prstGeom prst="rect">
            <a:avLst/>
          </a:prstGeom>
        </p:spPr>
      </p:pic>
      <p:sp>
        <p:nvSpPr>
          <p:cNvPr id="10" name="Shape 6"/>
          <p:cNvSpPr/>
          <p:nvPr/>
        </p:nvSpPr>
        <p:spPr>
          <a:xfrm>
            <a:off x="804672" y="5687568"/>
            <a:ext cx="10652760" cy="438912"/>
          </a:xfrm>
          <a:prstGeom prst="roundRect">
            <a:avLst>
              <a:gd name="adj" fmla="val 10417"/>
            </a:avLst>
          </a:prstGeom>
          <a:solidFill>
            <a:srgbClr val="0B1320"/>
          </a:solidFill>
          <a:ln w="12700">
            <a:solidFill>
              <a:srgbClr val="0B1320"/>
            </a:solidFill>
            <a:prstDash val="solid"/>
          </a:ln>
        </p:spPr>
        <p:txBody>
          <a:bodyPr/>
          <a:lstStyle/>
          <a:p>
            <a:endParaRPr lang="it-IT"/>
          </a:p>
        </p:txBody>
      </p:sp>
      <p:sp>
        <p:nvSpPr>
          <p:cNvPr id="11" name="Text 7"/>
          <p:cNvSpPr/>
          <p:nvPr/>
        </p:nvSpPr>
        <p:spPr>
          <a:xfrm>
            <a:off x="960120" y="5815584"/>
            <a:ext cx="10332720" cy="146304"/>
          </a:xfrm>
          <a:prstGeom prst="rect">
            <a:avLst/>
          </a:prstGeom>
          <a:noFill/>
          <a:ln/>
        </p:spPr>
        <p:txBody>
          <a:bodyPr wrap="square" lIns="0" tIns="0" rIns="0" bIns="0" rtlCol="0" anchor="ctr">
            <a:noAutofit/>
          </a:bodyPr>
          <a:lstStyle/>
          <a:p>
            <a:pPr marL="0" indent="0">
              <a:buNone/>
            </a:pPr>
            <a:r>
              <a:rPr lang="en-US" sz="1200" b="1" dirty="0">
                <a:solidFill>
                  <a:srgbClr val="FFFFFF"/>
                </a:solidFill>
                <a:latin typeface="Aptos" pitchFamily="34" charset="0"/>
                <a:ea typeface="Aptos" pitchFamily="34" charset="-122"/>
                <a:cs typeface="Aptos" pitchFamily="34" charset="-120"/>
              </a:rPr>
              <a:t>Scelta finale: </a:t>
            </a:r>
            <a:r>
              <a:rPr lang="en-US" sz="1200" b="1" u="sng" dirty="0">
                <a:solidFill>
                  <a:srgbClr val="FFFFFF"/>
                </a:solidFill>
                <a:latin typeface="Aptos" pitchFamily="34" charset="0"/>
                <a:ea typeface="Aptos" pitchFamily="34" charset="-122"/>
                <a:cs typeface="Aptos" pitchFamily="34" charset="-120"/>
              </a:rPr>
              <a:t>YOLOv11 RGB + strong augmentation v3 </a:t>
            </a:r>
            <a:r>
              <a:rPr lang="en-US" sz="1200" b="1" dirty="0">
                <a:solidFill>
                  <a:srgbClr val="FFFFFF"/>
                </a:solidFill>
                <a:latin typeface="Aptos" pitchFamily="34" charset="0"/>
                <a:ea typeface="Aptos" pitchFamily="34" charset="-122"/>
                <a:cs typeface="Aptos" pitchFamily="34" charset="-120"/>
              </a:rPr>
              <a:t>— miglior mAP@0.5:0.95 (0,6687) e F1 molto vicino al massimo (0,9168).</a:t>
            </a:r>
            <a:endParaRPr lang="en-US" sz="1200" dirty="0"/>
          </a:p>
        </p:txBody>
      </p:sp>
      <p:sp>
        <p:nvSpPr>
          <p:cNvPr id="12" name="Rectangle 11"/>
          <p:cNvSpPr/>
          <p:nvPr/>
        </p:nvSpPr>
        <p:spPr>
          <a:xfrm>
            <a:off x="713232" y="5650992"/>
            <a:ext cx="10844784" cy="713232"/>
          </a:xfrm>
          <a:prstGeom prst="rect">
            <a:avLst/>
          </a:prstGeom>
          <a:solidFill>
            <a:srgbClr val="0A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68680" y="5715000"/>
            <a:ext cx="1463040" cy="310896"/>
          </a:xfrm>
          <a:prstGeom prst="rect">
            <a:avLst/>
          </a:prstGeom>
          <a:noFill/>
        </p:spPr>
        <p:txBody>
          <a:bodyPr wrap="none">
            <a:spAutoFit/>
          </a:bodyPr>
          <a:lstStyle/>
          <a:p>
            <a:pPr algn="l"/>
            <a:r>
              <a:rPr sz="1000" b="1">
                <a:solidFill>
                  <a:srgbClr val="009966"/>
                </a:solidFill>
                <a:latin typeface="Aptos"/>
              </a:rPr>
              <a:t>Risultati chiave</a:t>
            </a:r>
          </a:p>
        </p:txBody>
      </p:sp>
      <p:graphicFrame>
        <p:nvGraphicFramePr>
          <p:cNvPr id="14" name="Table 13"/>
          <p:cNvGraphicFramePr>
            <a:graphicFrameLocks noGrp="1"/>
          </p:cNvGraphicFramePr>
          <p:nvPr>
            <p:extLst>
              <p:ext uri="{D42A27DB-BD31-4B8C-83A1-F6EECF244321}">
                <p14:modId xmlns:p14="http://schemas.microsoft.com/office/powerpoint/2010/main" val="2092563687"/>
              </p:ext>
            </p:extLst>
          </p:nvPr>
        </p:nvGraphicFramePr>
        <p:xfrm>
          <a:off x="2148840" y="5720785"/>
          <a:ext cx="8366760" cy="411480"/>
        </p:xfrm>
        <a:graphic>
          <a:graphicData uri="http://schemas.openxmlformats.org/drawingml/2006/table">
            <a:tbl>
              <a:tblPr firstRow="1" bandRow="1">
                <a:tableStyleId>{5C22544A-7EE6-4342-B048-85BDC9FD1C3A}</a:tableStyleId>
              </a:tblPr>
              <a:tblGrid>
                <a:gridCol w="24688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gridCol w="132588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tblGrid>
              <a:tr h="205740">
                <a:tc>
                  <a:txBody>
                    <a:bodyPr/>
                    <a:lstStyle/>
                    <a:p>
                      <a:pPr algn="ctr"/>
                      <a:r>
                        <a:rPr sz="1100" b="1" dirty="0" err="1">
                          <a:solidFill>
                            <a:srgbClr val="FFFFFF"/>
                          </a:solidFill>
                          <a:latin typeface="Aptos"/>
                        </a:rPr>
                        <a:t>Configurazione</a:t>
                      </a:r>
                      <a:endParaRPr sz="1100" b="1" dirty="0">
                        <a:solidFill>
                          <a:srgbClr val="FFFFFF"/>
                        </a:solidFill>
                        <a:latin typeface="Aptos"/>
                      </a:endParaRPr>
                    </a:p>
                  </a:txBody>
                  <a:tcPr marL="36576" marR="36576" marT="18288" marB="18288">
                    <a:solidFill>
                      <a:srgbClr val="0A1220"/>
                    </a:solidFill>
                  </a:tcPr>
                </a:tc>
                <a:tc>
                  <a:txBody>
                    <a:bodyPr/>
                    <a:lstStyle/>
                    <a:p>
                      <a:pPr algn="ctr"/>
                      <a:r>
                        <a:rPr sz="1100" b="1" dirty="0">
                          <a:solidFill>
                            <a:srgbClr val="FFFFFF"/>
                          </a:solidFill>
                          <a:latin typeface="Aptos"/>
                        </a:rPr>
                        <a:t>Precision</a:t>
                      </a:r>
                    </a:p>
                  </a:txBody>
                  <a:tcPr marL="36576" marR="36576" marT="18288" marB="18288">
                    <a:solidFill>
                      <a:srgbClr val="0A1220"/>
                    </a:solidFill>
                  </a:tcPr>
                </a:tc>
                <a:tc>
                  <a:txBody>
                    <a:bodyPr/>
                    <a:lstStyle/>
                    <a:p>
                      <a:pPr algn="ctr"/>
                      <a:r>
                        <a:rPr sz="1100" b="1" dirty="0">
                          <a:solidFill>
                            <a:srgbClr val="FFFFFF"/>
                          </a:solidFill>
                          <a:latin typeface="Aptos"/>
                        </a:rPr>
                        <a:t>Recall</a:t>
                      </a:r>
                    </a:p>
                  </a:txBody>
                  <a:tcPr marL="36576" marR="36576" marT="18288" marB="18288">
                    <a:solidFill>
                      <a:srgbClr val="0A1220"/>
                    </a:solidFill>
                  </a:tcPr>
                </a:tc>
                <a:tc>
                  <a:txBody>
                    <a:bodyPr/>
                    <a:lstStyle/>
                    <a:p>
                      <a:pPr algn="ctr"/>
                      <a:r>
                        <a:rPr sz="1100" b="1" dirty="0">
                          <a:solidFill>
                            <a:srgbClr val="FFFFFF"/>
                          </a:solidFill>
                          <a:latin typeface="Aptos"/>
                        </a:rPr>
                        <a:t>F1</a:t>
                      </a:r>
                    </a:p>
                  </a:txBody>
                  <a:tcPr marL="36576" marR="36576" marT="18288" marB="18288">
                    <a:solidFill>
                      <a:srgbClr val="0A1220"/>
                    </a:solidFill>
                  </a:tcPr>
                </a:tc>
                <a:tc>
                  <a:txBody>
                    <a:bodyPr/>
                    <a:lstStyle/>
                    <a:p>
                      <a:pPr algn="ctr"/>
                      <a:r>
                        <a:rPr sz="1100" b="1" dirty="0">
                          <a:solidFill>
                            <a:srgbClr val="FFFFFF"/>
                          </a:solidFill>
                          <a:latin typeface="Aptos"/>
                        </a:rPr>
                        <a:t>mAP@0.5</a:t>
                      </a:r>
                    </a:p>
                  </a:txBody>
                  <a:tcPr marL="36576" marR="36576" marT="18288" marB="18288">
                    <a:solidFill>
                      <a:srgbClr val="0A1220"/>
                    </a:solidFill>
                  </a:tcPr>
                </a:tc>
                <a:tc>
                  <a:txBody>
                    <a:bodyPr/>
                    <a:lstStyle/>
                    <a:p>
                      <a:pPr algn="ctr"/>
                      <a:r>
                        <a:rPr sz="1100" b="1" dirty="0">
                          <a:solidFill>
                            <a:srgbClr val="FFFFFF"/>
                          </a:solidFill>
                          <a:latin typeface="Aptos"/>
                        </a:rPr>
                        <a:t>mAP@0.5:0.95</a:t>
                      </a:r>
                    </a:p>
                  </a:txBody>
                  <a:tcPr marL="36576" marR="36576" marT="18288" marB="18288">
                    <a:solidFill>
                      <a:srgbClr val="0A1220"/>
                    </a:solidFill>
                  </a:tcPr>
                </a:tc>
                <a:extLst>
                  <a:ext uri="{0D108BD9-81ED-4DB2-BD59-A6C34878D82A}">
                    <a16:rowId xmlns:a16="http://schemas.microsoft.com/office/drawing/2014/main" val="10000"/>
                  </a:ext>
                </a:extLst>
              </a:tr>
              <a:tr h="205740">
                <a:tc>
                  <a:txBody>
                    <a:bodyPr/>
                    <a:lstStyle/>
                    <a:p>
                      <a:pPr algn="ctr"/>
                      <a:r>
                        <a:rPr sz="900" b="1" dirty="0">
                          <a:solidFill>
                            <a:srgbClr val="FFFFFF"/>
                          </a:solidFill>
                          <a:latin typeface="Aptos"/>
                        </a:rPr>
                        <a:t>YOLOv11 RGB + strong v3</a:t>
                      </a:r>
                    </a:p>
                  </a:txBody>
                  <a:tcPr marL="36576" marR="36576" marT="18288" marB="18288">
                    <a:solidFill>
                      <a:srgbClr val="0A1220"/>
                    </a:solidFill>
                  </a:tcPr>
                </a:tc>
                <a:tc>
                  <a:txBody>
                    <a:bodyPr/>
                    <a:lstStyle/>
                    <a:p>
                      <a:pPr algn="ctr"/>
                      <a:r>
                        <a:rPr sz="900" b="0" dirty="0">
                          <a:solidFill>
                            <a:srgbClr val="FFFFFF"/>
                          </a:solidFill>
                          <a:latin typeface="Aptos"/>
                        </a:rPr>
                        <a:t>0,9379</a:t>
                      </a:r>
                    </a:p>
                  </a:txBody>
                  <a:tcPr marL="36576" marR="36576" marT="18288" marB="18288">
                    <a:solidFill>
                      <a:srgbClr val="0A1220"/>
                    </a:solidFill>
                  </a:tcPr>
                </a:tc>
                <a:tc>
                  <a:txBody>
                    <a:bodyPr/>
                    <a:lstStyle/>
                    <a:p>
                      <a:pPr algn="ctr"/>
                      <a:r>
                        <a:rPr sz="900" b="0" dirty="0">
                          <a:solidFill>
                            <a:srgbClr val="FFFFFF"/>
                          </a:solidFill>
                          <a:latin typeface="Aptos"/>
                        </a:rPr>
                        <a:t>0,8967</a:t>
                      </a:r>
                    </a:p>
                  </a:txBody>
                  <a:tcPr marL="36576" marR="36576" marT="18288" marB="18288">
                    <a:solidFill>
                      <a:srgbClr val="0A1220"/>
                    </a:solidFill>
                  </a:tcPr>
                </a:tc>
                <a:tc>
                  <a:txBody>
                    <a:bodyPr/>
                    <a:lstStyle/>
                    <a:p>
                      <a:pPr algn="ctr"/>
                      <a:r>
                        <a:rPr sz="900" b="0" dirty="0">
                          <a:solidFill>
                            <a:srgbClr val="FFFFFF"/>
                          </a:solidFill>
                          <a:latin typeface="Aptos"/>
                        </a:rPr>
                        <a:t>0,9168</a:t>
                      </a:r>
                    </a:p>
                  </a:txBody>
                  <a:tcPr marL="36576" marR="36576" marT="18288" marB="18288">
                    <a:solidFill>
                      <a:srgbClr val="0A1220"/>
                    </a:solidFill>
                  </a:tcPr>
                </a:tc>
                <a:tc>
                  <a:txBody>
                    <a:bodyPr/>
                    <a:lstStyle/>
                    <a:p>
                      <a:pPr algn="ctr"/>
                      <a:r>
                        <a:rPr sz="900" b="0" dirty="0">
                          <a:solidFill>
                            <a:srgbClr val="FFFFFF"/>
                          </a:solidFill>
                          <a:latin typeface="Aptos"/>
                        </a:rPr>
                        <a:t>0,9559</a:t>
                      </a:r>
                    </a:p>
                  </a:txBody>
                  <a:tcPr marL="36576" marR="36576" marT="18288" marB="18288">
                    <a:solidFill>
                      <a:srgbClr val="0A1220"/>
                    </a:solidFill>
                  </a:tcPr>
                </a:tc>
                <a:tc>
                  <a:txBody>
                    <a:bodyPr/>
                    <a:lstStyle/>
                    <a:p>
                      <a:pPr algn="ctr"/>
                      <a:r>
                        <a:rPr sz="900" b="1" dirty="0">
                          <a:solidFill>
                            <a:srgbClr val="FFFFFF"/>
                          </a:solidFill>
                          <a:latin typeface="Aptos"/>
                        </a:rPr>
                        <a:t>0,6687</a:t>
                      </a:r>
                    </a:p>
                  </a:txBody>
                  <a:tcPr marL="36576" marR="36576" marT="18288" marB="18288">
                    <a:solidFill>
                      <a:srgbClr val="0A1220"/>
                    </a:solidFill>
                  </a:tcPr>
                </a:tc>
                <a:extLst>
                  <a:ext uri="{0D108BD9-81ED-4DB2-BD59-A6C34878D82A}">
                    <a16:rowId xmlns:a16="http://schemas.microsoft.com/office/drawing/2014/main" val="10001"/>
                  </a:ext>
                </a:extLst>
              </a:tr>
            </a:tbl>
          </a:graphicData>
        </a:graphic>
      </p:graphicFrame>
      <p:sp>
        <p:nvSpPr>
          <p:cNvPr id="15" name="TextBox 14"/>
          <p:cNvSpPr txBox="1"/>
          <p:nvPr/>
        </p:nvSpPr>
        <p:spPr>
          <a:xfrm>
            <a:off x="4392284" y="6153912"/>
            <a:ext cx="4565672" cy="215444"/>
          </a:xfrm>
          <a:prstGeom prst="rect">
            <a:avLst/>
          </a:prstGeom>
          <a:noFill/>
        </p:spPr>
        <p:txBody>
          <a:bodyPr wrap="none">
            <a:spAutoFit/>
          </a:bodyPr>
          <a:lstStyle/>
          <a:p>
            <a:pPr algn="ctr"/>
            <a:r>
              <a:rPr sz="800" dirty="0">
                <a:solidFill>
                  <a:srgbClr val="FFFFFF"/>
                </a:solidFill>
                <a:latin typeface="Aptos"/>
              </a:rPr>
              <a:t>F1 </a:t>
            </a:r>
            <a:r>
              <a:rPr sz="800" dirty="0" err="1">
                <a:solidFill>
                  <a:srgbClr val="FFFFFF"/>
                </a:solidFill>
                <a:latin typeface="Aptos"/>
              </a:rPr>
              <a:t>massimo</a:t>
            </a:r>
            <a:r>
              <a:rPr sz="800" dirty="0">
                <a:solidFill>
                  <a:srgbClr val="FFFFFF"/>
                </a:solidFill>
                <a:latin typeface="Aptos"/>
              </a:rPr>
              <a:t>: exp11 </a:t>
            </a:r>
            <a:r>
              <a:rPr sz="800" dirty="0" err="1">
                <a:solidFill>
                  <a:srgbClr val="FFFFFF"/>
                </a:solidFill>
                <a:latin typeface="Aptos"/>
              </a:rPr>
              <a:t>aug</a:t>
            </a:r>
            <a:r>
              <a:rPr sz="800" dirty="0">
                <a:solidFill>
                  <a:srgbClr val="FFFFFF"/>
                </a:solidFill>
                <a:latin typeface="Aptos"/>
              </a:rPr>
              <a:t> v1 = 0,9215; </a:t>
            </a:r>
            <a:r>
              <a:rPr sz="800" dirty="0" err="1">
                <a:solidFill>
                  <a:srgbClr val="FFFFFF"/>
                </a:solidFill>
                <a:latin typeface="Aptos"/>
              </a:rPr>
              <a:t>scelta</a:t>
            </a:r>
            <a:r>
              <a:rPr sz="800" dirty="0">
                <a:solidFill>
                  <a:srgbClr val="FFFFFF"/>
                </a:solidFill>
                <a:latin typeface="Aptos"/>
              </a:rPr>
              <a:t> finale = </a:t>
            </a:r>
            <a:r>
              <a:rPr sz="800" dirty="0" err="1">
                <a:solidFill>
                  <a:srgbClr val="FFFFFF"/>
                </a:solidFill>
                <a:latin typeface="Aptos"/>
              </a:rPr>
              <a:t>miglior</a:t>
            </a:r>
            <a:r>
              <a:rPr sz="800" dirty="0">
                <a:solidFill>
                  <a:srgbClr val="FFFFFF"/>
                </a:solidFill>
                <a:latin typeface="Aptos"/>
              </a:rPr>
              <a:t> mAP@0.5:0.95 con F1 quasi </a:t>
            </a:r>
            <a:r>
              <a:rPr sz="800" dirty="0" err="1">
                <a:solidFill>
                  <a:srgbClr val="FFFFFF"/>
                </a:solidFill>
                <a:latin typeface="Aptos"/>
              </a:rPr>
              <a:t>equivalente</a:t>
            </a:r>
            <a:r>
              <a:rPr sz="800" dirty="0">
                <a:solidFill>
                  <a:srgbClr val="FFFFFF"/>
                </a:solidFill>
                <a:latin typeface="Aptos"/>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pic>
        <p:nvPicPr>
          <p:cNvPr id="52" name="Picture 5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it-IT" sz="2800" b="1">
                <a:solidFill>
                  <a:srgbClr val="0B1320"/>
                </a:solidFill>
                <a:latin typeface="Aptos Display" panose="020B0004020202020204" pitchFamily="34" charset="0"/>
                <a:ea typeface="Aptos Display" pitchFamily="34" charset="-122"/>
                <a:cs typeface="Aptos Display" pitchFamily="34" charset="-120"/>
              </a:rPr>
              <a:t>Verifica dell'output della Pipeline 1.0</a:t>
            </a:r>
            <a:endParaRPr lang="en-US" sz="2800" b="1" dirty="0">
              <a:solidFill>
                <a:srgbClr val="0B1320"/>
              </a:solidFill>
              <a:latin typeface="Aptos Display" panose="020B0004020202020204" pitchFamily="34" charset="0"/>
            </a:endParaRPr>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it-IT" sz="1250">
                <a:solidFill>
                  <a:srgbClr val="64748B"/>
                </a:solidFill>
                <a:latin typeface="Aptos" panose="020B0004020202020204" pitchFamily="34" charset="0"/>
                <a:ea typeface="Aptos" pitchFamily="34" charset="-122"/>
                <a:cs typeface="Aptos" pitchFamily="34" charset="-120"/>
              </a:rPr>
              <a:t>Due quality gate: fedeltà topologica e utilità per il troubleshooting</a:t>
            </a:r>
            <a:endParaRPr lang="en-US" sz="1250" dirty="0">
              <a:solidFill>
                <a:srgbClr val="64748B"/>
              </a:solidFill>
              <a:latin typeface="Aptos" panose="020B0004020202020204" pitchFamily="34" charset="0"/>
            </a:endParaRPr>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05</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53" name="Rettangolo con angoli arrotondati 52">
            <a:extLst>
              <a:ext uri="{FF2B5EF4-FFF2-40B4-BE49-F238E27FC236}">
                <a16:creationId xmlns:a16="http://schemas.microsoft.com/office/drawing/2014/main" id="{8BA2F018-F7FE-06E1-54F7-341E37170DDD}"/>
              </a:ext>
            </a:extLst>
          </p:cNvPr>
          <p:cNvSpPr/>
          <p:nvPr/>
        </p:nvSpPr>
        <p:spPr>
          <a:xfrm>
            <a:off x="698500" y="1371600"/>
            <a:ext cx="10795000" cy="482600"/>
          </a:xfrm>
          <a:prstGeom prst="roundRect">
            <a:avLst/>
          </a:prstGeom>
          <a:solidFill>
            <a:srgbClr val="EFF6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4" name="CasellaDiTesto 53">
            <a:extLst>
              <a:ext uri="{FF2B5EF4-FFF2-40B4-BE49-F238E27FC236}">
                <a16:creationId xmlns:a16="http://schemas.microsoft.com/office/drawing/2014/main" id="{71B05451-724F-0401-726B-160F0A46E9E7}"/>
              </a:ext>
            </a:extLst>
          </p:cNvPr>
          <p:cNvSpPr txBox="1"/>
          <p:nvPr/>
        </p:nvSpPr>
        <p:spPr>
          <a:xfrm>
            <a:off x="939800" y="1498600"/>
            <a:ext cx="10312400" cy="215900"/>
          </a:xfrm>
          <a:prstGeom prst="rect">
            <a:avLst/>
          </a:prstGeom>
          <a:noFill/>
        </p:spPr>
        <p:txBody>
          <a:bodyPr vert="horz" wrap="square" lIns="0" tIns="0" rIns="0" bIns="0" rtlCol="0" anchor="t">
            <a:noAutofit/>
          </a:bodyPr>
          <a:lstStyle/>
          <a:p>
            <a:r>
              <a:rPr lang="it-IT" sz="1200" b="1">
                <a:solidFill>
                  <a:srgbClr val="334155"/>
                </a:solidFill>
                <a:latin typeface="Aptos" panose="020B0004020202020204" pitchFamily="34" charset="0"/>
              </a:rPr>
              <a:t>Prima di usare il Graph JSON nelle fasi successive, l'output viene verificato su due livelli indipendenti.</a:t>
            </a:r>
          </a:p>
        </p:txBody>
      </p:sp>
      <p:sp>
        <p:nvSpPr>
          <p:cNvPr id="55" name="Rettangolo con angoli arrotondati 54">
            <a:extLst>
              <a:ext uri="{FF2B5EF4-FFF2-40B4-BE49-F238E27FC236}">
                <a16:creationId xmlns:a16="http://schemas.microsoft.com/office/drawing/2014/main" id="{E2094C45-E31F-5227-1F53-D7BB54CE8612}"/>
              </a:ext>
            </a:extLst>
          </p:cNvPr>
          <p:cNvSpPr/>
          <p:nvPr/>
        </p:nvSpPr>
        <p:spPr>
          <a:xfrm>
            <a:off x="698500" y="2057400"/>
            <a:ext cx="5080000" cy="31115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Rettangolo con angoli arrotondati 55">
            <a:extLst>
              <a:ext uri="{FF2B5EF4-FFF2-40B4-BE49-F238E27FC236}">
                <a16:creationId xmlns:a16="http://schemas.microsoft.com/office/drawing/2014/main" id="{D291C172-2495-51FE-6722-17BAD45B7439}"/>
              </a:ext>
            </a:extLst>
          </p:cNvPr>
          <p:cNvSpPr/>
          <p:nvPr/>
        </p:nvSpPr>
        <p:spPr>
          <a:xfrm>
            <a:off x="965200" y="2286000"/>
            <a:ext cx="2146300" cy="317500"/>
          </a:xfrm>
          <a:prstGeom prst="roundRect">
            <a:avLst/>
          </a:prstGeom>
          <a:solidFill>
            <a:srgbClr val="059669"/>
          </a:solidFill>
          <a:ln w="127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01  IMAGE ↔ GRAPH</a:t>
            </a:r>
          </a:p>
        </p:txBody>
      </p:sp>
      <p:sp>
        <p:nvSpPr>
          <p:cNvPr id="57" name="CasellaDiTesto 56">
            <a:extLst>
              <a:ext uri="{FF2B5EF4-FFF2-40B4-BE49-F238E27FC236}">
                <a16:creationId xmlns:a16="http://schemas.microsoft.com/office/drawing/2014/main" id="{E8A4A170-6435-8296-E122-4C7AD1178E26}"/>
              </a:ext>
            </a:extLst>
          </p:cNvPr>
          <p:cNvSpPr txBox="1"/>
          <p:nvPr/>
        </p:nvSpPr>
        <p:spPr>
          <a:xfrm>
            <a:off x="965200" y="2743200"/>
            <a:ext cx="4254500" cy="317500"/>
          </a:xfrm>
          <a:prstGeom prst="rect">
            <a:avLst/>
          </a:prstGeom>
          <a:noFill/>
        </p:spPr>
        <p:txBody>
          <a:bodyPr vert="horz" wrap="square" lIns="0" tIns="0" rIns="0" bIns="0" rtlCol="0" anchor="t">
            <a:noAutofit/>
          </a:bodyPr>
          <a:lstStyle/>
          <a:p>
            <a:r>
              <a:rPr lang="it-IT" sz="1900" b="1">
                <a:solidFill>
                  <a:srgbClr val="0B1320"/>
                </a:solidFill>
                <a:latin typeface="Aptos Display" panose="020B0004020202020204" pitchFamily="34" charset="0"/>
              </a:rPr>
              <a:t>Fedeltà topologica</a:t>
            </a:r>
          </a:p>
        </p:txBody>
      </p:sp>
      <p:sp>
        <p:nvSpPr>
          <p:cNvPr id="58" name="Rettangolo con angoli arrotondati 57">
            <a:extLst>
              <a:ext uri="{FF2B5EF4-FFF2-40B4-BE49-F238E27FC236}">
                <a16:creationId xmlns:a16="http://schemas.microsoft.com/office/drawing/2014/main" id="{150191FA-E967-891B-3F71-1F026BC5DBAE}"/>
              </a:ext>
            </a:extLst>
          </p:cNvPr>
          <p:cNvSpPr/>
          <p:nvPr/>
        </p:nvSpPr>
        <p:spPr>
          <a:xfrm>
            <a:off x="965200" y="3263900"/>
            <a:ext cx="1193800" cy="4318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Immagine</a:t>
            </a:r>
          </a:p>
        </p:txBody>
      </p:sp>
      <p:sp>
        <p:nvSpPr>
          <p:cNvPr id="59" name="CasellaDiTesto 58">
            <a:extLst>
              <a:ext uri="{FF2B5EF4-FFF2-40B4-BE49-F238E27FC236}">
                <a16:creationId xmlns:a16="http://schemas.microsoft.com/office/drawing/2014/main" id="{9C183B7E-9B11-6CC0-11B1-6FEE8B9FE0DD}"/>
              </a:ext>
            </a:extLst>
          </p:cNvPr>
          <p:cNvSpPr txBox="1"/>
          <p:nvPr/>
        </p:nvSpPr>
        <p:spPr>
          <a:xfrm>
            <a:off x="2298700" y="3327400"/>
            <a:ext cx="228600" cy="254000"/>
          </a:xfrm>
          <a:prstGeom prst="rect">
            <a:avLst/>
          </a:prstGeom>
          <a:noFill/>
        </p:spPr>
        <p:txBody>
          <a:bodyPr vert="horz" wrap="square" lIns="0" tIns="0" rIns="0" bIns="0" rtlCol="0" anchor="t">
            <a:noAutofit/>
          </a:bodyPr>
          <a:lstStyle/>
          <a:p>
            <a:pPr algn="ctr"/>
            <a:r>
              <a:rPr lang="it-IT" sz="1600" b="1">
                <a:solidFill>
                  <a:srgbClr val="64748B"/>
                </a:solidFill>
                <a:latin typeface="Aptos" panose="020B0004020202020204" pitchFamily="34" charset="0"/>
              </a:rPr>
              <a:t>+</a:t>
            </a:r>
          </a:p>
        </p:txBody>
      </p:sp>
      <p:sp>
        <p:nvSpPr>
          <p:cNvPr id="60" name="Rettangolo con angoli arrotondati 59">
            <a:extLst>
              <a:ext uri="{FF2B5EF4-FFF2-40B4-BE49-F238E27FC236}">
                <a16:creationId xmlns:a16="http://schemas.microsoft.com/office/drawing/2014/main" id="{B7752E50-3815-85DC-51D4-5DF4F7F31B35}"/>
              </a:ext>
            </a:extLst>
          </p:cNvPr>
          <p:cNvSpPr/>
          <p:nvPr/>
        </p:nvSpPr>
        <p:spPr>
          <a:xfrm>
            <a:off x="2641600" y="3263900"/>
            <a:ext cx="1282700" cy="4318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Graph JSON</a:t>
            </a:r>
          </a:p>
        </p:txBody>
      </p:sp>
      <p:cxnSp>
        <p:nvCxnSpPr>
          <p:cNvPr id="61" name="Connettore diritto 60">
            <a:extLst>
              <a:ext uri="{FF2B5EF4-FFF2-40B4-BE49-F238E27FC236}">
                <a16:creationId xmlns:a16="http://schemas.microsoft.com/office/drawing/2014/main" id="{CE7E7F7B-C3FB-90CA-03C5-7147234F13D6}"/>
              </a:ext>
            </a:extLst>
          </p:cNvPr>
          <p:cNvCxnSpPr/>
          <p:nvPr/>
        </p:nvCxnSpPr>
        <p:spPr>
          <a:xfrm>
            <a:off x="4051300" y="3479800"/>
            <a:ext cx="3302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62" name="Rettangolo con angoli arrotondati 61">
            <a:extLst>
              <a:ext uri="{FF2B5EF4-FFF2-40B4-BE49-F238E27FC236}">
                <a16:creationId xmlns:a16="http://schemas.microsoft.com/office/drawing/2014/main" id="{E0AF7375-D8D3-8215-066A-461CEA185988}"/>
              </a:ext>
            </a:extLst>
          </p:cNvPr>
          <p:cNvSpPr/>
          <p:nvPr/>
        </p:nvSpPr>
        <p:spPr>
          <a:xfrm>
            <a:off x="4495800" y="3200400"/>
            <a:ext cx="990600" cy="5588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GPT-5.4
judge</a:t>
            </a:r>
          </a:p>
        </p:txBody>
      </p:sp>
      <p:sp>
        <p:nvSpPr>
          <p:cNvPr id="63" name="Ovale 62">
            <a:extLst>
              <a:ext uri="{FF2B5EF4-FFF2-40B4-BE49-F238E27FC236}">
                <a16:creationId xmlns:a16="http://schemas.microsoft.com/office/drawing/2014/main" id="{E6F907BB-0D35-7E3B-0F15-3420E089B39D}"/>
              </a:ext>
            </a:extLst>
          </p:cNvPr>
          <p:cNvSpPr/>
          <p:nvPr/>
        </p:nvSpPr>
        <p:spPr>
          <a:xfrm>
            <a:off x="977900" y="4051300"/>
            <a:ext cx="69850" cy="6985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4" name="CasellaDiTesto 63">
            <a:extLst>
              <a:ext uri="{FF2B5EF4-FFF2-40B4-BE49-F238E27FC236}">
                <a16:creationId xmlns:a16="http://schemas.microsoft.com/office/drawing/2014/main" id="{F982878F-8877-24E2-5748-D60680C1AEEF}"/>
              </a:ext>
            </a:extLst>
          </p:cNvPr>
          <p:cNvSpPr txBox="1"/>
          <p:nvPr/>
        </p:nvSpPr>
        <p:spPr>
          <a:xfrm>
            <a:off x="1143000" y="39878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4 batch · 38 circuiti verificati</a:t>
            </a:r>
          </a:p>
        </p:txBody>
      </p:sp>
      <p:sp>
        <p:nvSpPr>
          <p:cNvPr id="65" name="Ovale 64">
            <a:extLst>
              <a:ext uri="{FF2B5EF4-FFF2-40B4-BE49-F238E27FC236}">
                <a16:creationId xmlns:a16="http://schemas.microsoft.com/office/drawing/2014/main" id="{80AF45DB-2280-8CB4-A081-0ED7F551C8C6}"/>
              </a:ext>
            </a:extLst>
          </p:cNvPr>
          <p:cNvSpPr/>
          <p:nvPr/>
        </p:nvSpPr>
        <p:spPr>
          <a:xfrm>
            <a:off x="977900" y="4381500"/>
            <a:ext cx="69850" cy="6985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CasellaDiTesto 65">
            <a:extLst>
              <a:ext uri="{FF2B5EF4-FFF2-40B4-BE49-F238E27FC236}">
                <a16:creationId xmlns:a16="http://schemas.microsoft.com/office/drawing/2014/main" id="{21E83BDD-5E33-A039-087E-F58A2AF17DF0}"/>
              </a:ext>
            </a:extLst>
          </p:cNvPr>
          <p:cNvSpPr txBox="1"/>
          <p:nvPr/>
        </p:nvSpPr>
        <p:spPr>
          <a:xfrm>
            <a:off x="1143000" y="43180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Controllo di terminali, pin e connessioni</a:t>
            </a:r>
          </a:p>
        </p:txBody>
      </p:sp>
      <p:sp>
        <p:nvSpPr>
          <p:cNvPr id="67" name="Ovale 66">
            <a:extLst>
              <a:ext uri="{FF2B5EF4-FFF2-40B4-BE49-F238E27FC236}">
                <a16:creationId xmlns:a16="http://schemas.microsoft.com/office/drawing/2014/main" id="{225E2AE0-BA06-1CAC-8A35-93AA8451651D}"/>
              </a:ext>
            </a:extLst>
          </p:cNvPr>
          <p:cNvSpPr/>
          <p:nvPr/>
        </p:nvSpPr>
        <p:spPr>
          <a:xfrm>
            <a:off x="977900" y="4711700"/>
            <a:ext cx="69850" cy="69850"/>
          </a:xfrm>
          <a:prstGeom prst="ellipse">
            <a:avLst/>
          </a:prstGeom>
          <a:solidFill>
            <a:srgbClr val="10B98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8" name="CasellaDiTesto 67">
            <a:extLst>
              <a:ext uri="{FF2B5EF4-FFF2-40B4-BE49-F238E27FC236}">
                <a16:creationId xmlns:a16="http://schemas.microsoft.com/office/drawing/2014/main" id="{567CD298-40D7-0BE5-2DF6-23CC4EDD340F}"/>
              </a:ext>
            </a:extLst>
          </p:cNvPr>
          <p:cNvSpPr txBox="1"/>
          <p:nvPr/>
        </p:nvSpPr>
        <p:spPr>
          <a:xfrm>
            <a:off x="1143000" y="46482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Solo ciò che è visibile: nessun datasheet</a:t>
            </a:r>
          </a:p>
        </p:txBody>
      </p:sp>
      <p:sp>
        <p:nvSpPr>
          <p:cNvPr id="69" name="Rettangolo con angoli arrotondati 68">
            <a:extLst>
              <a:ext uri="{FF2B5EF4-FFF2-40B4-BE49-F238E27FC236}">
                <a16:creationId xmlns:a16="http://schemas.microsoft.com/office/drawing/2014/main" id="{E5709BA0-3528-59B1-7B4A-1FB80C6E7CF1}"/>
              </a:ext>
            </a:extLst>
          </p:cNvPr>
          <p:cNvSpPr/>
          <p:nvPr/>
        </p:nvSpPr>
        <p:spPr>
          <a:xfrm>
            <a:off x="6413500" y="2057400"/>
            <a:ext cx="5080000" cy="31115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0" name="Rettangolo con angoli arrotondati 69">
            <a:extLst>
              <a:ext uri="{FF2B5EF4-FFF2-40B4-BE49-F238E27FC236}">
                <a16:creationId xmlns:a16="http://schemas.microsoft.com/office/drawing/2014/main" id="{0B987644-EBCC-BEE8-B801-BAE06CE5E16C}"/>
              </a:ext>
            </a:extLst>
          </p:cNvPr>
          <p:cNvSpPr/>
          <p:nvPr/>
        </p:nvSpPr>
        <p:spPr>
          <a:xfrm>
            <a:off x="6680200" y="2286000"/>
            <a:ext cx="2501900" cy="3175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02  DIAGNOSI SUI SINTOMI</a:t>
            </a:r>
          </a:p>
        </p:txBody>
      </p:sp>
      <p:sp>
        <p:nvSpPr>
          <p:cNvPr id="71" name="CasellaDiTesto 70">
            <a:extLst>
              <a:ext uri="{FF2B5EF4-FFF2-40B4-BE49-F238E27FC236}">
                <a16:creationId xmlns:a16="http://schemas.microsoft.com/office/drawing/2014/main" id="{49FE7C12-0248-52E0-C54B-6FDDE8EB977D}"/>
              </a:ext>
            </a:extLst>
          </p:cNvPr>
          <p:cNvSpPr txBox="1"/>
          <p:nvPr/>
        </p:nvSpPr>
        <p:spPr>
          <a:xfrm>
            <a:off x="6680200" y="2743200"/>
            <a:ext cx="4254500" cy="317500"/>
          </a:xfrm>
          <a:prstGeom prst="rect">
            <a:avLst/>
          </a:prstGeom>
          <a:noFill/>
        </p:spPr>
        <p:txBody>
          <a:bodyPr vert="horz" wrap="square" lIns="0" tIns="0" rIns="0" bIns="0" rtlCol="0" anchor="t">
            <a:noAutofit/>
          </a:bodyPr>
          <a:lstStyle/>
          <a:p>
            <a:r>
              <a:rPr lang="it-IT" sz="1900" b="1">
                <a:solidFill>
                  <a:srgbClr val="0B1320"/>
                </a:solidFill>
                <a:latin typeface="Aptos Display" panose="020B0004020202020204" pitchFamily="34" charset="0"/>
              </a:rPr>
              <a:t>Utilità diagnostica</a:t>
            </a:r>
          </a:p>
        </p:txBody>
      </p:sp>
      <p:sp>
        <p:nvSpPr>
          <p:cNvPr id="72" name="Rettangolo con angoli arrotondati 71">
            <a:extLst>
              <a:ext uri="{FF2B5EF4-FFF2-40B4-BE49-F238E27FC236}">
                <a16:creationId xmlns:a16="http://schemas.microsoft.com/office/drawing/2014/main" id="{AA6C5B32-1FD6-F281-420F-40F0EF268959}"/>
              </a:ext>
            </a:extLst>
          </p:cNvPr>
          <p:cNvSpPr/>
          <p:nvPr/>
        </p:nvSpPr>
        <p:spPr>
          <a:xfrm>
            <a:off x="6680200" y="3187700"/>
            <a:ext cx="1168400" cy="596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80" b="1">
                <a:solidFill>
                  <a:srgbClr val="FFFFFF"/>
                </a:solidFill>
                <a:latin typeface="Aptos" panose="020B0004020202020204" pitchFamily="34" charset="0"/>
              </a:rPr>
              <a:t>JSON +
datasheet</a:t>
            </a:r>
          </a:p>
        </p:txBody>
      </p:sp>
      <p:sp>
        <p:nvSpPr>
          <p:cNvPr id="73" name="Rettangolo con angoli arrotondati 72">
            <a:extLst>
              <a:ext uri="{FF2B5EF4-FFF2-40B4-BE49-F238E27FC236}">
                <a16:creationId xmlns:a16="http://schemas.microsoft.com/office/drawing/2014/main" id="{199A24F1-DF89-8BC9-4597-991D573C29A9}"/>
              </a:ext>
            </a:extLst>
          </p:cNvPr>
          <p:cNvSpPr/>
          <p:nvPr/>
        </p:nvSpPr>
        <p:spPr>
          <a:xfrm>
            <a:off x="7950200" y="3187700"/>
            <a:ext cx="1333500" cy="5969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40" b="1">
                <a:solidFill>
                  <a:srgbClr val="FFFFFF"/>
                </a:solidFill>
                <a:latin typeface="Aptos" panose="020B0004020202020204" pitchFamily="34" charset="0"/>
              </a:rPr>
              <a:t>JSON + immagine
+ datasheet</a:t>
            </a:r>
          </a:p>
        </p:txBody>
      </p:sp>
      <p:cxnSp>
        <p:nvCxnSpPr>
          <p:cNvPr id="74" name="Connettore diritto 73">
            <a:extLst>
              <a:ext uri="{FF2B5EF4-FFF2-40B4-BE49-F238E27FC236}">
                <a16:creationId xmlns:a16="http://schemas.microsoft.com/office/drawing/2014/main" id="{43268C2C-7218-8A11-76D2-A71369054015}"/>
              </a:ext>
            </a:extLst>
          </p:cNvPr>
          <p:cNvCxnSpPr/>
          <p:nvPr/>
        </p:nvCxnSpPr>
        <p:spPr>
          <a:xfrm>
            <a:off x="9410700" y="3479800"/>
            <a:ext cx="3048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75" name="Rettangolo con angoli arrotondati 74">
            <a:extLst>
              <a:ext uri="{FF2B5EF4-FFF2-40B4-BE49-F238E27FC236}">
                <a16:creationId xmlns:a16="http://schemas.microsoft.com/office/drawing/2014/main" id="{73125F76-2024-3C6B-6E5F-F4982C4B1E01}"/>
              </a:ext>
            </a:extLst>
          </p:cNvPr>
          <p:cNvSpPr/>
          <p:nvPr/>
        </p:nvSpPr>
        <p:spPr>
          <a:xfrm>
            <a:off x="9829800" y="3187700"/>
            <a:ext cx="1371600" cy="5969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8 GPT →
GPT-5.5 judge</a:t>
            </a:r>
          </a:p>
        </p:txBody>
      </p:sp>
      <p:sp>
        <p:nvSpPr>
          <p:cNvPr id="76" name="Ovale 75">
            <a:extLst>
              <a:ext uri="{FF2B5EF4-FFF2-40B4-BE49-F238E27FC236}">
                <a16:creationId xmlns:a16="http://schemas.microsoft.com/office/drawing/2014/main" id="{34A11F64-5837-19D0-A228-FE7297031215}"/>
              </a:ext>
            </a:extLst>
          </p:cNvPr>
          <p:cNvSpPr/>
          <p:nvPr/>
        </p:nvSpPr>
        <p:spPr>
          <a:xfrm>
            <a:off x="6692900" y="4051300"/>
            <a:ext cx="69850" cy="69850"/>
          </a:xfrm>
          <a:prstGeom prst="ellipse">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7" name="CasellaDiTesto 76">
            <a:extLst>
              <a:ext uri="{FF2B5EF4-FFF2-40B4-BE49-F238E27FC236}">
                <a16:creationId xmlns:a16="http://schemas.microsoft.com/office/drawing/2014/main" id="{4D29A7D3-8A02-4894-EAB4-38BE21CFFC6B}"/>
              </a:ext>
            </a:extLst>
          </p:cNvPr>
          <p:cNvSpPr txBox="1"/>
          <p:nvPr/>
        </p:nvSpPr>
        <p:spPr>
          <a:xfrm>
            <a:off x="6858000" y="39878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2 batch · 16 circuiti · 256 diagnosi</a:t>
            </a:r>
          </a:p>
        </p:txBody>
      </p:sp>
      <p:sp>
        <p:nvSpPr>
          <p:cNvPr id="78" name="Ovale 77">
            <a:extLst>
              <a:ext uri="{FF2B5EF4-FFF2-40B4-BE49-F238E27FC236}">
                <a16:creationId xmlns:a16="http://schemas.microsoft.com/office/drawing/2014/main" id="{6F2833DF-325A-01A8-B481-A38690307A16}"/>
              </a:ext>
            </a:extLst>
          </p:cNvPr>
          <p:cNvSpPr/>
          <p:nvPr/>
        </p:nvSpPr>
        <p:spPr>
          <a:xfrm>
            <a:off x="6692900" y="4381500"/>
            <a:ext cx="69850" cy="69850"/>
          </a:xfrm>
          <a:prstGeom prst="ellipse">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9" name="CasellaDiTesto 78">
            <a:extLst>
              <a:ext uri="{FF2B5EF4-FFF2-40B4-BE49-F238E27FC236}">
                <a16:creationId xmlns:a16="http://schemas.microsoft.com/office/drawing/2014/main" id="{E30236BF-48E0-3704-71E8-CB1CC5CAF70C}"/>
              </a:ext>
            </a:extLst>
          </p:cNvPr>
          <p:cNvSpPr txBox="1"/>
          <p:nvPr/>
        </p:nvSpPr>
        <p:spPr>
          <a:xfrm>
            <a:off x="6858000" y="43180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Stesso sintomo e doppia modalità di input</a:t>
            </a:r>
          </a:p>
        </p:txBody>
      </p:sp>
      <p:sp>
        <p:nvSpPr>
          <p:cNvPr id="80" name="Ovale 79">
            <a:extLst>
              <a:ext uri="{FF2B5EF4-FFF2-40B4-BE49-F238E27FC236}">
                <a16:creationId xmlns:a16="http://schemas.microsoft.com/office/drawing/2014/main" id="{E1A005FD-2F0C-BC5D-29B1-0B3BE354459A}"/>
              </a:ext>
            </a:extLst>
          </p:cNvPr>
          <p:cNvSpPr/>
          <p:nvPr/>
        </p:nvSpPr>
        <p:spPr>
          <a:xfrm>
            <a:off x="6692900" y="4711700"/>
            <a:ext cx="69850" cy="69850"/>
          </a:xfrm>
          <a:prstGeom prst="ellipse">
            <a:avLst/>
          </a:prstGeom>
          <a:solidFill>
            <a:srgbClr val="8B5CF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1" name="CasellaDiTesto 80">
            <a:extLst>
              <a:ext uri="{FF2B5EF4-FFF2-40B4-BE49-F238E27FC236}">
                <a16:creationId xmlns:a16="http://schemas.microsoft.com/office/drawing/2014/main" id="{D7837ED0-976E-98AD-BCB9-9A491D0F10A3}"/>
              </a:ext>
            </a:extLst>
          </p:cNvPr>
          <p:cNvSpPr txBox="1"/>
          <p:nvPr/>
        </p:nvSpPr>
        <p:spPr>
          <a:xfrm>
            <a:off x="6858000" y="4648200"/>
            <a:ext cx="4216400" cy="254000"/>
          </a:xfrm>
          <a:prstGeom prst="rect">
            <a:avLst/>
          </a:prstGeom>
          <a:noFill/>
        </p:spPr>
        <p:txBody>
          <a:bodyPr vert="horz" wrap="square" lIns="0" tIns="0" rIns="0" bIns="0" rtlCol="0" anchor="t">
            <a:noAutofit/>
          </a:bodyPr>
          <a:lstStyle/>
          <a:p>
            <a:r>
              <a:rPr lang="it-IT" sz="1150">
                <a:solidFill>
                  <a:srgbClr val="334155"/>
                </a:solidFill>
                <a:latin typeface="Aptos" panose="020B0004020202020204" pitchFamily="34" charset="0"/>
              </a:rPr>
              <a:t>Risposta, token, latenza e costo salvati</a:t>
            </a:r>
          </a:p>
        </p:txBody>
      </p:sp>
      <p:sp>
        <p:nvSpPr>
          <p:cNvPr id="82" name="Rettangolo con angoli arrotondati 81">
            <a:extLst>
              <a:ext uri="{FF2B5EF4-FFF2-40B4-BE49-F238E27FC236}">
                <a16:creationId xmlns:a16="http://schemas.microsoft.com/office/drawing/2014/main" id="{E59CCE82-918A-B9BF-4022-265B920DD746}"/>
              </a:ext>
            </a:extLst>
          </p:cNvPr>
          <p:cNvSpPr/>
          <p:nvPr/>
        </p:nvSpPr>
        <p:spPr>
          <a:xfrm>
            <a:off x="698500" y="5384800"/>
            <a:ext cx="10795000" cy="736600"/>
          </a:xfrm>
          <a:prstGeom prst="roundRect">
            <a:avLst/>
          </a:prstGeom>
          <a:solidFill>
            <a:srgbClr val="ECFDF5"/>
          </a:solidFill>
          <a:ln w="12700">
            <a:solidFill>
              <a:srgbClr val="BBF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3" name="CasellaDiTesto 82">
            <a:extLst>
              <a:ext uri="{FF2B5EF4-FFF2-40B4-BE49-F238E27FC236}">
                <a16:creationId xmlns:a16="http://schemas.microsoft.com/office/drawing/2014/main" id="{71C11329-12E9-EA6A-0ECC-87BCD08DF796}"/>
              </a:ext>
            </a:extLst>
          </p:cNvPr>
          <p:cNvSpPr txBox="1"/>
          <p:nvPr/>
        </p:nvSpPr>
        <p:spPr>
          <a:xfrm>
            <a:off x="952500" y="5562600"/>
            <a:ext cx="1714500" cy="2159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Perché due test?</a:t>
            </a:r>
          </a:p>
        </p:txBody>
      </p:sp>
      <p:sp>
        <p:nvSpPr>
          <p:cNvPr id="84" name="CasellaDiTesto 83">
            <a:extLst>
              <a:ext uri="{FF2B5EF4-FFF2-40B4-BE49-F238E27FC236}">
                <a16:creationId xmlns:a16="http://schemas.microsoft.com/office/drawing/2014/main" id="{3E7DED65-3A5A-436E-B8E5-CE8A69306221}"/>
              </a:ext>
            </a:extLst>
          </p:cNvPr>
          <p:cNvSpPr txBox="1"/>
          <p:nvPr/>
        </p:nvSpPr>
        <p:spPr>
          <a:xfrm>
            <a:off x="2603500" y="5524500"/>
            <a:ext cx="8559800" cy="406400"/>
          </a:xfrm>
          <a:prstGeom prst="rect">
            <a:avLst/>
          </a:prstGeom>
          <a:noFill/>
        </p:spPr>
        <p:txBody>
          <a:bodyPr vert="horz" wrap="square" lIns="0" tIns="0" rIns="0" bIns="0" rtlCol="0" anchor="t">
            <a:noAutofit/>
          </a:bodyPr>
          <a:lstStyle/>
          <a:p>
            <a:r>
              <a:rPr lang="it-IT" sz="1120">
                <a:solidFill>
                  <a:srgbClr val="334155"/>
                </a:solidFill>
                <a:latin typeface="Aptos" panose="020B0004020202020204" pitchFamily="34" charset="0"/>
              </a:rPr>
              <a:t>Un grafo può essere fedele all'immagine ma non ancora simulabile. Il primo gate misura la topologia; il secondo misura quanto quella struttura supporta una diagnosi tecnica.</a:t>
            </a:r>
          </a:p>
        </p:txBody>
      </p:sp>
    </p:spTree>
    <p:extLst>
      <p:ext uri="{BB962C8B-B14F-4D97-AF65-F5344CB8AC3E}">
        <p14:creationId xmlns:p14="http://schemas.microsoft.com/office/powerpoint/2010/main" val="332759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pic>
        <p:nvPicPr>
          <p:cNvPr id="52" name="Picture 5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it-IT" sz="2800" b="1">
                <a:solidFill>
                  <a:srgbClr val="0B1320"/>
                </a:solidFill>
                <a:latin typeface="Aptos Display" panose="020B0004020202020204" pitchFamily="34" charset="0"/>
                <a:ea typeface="Aptos Display" pitchFamily="34" charset="-122"/>
                <a:cs typeface="Aptos Display" pitchFamily="34" charset="-120"/>
              </a:rPr>
              <a:t>GPT judge: prompt, regole e valutazione</a:t>
            </a:r>
            <a:endParaRPr lang="en-US" sz="2800" b="1" dirty="0">
              <a:solidFill>
                <a:srgbClr val="0B1320"/>
              </a:solidFill>
              <a:latin typeface="Aptos Display" panose="020B0004020202020204" pitchFamily="34" charset="0"/>
            </a:endParaRPr>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it-IT" sz="1250">
                <a:solidFill>
                  <a:srgbClr val="64748B"/>
                </a:solidFill>
                <a:latin typeface="Aptos" panose="020B0004020202020204" pitchFamily="34" charset="0"/>
                <a:ea typeface="Aptos" pitchFamily="34" charset="-122"/>
                <a:cs typeface="Aptos" pitchFamily="34" charset="-120"/>
              </a:rPr>
              <a:t>Output JSON vincolato per rendere il confronto uniforme e ripetibile</a:t>
            </a:r>
            <a:endParaRPr lang="en-US" sz="1250" dirty="0">
              <a:solidFill>
                <a:srgbClr val="64748B"/>
              </a:solidFill>
              <a:latin typeface="Aptos" panose="020B0004020202020204" pitchFamily="34" charset="0"/>
            </a:endParaRPr>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06</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53" name="Rettangolo con angoli arrotondati 52">
            <a:extLst>
              <a:ext uri="{FF2B5EF4-FFF2-40B4-BE49-F238E27FC236}">
                <a16:creationId xmlns:a16="http://schemas.microsoft.com/office/drawing/2014/main" id="{DEF5C310-2F0A-4221-6F6E-AEC4F471DC2A}"/>
              </a:ext>
            </a:extLst>
          </p:cNvPr>
          <p:cNvSpPr/>
          <p:nvPr/>
        </p:nvSpPr>
        <p:spPr>
          <a:xfrm>
            <a:off x="698500" y="1409700"/>
            <a:ext cx="4635500" cy="40005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4" name="CasellaDiTesto 53">
            <a:extLst>
              <a:ext uri="{FF2B5EF4-FFF2-40B4-BE49-F238E27FC236}">
                <a16:creationId xmlns:a16="http://schemas.microsoft.com/office/drawing/2014/main" id="{979F3D4B-937E-A6FC-F0A5-54D0B8F34ED9}"/>
              </a:ext>
            </a:extLst>
          </p:cNvPr>
          <p:cNvSpPr txBox="1"/>
          <p:nvPr/>
        </p:nvSpPr>
        <p:spPr>
          <a:xfrm>
            <a:off x="977900" y="1651000"/>
            <a:ext cx="3810000" cy="228600"/>
          </a:xfrm>
          <a:prstGeom prst="rect">
            <a:avLst/>
          </a:prstGeom>
          <a:noFill/>
        </p:spPr>
        <p:txBody>
          <a:bodyPr vert="horz" wrap="square" lIns="0" tIns="0" rIns="0" bIns="0" rtlCol="0" anchor="t">
            <a:noAutofit/>
          </a:bodyPr>
          <a:lstStyle/>
          <a:p>
            <a:r>
              <a:rPr lang="it-IT" sz="1150" b="1">
                <a:solidFill>
                  <a:srgbClr val="10B981"/>
                </a:solidFill>
                <a:latin typeface="Aptos" panose="020B0004020202020204" pitchFamily="34" charset="0"/>
              </a:rPr>
              <a:t>PROMPT IMAGE ↔ GRAPH</a:t>
            </a:r>
          </a:p>
        </p:txBody>
      </p:sp>
      <p:sp>
        <p:nvSpPr>
          <p:cNvPr id="55" name="CasellaDiTesto 54">
            <a:extLst>
              <a:ext uri="{FF2B5EF4-FFF2-40B4-BE49-F238E27FC236}">
                <a16:creationId xmlns:a16="http://schemas.microsoft.com/office/drawing/2014/main" id="{15571674-8BB1-8B8B-46FD-8FBBDD9C1F43}"/>
              </a:ext>
            </a:extLst>
          </p:cNvPr>
          <p:cNvSpPr txBox="1"/>
          <p:nvPr/>
        </p:nvSpPr>
        <p:spPr>
          <a:xfrm>
            <a:off x="977900" y="1993900"/>
            <a:ext cx="3810000" cy="304800"/>
          </a:xfrm>
          <a:prstGeom prst="rect">
            <a:avLst/>
          </a:prstGeom>
          <a:noFill/>
        </p:spPr>
        <p:txBody>
          <a:bodyPr vert="horz" wrap="square" lIns="0" tIns="0" rIns="0" bIns="0" rtlCol="0" anchor="t">
            <a:noAutofit/>
          </a:bodyPr>
          <a:lstStyle/>
          <a:p>
            <a:r>
              <a:rPr lang="it-IT" b="1">
                <a:solidFill>
                  <a:srgbClr val="FFFFFF"/>
                </a:solidFill>
                <a:latin typeface="Aptos Display" panose="020B0004020202020204" pitchFamily="34" charset="0"/>
              </a:rPr>
              <a:t>Input al judge multimodale</a:t>
            </a:r>
          </a:p>
        </p:txBody>
      </p:sp>
      <p:sp>
        <p:nvSpPr>
          <p:cNvPr id="56" name="Rettangolo con angoli arrotondati 55">
            <a:extLst>
              <a:ext uri="{FF2B5EF4-FFF2-40B4-BE49-F238E27FC236}">
                <a16:creationId xmlns:a16="http://schemas.microsoft.com/office/drawing/2014/main" id="{F36970D0-833C-4CF8-5B10-3A9F0D108636}"/>
              </a:ext>
            </a:extLst>
          </p:cNvPr>
          <p:cNvSpPr/>
          <p:nvPr/>
        </p:nvSpPr>
        <p:spPr>
          <a:xfrm>
            <a:off x="977900" y="2514600"/>
            <a:ext cx="1752600" cy="3683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Immagine originale</a:t>
            </a:r>
          </a:p>
        </p:txBody>
      </p:sp>
      <p:sp>
        <p:nvSpPr>
          <p:cNvPr id="57" name="Rettangolo con angoli arrotondati 56">
            <a:extLst>
              <a:ext uri="{FF2B5EF4-FFF2-40B4-BE49-F238E27FC236}">
                <a16:creationId xmlns:a16="http://schemas.microsoft.com/office/drawing/2014/main" id="{C2681C8F-F0FD-4E36-68C9-E6A7849BF88A}"/>
              </a:ext>
            </a:extLst>
          </p:cNvPr>
          <p:cNvSpPr/>
          <p:nvPr/>
        </p:nvSpPr>
        <p:spPr>
          <a:xfrm>
            <a:off x="2870200" y="2514600"/>
            <a:ext cx="1333500" cy="3683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Graph JSON</a:t>
            </a:r>
          </a:p>
        </p:txBody>
      </p:sp>
      <p:sp>
        <p:nvSpPr>
          <p:cNvPr id="58" name="Rettangolo con angoli arrotondati 57">
            <a:extLst>
              <a:ext uri="{FF2B5EF4-FFF2-40B4-BE49-F238E27FC236}">
                <a16:creationId xmlns:a16="http://schemas.microsoft.com/office/drawing/2014/main" id="{E92D3752-223E-D054-1A46-5081F511BD4D}"/>
              </a:ext>
            </a:extLst>
          </p:cNvPr>
          <p:cNvSpPr/>
          <p:nvPr/>
        </p:nvSpPr>
        <p:spPr>
          <a:xfrm>
            <a:off x="977900" y="3009900"/>
            <a:ext cx="1752600" cy="3683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YAML terminali</a:t>
            </a:r>
          </a:p>
        </p:txBody>
      </p:sp>
      <p:sp>
        <p:nvSpPr>
          <p:cNvPr id="59" name="Rettangolo con angoli arrotondati 58">
            <a:extLst>
              <a:ext uri="{FF2B5EF4-FFF2-40B4-BE49-F238E27FC236}">
                <a16:creationId xmlns:a16="http://schemas.microsoft.com/office/drawing/2014/main" id="{63D3DC41-7D77-B677-0A54-EE7D5B230D94}"/>
              </a:ext>
            </a:extLst>
          </p:cNvPr>
          <p:cNvSpPr/>
          <p:nvPr/>
        </p:nvSpPr>
        <p:spPr>
          <a:xfrm>
            <a:off x="2870200" y="3009900"/>
            <a:ext cx="1600200" cy="368300"/>
          </a:xfrm>
          <a:prstGeom prst="roundRect">
            <a:avLst/>
          </a:prstGeom>
          <a:solidFill>
            <a:srgbClr val="334155"/>
          </a:solidFill>
          <a:ln w="12700">
            <a:solidFill>
              <a:srgbClr val="334155"/>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Regole rigorose</a:t>
            </a:r>
          </a:p>
        </p:txBody>
      </p:sp>
      <p:cxnSp>
        <p:nvCxnSpPr>
          <p:cNvPr id="60" name="Connettore diritto 59">
            <a:extLst>
              <a:ext uri="{FF2B5EF4-FFF2-40B4-BE49-F238E27FC236}">
                <a16:creationId xmlns:a16="http://schemas.microsoft.com/office/drawing/2014/main" id="{6402D9D7-0B26-683F-2570-B8E7C613BE77}"/>
              </a:ext>
            </a:extLst>
          </p:cNvPr>
          <p:cNvCxnSpPr/>
          <p:nvPr/>
        </p:nvCxnSpPr>
        <p:spPr>
          <a:xfrm>
            <a:off x="2730500" y="3632200"/>
            <a:ext cx="0" cy="27940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61" name="CasellaDiTesto 60">
            <a:extLst>
              <a:ext uri="{FF2B5EF4-FFF2-40B4-BE49-F238E27FC236}">
                <a16:creationId xmlns:a16="http://schemas.microsoft.com/office/drawing/2014/main" id="{F4DD9BDD-5F44-900D-D063-5E50A6538522}"/>
              </a:ext>
            </a:extLst>
          </p:cNvPr>
          <p:cNvSpPr txBox="1"/>
          <p:nvPr/>
        </p:nvSpPr>
        <p:spPr>
          <a:xfrm>
            <a:off x="977900" y="4000500"/>
            <a:ext cx="3784600" cy="533400"/>
          </a:xfrm>
          <a:prstGeom prst="rect">
            <a:avLst/>
          </a:prstGeom>
          <a:noFill/>
        </p:spPr>
        <p:txBody>
          <a:bodyPr vert="horz" wrap="square" lIns="0" tIns="0" rIns="0" bIns="0" rtlCol="0" anchor="t">
            <a:noAutofit/>
          </a:bodyPr>
          <a:lstStyle/>
          <a:p>
            <a:pPr algn="ctr"/>
            <a:r>
              <a:rPr lang="it-IT" sz="1250" b="1">
                <a:solidFill>
                  <a:srgbClr val="FFFFFF"/>
                </a:solidFill>
                <a:latin typeface="Aptos" panose="020B0004020202020204" pitchFamily="34" charset="0"/>
              </a:rPr>
              <a:t>I collegamenti terminale-terminale
dichiarati nel JSON coincidono con l'immagine?</a:t>
            </a:r>
          </a:p>
        </p:txBody>
      </p:sp>
      <p:sp>
        <p:nvSpPr>
          <p:cNvPr id="62" name="CasellaDiTesto 61">
            <a:extLst>
              <a:ext uri="{FF2B5EF4-FFF2-40B4-BE49-F238E27FC236}">
                <a16:creationId xmlns:a16="http://schemas.microsoft.com/office/drawing/2014/main" id="{C7D927FB-CA84-38AC-9E83-C151CBEB0037}"/>
              </a:ext>
            </a:extLst>
          </p:cNvPr>
          <p:cNvSpPr txBox="1"/>
          <p:nvPr/>
        </p:nvSpPr>
        <p:spPr>
          <a:xfrm>
            <a:off x="977900" y="4749800"/>
            <a:ext cx="3784600" cy="431800"/>
          </a:xfrm>
          <a:prstGeom prst="rect">
            <a:avLst/>
          </a:prstGeom>
          <a:noFill/>
        </p:spPr>
        <p:txBody>
          <a:bodyPr vert="horz" wrap="square" lIns="0" tIns="0" rIns="0" bIns="0" rtlCol="0" anchor="t">
            <a:noAutofit/>
          </a:bodyPr>
          <a:lstStyle/>
          <a:p>
            <a:r>
              <a:rPr lang="it-IT" sz="970">
                <a:solidFill>
                  <a:srgbClr val="CBD5E1"/>
                </a:solidFill>
                <a:latin typeface="Aptos" panose="020B0004020202020204" pitchFamily="34" charset="0"/>
              </a:rPr>
              <a:t>Niente datasheet, valori o giudizio sul funzionamento.
Le ambiguità finiscono in uncertain_points.</a:t>
            </a:r>
          </a:p>
        </p:txBody>
      </p:sp>
      <p:sp>
        <p:nvSpPr>
          <p:cNvPr id="63" name="CasellaDiTesto 62">
            <a:extLst>
              <a:ext uri="{FF2B5EF4-FFF2-40B4-BE49-F238E27FC236}">
                <a16:creationId xmlns:a16="http://schemas.microsoft.com/office/drawing/2014/main" id="{E026AFAF-9A9C-89C3-EE36-57542E540BA7}"/>
              </a:ext>
            </a:extLst>
          </p:cNvPr>
          <p:cNvSpPr txBox="1"/>
          <p:nvPr/>
        </p:nvSpPr>
        <p:spPr>
          <a:xfrm>
            <a:off x="5791200" y="1422400"/>
            <a:ext cx="33020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SCORING TOPOLOGICO /100</a:t>
            </a:r>
          </a:p>
        </p:txBody>
      </p:sp>
      <p:sp>
        <p:nvSpPr>
          <p:cNvPr id="64" name="Rettangolo con angoli arrotondati 63">
            <a:extLst>
              <a:ext uri="{FF2B5EF4-FFF2-40B4-BE49-F238E27FC236}">
                <a16:creationId xmlns:a16="http://schemas.microsoft.com/office/drawing/2014/main" id="{0CAFA127-AAFD-7A13-A077-4490C7ABD641}"/>
              </a:ext>
            </a:extLst>
          </p:cNvPr>
          <p:cNvSpPr/>
          <p:nvPr/>
        </p:nvSpPr>
        <p:spPr>
          <a:xfrm>
            <a:off x="5791200" y="18161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5" name="Rettangolo 64">
            <a:extLst>
              <a:ext uri="{FF2B5EF4-FFF2-40B4-BE49-F238E27FC236}">
                <a16:creationId xmlns:a16="http://schemas.microsoft.com/office/drawing/2014/main" id="{615BED5B-6A5C-CD3F-B3F8-10FF9A9FBE2F}"/>
              </a:ext>
            </a:extLst>
          </p:cNvPr>
          <p:cNvSpPr/>
          <p:nvPr/>
        </p:nvSpPr>
        <p:spPr>
          <a:xfrm>
            <a:off x="5791200" y="1816100"/>
            <a:ext cx="76200" cy="444500"/>
          </a:xfrm>
          <a:prstGeom prst="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CasellaDiTesto 65">
            <a:extLst>
              <a:ext uri="{FF2B5EF4-FFF2-40B4-BE49-F238E27FC236}">
                <a16:creationId xmlns:a16="http://schemas.microsoft.com/office/drawing/2014/main" id="{7540D480-B03F-6363-0BBC-220EC2B3B2DF}"/>
              </a:ext>
            </a:extLst>
          </p:cNvPr>
          <p:cNvSpPr txBox="1"/>
          <p:nvPr/>
        </p:nvSpPr>
        <p:spPr>
          <a:xfrm>
            <a:off x="6045200" y="19304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Componenti endpoint</a:t>
            </a:r>
          </a:p>
        </p:txBody>
      </p:sp>
      <p:sp>
        <p:nvSpPr>
          <p:cNvPr id="67" name="Rettangolo con angoli arrotondati 66">
            <a:extLst>
              <a:ext uri="{FF2B5EF4-FFF2-40B4-BE49-F238E27FC236}">
                <a16:creationId xmlns:a16="http://schemas.microsoft.com/office/drawing/2014/main" id="{AA8EEE30-042C-46AA-AE95-B9565BFD757E}"/>
              </a:ext>
            </a:extLst>
          </p:cNvPr>
          <p:cNvSpPr/>
          <p:nvPr/>
        </p:nvSpPr>
        <p:spPr>
          <a:xfrm>
            <a:off x="9245600" y="1892300"/>
            <a:ext cx="533400" cy="2921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10</a:t>
            </a:r>
          </a:p>
        </p:txBody>
      </p:sp>
      <p:sp>
        <p:nvSpPr>
          <p:cNvPr id="68" name="Rettangolo con angoli arrotondati 67">
            <a:extLst>
              <a:ext uri="{FF2B5EF4-FFF2-40B4-BE49-F238E27FC236}">
                <a16:creationId xmlns:a16="http://schemas.microsoft.com/office/drawing/2014/main" id="{2B49AD48-3F2E-575D-5DDD-2B0698F32953}"/>
              </a:ext>
            </a:extLst>
          </p:cNvPr>
          <p:cNvSpPr/>
          <p:nvPr/>
        </p:nvSpPr>
        <p:spPr>
          <a:xfrm>
            <a:off x="5791200" y="23495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9" name="Rettangolo 68">
            <a:extLst>
              <a:ext uri="{FF2B5EF4-FFF2-40B4-BE49-F238E27FC236}">
                <a16:creationId xmlns:a16="http://schemas.microsoft.com/office/drawing/2014/main" id="{1C18E21E-DFE6-C55E-D1D6-88A4502E481D}"/>
              </a:ext>
            </a:extLst>
          </p:cNvPr>
          <p:cNvSpPr/>
          <p:nvPr/>
        </p:nvSpPr>
        <p:spPr>
          <a:xfrm>
            <a:off x="5791200" y="2349500"/>
            <a:ext cx="76200" cy="444500"/>
          </a:xfrm>
          <a:prstGeom prst="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0" name="CasellaDiTesto 69">
            <a:extLst>
              <a:ext uri="{FF2B5EF4-FFF2-40B4-BE49-F238E27FC236}">
                <a16:creationId xmlns:a16="http://schemas.microsoft.com/office/drawing/2014/main" id="{4A90C79B-5664-2A11-E979-7B6B78896C21}"/>
              </a:ext>
            </a:extLst>
          </p:cNvPr>
          <p:cNvSpPr txBox="1"/>
          <p:nvPr/>
        </p:nvSpPr>
        <p:spPr>
          <a:xfrm>
            <a:off x="6045200" y="24638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Terminali e pin</a:t>
            </a:r>
          </a:p>
        </p:txBody>
      </p:sp>
      <p:sp>
        <p:nvSpPr>
          <p:cNvPr id="71" name="Rettangolo con angoli arrotondati 70">
            <a:extLst>
              <a:ext uri="{FF2B5EF4-FFF2-40B4-BE49-F238E27FC236}">
                <a16:creationId xmlns:a16="http://schemas.microsoft.com/office/drawing/2014/main" id="{09E61A86-C4D4-A9F0-E159-92DA2E2435BB}"/>
              </a:ext>
            </a:extLst>
          </p:cNvPr>
          <p:cNvSpPr/>
          <p:nvPr/>
        </p:nvSpPr>
        <p:spPr>
          <a:xfrm>
            <a:off x="9245600" y="2425700"/>
            <a:ext cx="533400" cy="2921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25</a:t>
            </a:r>
          </a:p>
        </p:txBody>
      </p:sp>
      <p:sp>
        <p:nvSpPr>
          <p:cNvPr id="72" name="Rettangolo con angoli arrotondati 71">
            <a:extLst>
              <a:ext uri="{FF2B5EF4-FFF2-40B4-BE49-F238E27FC236}">
                <a16:creationId xmlns:a16="http://schemas.microsoft.com/office/drawing/2014/main" id="{105E48C2-E12B-9846-28CE-37A8106DEFB0}"/>
              </a:ext>
            </a:extLst>
          </p:cNvPr>
          <p:cNvSpPr/>
          <p:nvPr/>
        </p:nvSpPr>
        <p:spPr>
          <a:xfrm>
            <a:off x="5791200" y="28829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3" name="Rettangolo 72">
            <a:extLst>
              <a:ext uri="{FF2B5EF4-FFF2-40B4-BE49-F238E27FC236}">
                <a16:creationId xmlns:a16="http://schemas.microsoft.com/office/drawing/2014/main" id="{73D88237-DC7D-8FFA-9DF2-BDB91CA6DDA0}"/>
              </a:ext>
            </a:extLst>
          </p:cNvPr>
          <p:cNvSpPr/>
          <p:nvPr/>
        </p:nvSpPr>
        <p:spPr>
          <a:xfrm>
            <a:off x="5791200" y="2882900"/>
            <a:ext cx="76200" cy="444500"/>
          </a:xfrm>
          <a:prstGeom prst="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4" name="CasellaDiTesto 73">
            <a:extLst>
              <a:ext uri="{FF2B5EF4-FFF2-40B4-BE49-F238E27FC236}">
                <a16:creationId xmlns:a16="http://schemas.microsoft.com/office/drawing/2014/main" id="{5FDF6D91-7558-835F-79B8-21AB6C47B61E}"/>
              </a:ext>
            </a:extLst>
          </p:cNvPr>
          <p:cNvSpPr txBox="1"/>
          <p:nvPr/>
        </p:nvSpPr>
        <p:spPr>
          <a:xfrm>
            <a:off x="6045200" y="29972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Connessioni del graph</a:t>
            </a:r>
          </a:p>
        </p:txBody>
      </p:sp>
      <p:sp>
        <p:nvSpPr>
          <p:cNvPr id="75" name="Rettangolo con angoli arrotondati 74">
            <a:extLst>
              <a:ext uri="{FF2B5EF4-FFF2-40B4-BE49-F238E27FC236}">
                <a16:creationId xmlns:a16="http://schemas.microsoft.com/office/drawing/2014/main" id="{CB0BE48E-E4E3-4C86-69C0-44671FBE811D}"/>
              </a:ext>
            </a:extLst>
          </p:cNvPr>
          <p:cNvSpPr/>
          <p:nvPr/>
        </p:nvSpPr>
        <p:spPr>
          <a:xfrm>
            <a:off x="9245600" y="2959100"/>
            <a:ext cx="533400" cy="2921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55</a:t>
            </a:r>
          </a:p>
        </p:txBody>
      </p:sp>
      <p:sp>
        <p:nvSpPr>
          <p:cNvPr id="76" name="Rettangolo con angoli arrotondati 75">
            <a:extLst>
              <a:ext uri="{FF2B5EF4-FFF2-40B4-BE49-F238E27FC236}">
                <a16:creationId xmlns:a16="http://schemas.microsoft.com/office/drawing/2014/main" id="{642BFE27-D9C7-6FDC-6FF5-9C8857838666}"/>
              </a:ext>
            </a:extLst>
          </p:cNvPr>
          <p:cNvSpPr/>
          <p:nvPr/>
        </p:nvSpPr>
        <p:spPr>
          <a:xfrm>
            <a:off x="5791200" y="3416300"/>
            <a:ext cx="4191000" cy="4445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7" name="Rettangolo 76">
            <a:extLst>
              <a:ext uri="{FF2B5EF4-FFF2-40B4-BE49-F238E27FC236}">
                <a16:creationId xmlns:a16="http://schemas.microsoft.com/office/drawing/2014/main" id="{E9C5E479-9B90-C18A-09BF-01003BC994C7}"/>
              </a:ext>
            </a:extLst>
          </p:cNvPr>
          <p:cNvSpPr/>
          <p:nvPr/>
        </p:nvSpPr>
        <p:spPr>
          <a:xfrm>
            <a:off x="5791200" y="3416300"/>
            <a:ext cx="76200" cy="444500"/>
          </a:xfrm>
          <a:prstGeom prst="rect">
            <a:avLst/>
          </a:prstGeom>
          <a:solidFill>
            <a:srgbClr val="94A3B8"/>
          </a:solidFill>
          <a:ln w="127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8" name="CasellaDiTesto 77">
            <a:extLst>
              <a:ext uri="{FF2B5EF4-FFF2-40B4-BE49-F238E27FC236}">
                <a16:creationId xmlns:a16="http://schemas.microsoft.com/office/drawing/2014/main" id="{1780402C-4E3C-2FC5-D894-8A3AA967D795}"/>
              </a:ext>
            </a:extLst>
          </p:cNvPr>
          <p:cNvSpPr txBox="1"/>
          <p:nvPr/>
        </p:nvSpPr>
        <p:spPr>
          <a:xfrm>
            <a:off x="6045200" y="3530600"/>
            <a:ext cx="2832100" cy="203200"/>
          </a:xfrm>
          <a:prstGeom prst="rect">
            <a:avLst/>
          </a:prstGeom>
          <a:noFill/>
        </p:spPr>
        <p:txBody>
          <a:bodyPr vert="horz" wrap="square" lIns="0" tIns="0" rIns="0" bIns="0" rtlCol="0" anchor="t">
            <a:noAutofit/>
          </a:bodyPr>
          <a:lstStyle/>
          <a:p>
            <a:r>
              <a:rPr lang="it-IT" sz="1080" b="1">
                <a:solidFill>
                  <a:srgbClr val="334155"/>
                </a:solidFill>
                <a:latin typeface="Aptos" panose="020B0004020202020204" pitchFamily="34" charset="0"/>
              </a:rPr>
              <a:t>Semantica visibile</a:t>
            </a:r>
          </a:p>
        </p:txBody>
      </p:sp>
      <p:sp>
        <p:nvSpPr>
          <p:cNvPr id="79" name="Rettangolo con angoli arrotondati 78">
            <a:extLst>
              <a:ext uri="{FF2B5EF4-FFF2-40B4-BE49-F238E27FC236}">
                <a16:creationId xmlns:a16="http://schemas.microsoft.com/office/drawing/2014/main" id="{4ECE4136-6885-C586-272B-E370A6475749}"/>
              </a:ext>
            </a:extLst>
          </p:cNvPr>
          <p:cNvSpPr/>
          <p:nvPr/>
        </p:nvSpPr>
        <p:spPr>
          <a:xfrm>
            <a:off x="9245600" y="3492500"/>
            <a:ext cx="533400" cy="292100"/>
          </a:xfrm>
          <a:prstGeom prst="roundRect">
            <a:avLst/>
          </a:prstGeom>
          <a:solidFill>
            <a:srgbClr val="94A3B8"/>
          </a:solidFill>
          <a:ln w="12700">
            <a:solidFill>
              <a:srgbClr val="94A3B8"/>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50" b="1">
                <a:solidFill>
                  <a:srgbClr val="FFFFFF"/>
                </a:solidFill>
                <a:latin typeface="Aptos" panose="020B0004020202020204" pitchFamily="34" charset="0"/>
              </a:rPr>
              <a:t>10</a:t>
            </a:r>
          </a:p>
        </p:txBody>
      </p:sp>
      <p:sp>
        <p:nvSpPr>
          <p:cNvPr id="80" name="CasellaDiTesto 79">
            <a:extLst>
              <a:ext uri="{FF2B5EF4-FFF2-40B4-BE49-F238E27FC236}">
                <a16:creationId xmlns:a16="http://schemas.microsoft.com/office/drawing/2014/main" id="{99244E70-B3F5-AB2C-226F-89A26E36F0B6}"/>
              </a:ext>
            </a:extLst>
          </p:cNvPr>
          <p:cNvSpPr txBox="1"/>
          <p:nvPr/>
        </p:nvSpPr>
        <p:spPr>
          <a:xfrm>
            <a:off x="10236200" y="1422400"/>
            <a:ext cx="11430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DECISIONE</a:t>
            </a:r>
          </a:p>
        </p:txBody>
      </p:sp>
      <p:sp>
        <p:nvSpPr>
          <p:cNvPr id="81" name="Rettangolo con angoli arrotondati 80">
            <a:extLst>
              <a:ext uri="{FF2B5EF4-FFF2-40B4-BE49-F238E27FC236}">
                <a16:creationId xmlns:a16="http://schemas.microsoft.com/office/drawing/2014/main" id="{7507BF66-CEFF-E64B-F974-110DD497D12E}"/>
              </a:ext>
            </a:extLst>
          </p:cNvPr>
          <p:cNvSpPr/>
          <p:nvPr/>
        </p:nvSpPr>
        <p:spPr>
          <a:xfrm>
            <a:off x="10236200" y="1816100"/>
            <a:ext cx="1143000" cy="482600"/>
          </a:xfrm>
          <a:prstGeom prst="roundRect">
            <a:avLst/>
          </a:prstGeom>
          <a:solidFill>
            <a:srgbClr val="059669"/>
          </a:solidFill>
          <a:ln w="127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VERY HIGH
90-100</a:t>
            </a:r>
          </a:p>
        </p:txBody>
      </p:sp>
      <p:sp>
        <p:nvSpPr>
          <p:cNvPr id="82" name="Rettangolo con angoli arrotondati 81">
            <a:extLst>
              <a:ext uri="{FF2B5EF4-FFF2-40B4-BE49-F238E27FC236}">
                <a16:creationId xmlns:a16="http://schemas.microsoft.com/office/drawing/2014/main" id="{C2075D93-0DA8-1FB9-78DD-41CB5C8D4DB5}"/>
              </a:ext>
            </a:extLst>
          </p:cNvPr>
          <p:cNvSpPr/>
          <p:nvPr/>
        </p:nvSpPr>
        <p:spPr>
          <a:xfrm>
            <a:off x="10236200" y="2374900"/>
            <a:ext cx="1143000" cy="4826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HIGH
75-89</a:t>
            </a:r>
          </a:p>
        </p:txBody>
      </p:sp>
      <p:sp>
        <p:nvSpPr>
          <p:cNvPr id="83" name="Rettangolo con angoli arrotondati 82">
            <a:extLst>
              <a:ext uri="{FF2B5EF4-FFF2-40B4-BE49-F238E27FC236}">
                <a16:creationId xmlns:a16="http://schemas.microsoft.com/office/drawing/2014/main" id="{25DEF823-43BF-7280-B026-D21A290D9EFA}"/>
              </a:ext>
            </a:extLst>
          </p:cNvPr>
          <p:cNvSpPr/>
          <p:nvPr/>
        </p:nvSpPr>
        <p:spPr>
          <a:xfrm>
            <a:off x="10236200" y="2933700"/>
            <a:ext cx="1143000" cy="482600"/>
          </a:xfrm>
          <a:prstGeom prst="roundRect">
            <a:avLst/>
          </a:prstGeom>
          <a:solidFill>
            <a:srgbClr val="F59E0B"/>
          </a:solidFill>
          <a:ln w="12700">
            <a:solidFill>
              <a:srgbClr val="F59E0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MEDIUM
55-74</a:t>
            </a:r>
          </a:p>
        </p:txBody>
      </p:sp>
      <p:sp>
        <p:nvSpPr>
          <p:cNvPr id="84" name="Rettangolo con angoli arrotondati 83">
            <a:extLst>
              <a:ext uri="{FF2B5EF4-FFF2-40B4-BE49-F238E27FC236}">
                <a16:creationId xmlns:a16="http://schemas.microsoft.com/office/drawing/2014/main" id="{7467B821-140F-DC89-1FD4-76B49FA31738}"/>
              </a:ext>
            </a:extLst>
          </p:cNvPr>
          <p:cNvSpPr/>
          <p:nvPr/>
        </p:nvSpPr>
        <p:spPr>
          <a:xfrm>
            <a:off x="10236200" y="3492500"/>
            <a:ext cx="1143000" cy="482600"/>
          </a:xfrm>
          <a:prstGeom prst="roundRect">
            <a:avLst/>
          </a:prstGeom>
          <a:solidFill>
            <a:srgbClr val="EF4444"/>
          </a:solidFill>
          <a:ln w="12700">
            <a:solidFill>
              <a:srgbClr val="EF4444"/>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30" b="1">
                <a:solidFill>
                  <a:srgbClr val="FFFFFF"/>
                </a:solidFill>
                <a:latin typeface="Aptos" panose="020B0004020202020204" pitchFamily="34" charset="0"/>
              </a:rPr>
              <a:t>LOW
0-54</a:t>
            </a:r>
          </a:p>
        </p:txBody>
      </p:sp>
      <p:sp>
        <p:nvSpPr>
          <p:cNvPr id="85" name="Rettangolo con angoli arrotondati 84">
            <a:extLst>
              <a:ext uri="{FF2B5EF4-FFF2-40B4-BE49-F238E27FC236}">
                <a16:creationId xmlns:a16="http://schemas.microsoft.com/office/drawing/2014/main" id="{E8CD6492-72B5-53D7-8BBD-73E0B4182B29}"/>
              </a:ext>
            </a:extLst>
          </p:cNvPr>
          <p:cNvSpPr/>
          <p:nvPr/>
        </p:nvSpPr>
        <p:spPr>
          <a:xfrm>
            <a:off x="5791200" y="4191000"/>
            <a:ext cx="5588000" cy="1219200"/>
          </a:xfrm>
          <a:prstGeom prst="roundRect">
            <a:avLst/>
          </a:prstGeom>
          <a:solidFill>
            <a:srgbClr val="ECFDF5"/>
          </a:solidFill>
          <a:ln w="12700">
            <a:solidFill>
              <a:srgbClr val="BBF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CasellaDiTesto 85">
            <a:extLst>
              <a:ext uri="{FF2B5EF4-FFF2-40B4-BE49-F238E27FC236}">
                <a16:creationId xmlns:a16="http://schemas.microsoft.com/office/drawing/2014/main" id="{27E40868-D8E0-EC26-0A83-FDA5948CADD3}"/>
              </a:ext>
            </a:extLst>
          </p:cNvPr>
          <p:cNvSpPr txBox="1"/>
          <p:nvPr/>
        </p:nvSpPr>
        <p:spPr>
          <a:xfrm>
            <a:off x="6019800" y="4368800"/>
            <a:ext cx="4953000" cy="215900"/>
          </a:xfrm>
          <a:prstGeom prst="rect">
            <a:avLst/>
          </a:prstGeom>
          <a:noFill/>
        </p:spPr>
        <p:txBody>
          <a:bodyPr vert="horz" wrap="square" lIns="0" tIns="0" rIns="0" bIns="0" rtlCol="0" anchor="t">
            <a:noAutofit/>
          </a:bodyPr>
          <a:lstStyle/>
          <a:p>
            <a:r>
              <a:rPr lang="it-IT" sz="1070" b="1">
                <a:solidFill>
                  <a:srgbClr val="059669"/>
                </a:solidFill>
                <a:latin typeface="Aptos" panose="020B0004020202020204" pitchFamily="34" charset="0"/>
              </a:rPr>
              <a:t>SECONDO JUDGE: QUALITÀ DIAGNOSTICA /21</a:t>
            </a:r>
          </a:p>
        </p:txBody>
      </p:sp>
      <p:sp>
        <p:nvSpPr>
          <p:cNvPr id="87" name="CasellaDiTesto 86">
            <a:extLst>
              <a:ext uri="{FF2B5EF4-FFF2-40B4-BE49-F238E27FC236}">
                <a16:creationId xmlns:a16="http://schemas.microsoft.com/office/drawing/2014/main" id="{BF1EF444-1C26-0AE5-D488-CB6D6883D512}"/>
              </a:ext>
            </a:extLst>
          </p:cNvPr>
          <p:cNvSpPr txBox="1"/>
          <p:nvPr/>
        </p:nvSpPr>
        <p:spPr>
          <a:xfrm>
            <a:off x="6019800" y="4686300"/>
            <a:ext cx="5118100" cy="393700"/>
          </a:xfrm>
          <a:prstGeom prst="rect">
            <a:avLst/>
          </a:prstGeom>
          <a:noFill/>
        </p:spPr>
        <p:txBody>
          <a:bodyPr vert="horz" wrap="square" lIns="0" tIns="0" rIns="0" bIns="0" rtlCol="0" anchor="t">
            <a:noAutofit/>
          </a:bodyPr>
          <a:lstStyle/>
          <a:p>
            <a:r>
              <a:rPr lang="it-IT" sz="1010">
                <a:solidFill>
                  <a:srgbClr val="334155"/>
                </a:solidFill>
                <a:latin typeface="Aptos" panose="020B0004020202020204" pitchFamily="34" charset="0"/>
              </a:rPr>
              <a:t>7 criteri × 0-3: comprensione · datasheet · uso input · accuratezza
priorità · controlli pratici · assenza di allucinazioni</a:t>
            </a:r>
          </a:p>
        </p:txBody>
      </p:sp>
      <p:sp>
        <p:nvSpPr>
          <p:cNvPr id="88" name="CasellaDiTesto 87">
            <a:extLst>
              <a:ext uri="{FF2B5EF4-FFF2-40B4-BE49-F238E27FC236}">
                <a16:creationId xmlns:a16="http://schemas.microsoft.com/office/drawing/2014/main" id="{EF989573-9C93-C4B8-13DB-E710DBBEB336}"/>
              </a:ext>
            </a:extLst>
          </p:cNvPr>
          <p:cNvSpPr txBox="1"/>
          <p:nvPr/>
        </p:nvSpPr>
        <p:spPr>
          <a:xfrm>
            <a:off x="6019800" y="5156200"/>
            <a:ext cx="5118100" cy="177800"/>
          </a:xfrm>
          <a:prstGeom prst="rect">
            <a:avLst/>
          </a:prstGeom>
          <a:noFill/>
        </p:spPr>
        <p:txBody>
          <a:bodyPr vert="horz" wrap="square" lIns="0" tIns="0" rIns="0" bIns="0" rtlCol="0" anchor="t">
            <a:noAutofit/>
          </a:bodyPr>
          <a:lstStyle/>
          <a:p>
            <a:r>
              <a:rPr lang="it-IT" sz="940" b="1">
                <a:solidFill>
                  <a:srgbClr val="334155"/>
                </a:solidFill>
                <a:latin typeface="Aptos" panose="020B0004020202020204" pitchFamily="34" charset="0"/>
              </a:rPr>
              <a:t>Output: score, verdetto, Top-1/Top-3, errori gravi e allucinazioni.</a:t>
            </a:r>
          </a:p>
        </p:txBody>
      </p:sp>
      <p:sp>
        <p:nvSpPr>
          <p:cNvPr id="89" name="Rettangolo con angoli arrotondati 88">
            <a:extLst>
              <a:ext uri="{FF2B5EF4-FFF2-40B4-BE49-F238E27FC236}">
                <a16:creationId xmlns:a16="http://schemas.microsoft.com/office/drawing/2014/main" id="{85593C6E-54AC-E56D-F7F5-C4449342862B}"/>
              </a:ext>
            </a:extLst>
          </p:cNvPr>
          <p:cNvSpPr/>
          <p:nvPr/>
        </p:nvSpPr>
        <p:spPr>
          <a:xfrm>
            <a:off x="698500" y="5613400"/>
            <a:ext cx="10680700" cy="495300"/>
          </a:xfrm>
          <a:prstGeom prst="roundRect">
            <a:avLst/>
          </a:prstGeom>
          <a:solidFill>
            <a:srgbClr val="FFFFFF"/>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0" name="Rettangolo con angoli arrotondati 89">
            <a:extLst>
              <a:ext uri="{FF2B5EF4-FFF2-40B4-BE49-F238E27FC236}">
                <a16:creationId xmlns:a16="http://schemas.microsoft.com/office/drawing/2014/main" id="{B7398A19-3BFF-BE92-5E2A-58F88B97BE5D}"/>
              </a:ext>
            </a:extLst>
          </p:cNvPr>
          <p:cNvSpPr/>
          <p:nvPr/>
        </p:nvSpPr>
        <p:spPr>
          <a:xfrm>
            <a:off x="927100" y="5715000"/>
            <a:ext cx="1155700" cy="2921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JSON judge</a:t>
            </a:r>
          </a:p>
        </p:txBody>
      </p:sp>
      <p:cxnSp>
        <p:nvCxnSpPr>
          <p:cNvPr id="91" name="Connettore diritto 90">
            <a:extLst>
              <a:ext uri="{FF2B5EF4-FFF2-40B4-BE49-F238E27FC236}">
                <a16:creationId xmlns:a16="http://schemas.microsoft.com/office/drawing/2014/main" id="{5DCA9563-1656-C79F-E160-F47440841977}"/>
              </a:ext>
            </a:extLst>
          </p:cNvPr>
          <p:cNvCxnSpPr/>
          <p:nvPr/>
        </p:nvCxnSpPr>
        <p:spPr>
          <a:xfrm>
            <a:off x="2209800" y="5867400"/>
            <a:ext cx="4191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92" name="Rettangolo con angoli arrotondati 91">
            <a:extLst>
              <a:ext uri="{FF2B5EF4-FFF2-40B4-BE49-F238E27FC236}">
                <a16:creationId xmlns:a16="http://schemas.microsoft.com/office/drawing/2014/main" id="{41C8CA90-EB74-1544-1109-B0BE5A17768E}"/>
              </a:ext>
            </a:extLst>
          </p:cNvPr>
          <p:cNvSpPr/>
          <p:nvPr/>
        </p:nvSpPr>
        <p:spPr>
          <a:xfrm>
            <a:off x="2743200" y="5715000"/>
            <a:ext cx="1257300" cy="2921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CSV + report</a:t>
            </a:r>
          </a:p>
        </p:txBody>
      </p:sp>
      <p:cxnSp>
        <p:nvCxnSpPr>
          <p:cNvPr id="93" name="Connettore diritto 92">
            <a:extLst>
              <a:ext uri="{FF2B5EF4-FFF2-40B4-BE49-F238E27FC236}">
                <a16:creationId xmlns:a16="http://schemas.microsoft.com/office/drawing/2014/main" id="{C49F5665-9F40-4321-5AF0-64521BD9AA13}"/>
              </a:ext>
            </a:extLst>
          </p:cNvPr>
          <p:cNvCxnSpPr/>
          <p:nvPr/>
        </p:nvCxnSpPr>
        <p:spPr>
          <a:xfrm>
            <a:off x="4127500" y="5867400"/>
            <a:ext cx="4191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94" name="Rettangolo con angoli arrotondati 93">
            <a:extLst>
              <a:ext uri="{FF2B5EF4-FFF2-40B4-BE49-F238E27FC236}">
                <a16:creationId xmlns:a16="http://schemas.microsoft.com/office/drawing/2014/main" id="{1723E939-51D1-0B9F-5C2E-B394D182C7F9}"/>
              </a:ext>
            </a:extLst>
          </p:cNvPr>
          <p:cNvSpPr/>
          <p:nvPr/>
        </p:nvSpPr>
        <p:spPr>
          <a:xfrm>
            <a:off x="4660900" y="5715000"/>
            <a:ext cx="1320800" cy="2921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Aggregazioni</a:t>
            </a:r>
          </a:p>
        </p:txBody>
      </p:sp>
      <p:cxnSp>
        <p:nvCxnSpPr>
          <p:cNvPr id="95" name="Connettore diritto 94">
            <a:extLst>
              <a:ext uri="{FF2B5EF4-FFF2-40B4-BE49-F238E27FC236}">
                <a16:creationId xmlns:a16="http://schemas.microsoft.com/office/drawing/2014/main" id="{862543F2-219F-F296-BAEF-DD8CB2D2F398}"/>
              </a:ext>
            </a:extLst>
          </p:cNvPr>
          <p:cNvCxnSpPr/>
          <p:nvPr/>
        </p:nvCxnSpPr>
        <p:spPr>
          <a:xfrm>
            <a:off x="6108700" y="5867400"/>
            <a:ext cx="419100" cy="0"/>
          </a:xfrm>
          <a:prstGeom prst="line">
            <a:avLst/>
          </a:prstGeom>
          <a:ln w="19050">
            <a:solidFill>
              <a:srgbClr val="94A3B8"/>
            </a:solidFill>
            <a:tailEnd type="arrow"/>
          </a:ln>
        </p:spPr>
        <p:style>
          <a:lnRef idx="1">
            <a:schemeClr val="accent1"/>
          </a:lnRef>
          <a:fillRef idx="0">
            <a:schemeClr val="accent1"/>
          </a:fillRef>
          <a:effectRef idx="0">
            <a:schemeClr val="accent1"/>
          </a:effectRef>
          <a:fontRef idx="minor">
            <a:schemeClr val="tx1"/>
          </a:fontRef>
        </p:style>
      </p:cxnSp>
      <p:sp>
        <p:nvSpPr>
          <p:cNvPr id="96" name="Rettangolo con angoli arrotondati 95">
            <a:extLst>
              <a:ext uri="{FF2B5EF4-FFF2-40B4-BE49-F238E27FC236}">
                <a16:creationId xmlns:a16="http://schemas.microsoft.com/office/drawing/2014/main" id="{705FE333-2AF1-6B96-9329-B71CCA92ACF2}"/>
              </a:ext>
            </a:extLst>
          </p:cNvPr>
          <p:cNvSpPr/>
          <p:nvPr/>
        </p:nvSpPr>
        <p:spPr>
          <a:xfrm>
            <a:off x="6642100" y="5715000"/>
            <a:ext cx="1003300" cy="2921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50" b="1">
                <a:solidFill>
                  <a:srgbClr val="FFFFFF"/>
                </a:solidFill>
                <a:latin typeface="Aptos" panose="020B0004020202020204" pitchFamily="34" charset="0"/>
              </a:rPr>
              <a:t>Grafici</a:t>
            </a:r>
          </a:p>
        </p:txBody>
      </p:sp>
      <p:sp>
        <p:nvSpPr>
          <p:cNvPr id="97" name="CasellaDiTesto 96">
            <a:extLst>
              <a:ext uri="{FF2B5EF4-FFF2-40B4-BE49-F238E27FC236}">
                <a16:creationId xmlns:a16="http://schemas.microsoft.com/office/drawing/2014/main" id="{D92CE048-ECCF-3850-2C1A-FF6644BE499E}"/>
              </a:ext>
            </a:extLst>
          </p:cNvPr>
          <p:cNvSpPr txBox="1"/>
          <p:nvPr/>
        </p:nvSpPr>
        <p:spPr>
          <a:xfrm>
            <a:off x="8001000" y="5765800"/>
            <a:ext cx="3149600" cy="215900"/>
          </a:xfrm>
          <a:prstGeom prst="rect">
            <a:avLst/>
          </a:prstGeom>
          <a:noFill/>
        </p:spPr>
        <p:txBody>
          <a:bodyPr vert="horz" wrap="square" lIns="0" tIns="0" rIns="0" bIns="0" rtlCol="0" anchor="t">
            <a:noAutofit/>
          </a:bodyPr>
          <a:lstStyle/>
          <a:p>
            <a:r>
              <a:rPr lang="it-IT" sz="950" b="1">
                <a:solidFill>
                  <a:srgbClr val="64748B"/>
                </a:solidFill>
                <a:latin typeface="Aptos" panose="020B0004020202020204" pitchFamily="34" charset="0"/>
              </a:rPr>
              <a:t>Critici / maggiori / minori · usable_as_graph_base</a:t>
            </a:r>
          </a:p>
        </p:txBody>
      </p:sp>
    </p:spTree>
    <p:extLst>
      <p:ext uri="{BB962C8B-B14F-4D97-AF65-F5344CB8AC3E}">
        <p14:creationId xmlns:p14="http://schemas.microsoft.com/office/powerpoint/2010/main" val="180498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pic>
        <p:nvPicPr>
          <p:cNvPr id="52" name="Picture 5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Pipeline 1.0: dall’immagine al Graph JSON</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Object detection, terminali e collegamenti elettrici</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07</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13232" y="1371600"/>
            <a:ext cx="22860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CATENA TECNICA 01–06</a:t>
            </a:r>
            <a:endParaRPr lang="en-US" sz="1200" dirty="0"/>
          </a:p>
        </p:txBody>
      </p:sp>
      <p:sp>
        <p:nvSpPr>
          <p:cNvPr id="9" name="Shape 7"/>
          <p:cNvSpPr/>
          <p:nvPr/>
        </p:nvSpPr>
        <p:spPr>
          <a:xfrm>
            <a:off x="685800" y="1764792"/>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10" name="Text 8"/>
          <p:cNvSpPr/>
          <p:nvPr/>
        </p:nvSpPr>
        <p:spPr>
          <a:xfrm>
            <a:off x="758952" y="1865376"/>
            <a:ext cx="274320" cy="146304"/>
          </a:xfrm>
          <a:prstGeom prst="rect">
            <a:avLst/>
          </a:prstGeom>
          <a:noFill/>
          <a:ln/>
        </p:spPr>
        <p:txBody>
          <a:bodyPr wrap="square" lIns="0" tIns="0" rIns="0" bIns="0" rtlCol="0" anchor="ctr"/>
          <a:lstStyle/>
          <a:p>
            <a:pPr marL="0" indent="0">
              <a:buNone/>
            </a:pPr>
            <a:r>
              <a:rPr lang="en-US" sz="1200" b="1" dirty="0">
                <a:solidFill>
                  <a:srgbClr val="059669"/>
                </a:solidFill>
              </a:rPr>
              <a:t>01</a:t>
            </a:r>
            <a:endParaRPr lang="en-US" sz="1200" dirty="0"/>
          </a:p>
        </p:txBody>
      </p:sp>
      <p:sp>
        <p:nvSpPr>
          <p:cNvPr id="11" name="Text 9"/>
          <p:cNvSpPr/>
          <p:nvPr/>
        </p:nvSpPr>
        <p:spPr>
          <a:xfrm>
            <a:off x="1069848" y="1847088"/>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detect</a:t>
            </a:r>
            <a:endParaRPr lang="en-US" sz="1200" dirty="0"/>
          </a:p>
        </p:txBody>
      </p:sp>
      <p:sp>
        <p:nvSpPr>
          <p:cNvPr id="12" name="Text 10"/>
          <p:cNvSpPr/>
          <p:nvPr/>
        </p:nvSpPr>
        <p:spPr>
          <a:xfrm>
            <a:off x="1069848" y="2039112"/>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01_detect_components</a:t>
            </a:r>
            <a:endParaRPr lang="en-US" sz="700" dirty="0"/>
          </a:p>
        </p:txBody>
      </p:sp>
      <p:sp>
        <p:nvSpPr>
          <p:cNvPr id="13" name="Shape 11"/>
          <p:cNvSpPr/>
          <p:nvPr/>
        </p:nvSpPr>
        <p:spPr>
          <a:xfrm>
            <a:off x="2331720" y="2020824"/>
            <a:ext cx="155448" cy="0"/>
          </a:xfrm>
          <a:prstGeom prst="line">
            <a:avLst/>
          </a:prstGeom>
          <a:noFill/>
          <a:ln w="12700">
            <a:solidFill>
              <a:srgbClr val="CBD5E1"/>
            </a:solidFill>
            <a:prstDash val="solid"/>
            <a:tailEnd type="triangle"/>
          </a:ln>
        </p:spPr>
        <p:txBody>
          <a:bodyPr/>
          <a:lstStyle/>
          <a:p>
            <a:endParaRPr lang="it-IT"/>
          </a:p>
        </p:txBody>
      </p:sp>
      <p:sp>
        <p:nvSpPr>
          <p:cNvPr id="14" name="Shape 12"/>
          <p:cNvSpPr/>
          <p:nvPr/>
        </p:nvSpPr>
        <p:spPr>
          <a:xfrm>
            <a:off x="2560320" y="1764792"/>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15" name="Text 13"/>
          <p:cNvSpPr/>
          <p:nvPr/>
        </p:nvSpPr>
        <p:spPr>
          <a:xfrm>
            <a:off x="2633472" y="1865376"/>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02</a:t>
            </a:r>
            <a:endParaRPr lang="en-US" sz="800" dirty="0"/>
          </a:p>
        </p:txBody>
      </p:sp>
      <p:sp>
        <p:nvSpPr>
          <p:cNvPr id="16" name="Text 14"/>
          <p:cNvSpPr/>
          <p:nvPr/>
        </p:nvSpPr>
        <p:spPr>
          <a:xfrm>
            <a:off x="2944368" y="1847088"/>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instances</a:t>
            </a:r>
            <a:endParaRPr lang="en-US" sz="1200" dirty="0"/>
          </a:p>
        </p:txBody>
      </p:sp>
      <p:sp>
        <p:nvSpPr>
          <p:cNvPr id="17" name="Text 15"/>
          <p:cNvSpPr/>
          <p:nvPr/>
        </p:nvSpPr>
        <p:spPr>
          <a:xfrm>
            <a:off x="2944368" y="2039112"/>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02_assign_instances</a:t>
            </a:r>
            <a:endParaRPr lang="en-US" sz="700" dirty="0"/>
          </a:p>
        </p:txBody>
      </p:sp>
      <p:sp>
        <p:nvSpPr>
          <p:cNvPr id="18" name="Shape 16"/>
          <p:cNvSpPr/>
          <p:nvPr/>
        </p:nvSpPr>
        <p:spPr>
          <a:xfrm>
            <a:off x="4206240" y="2020824"/>
            <a:ext cx="155448" cy="0"/>
          </a:xfrm>
          <a:prstGeom prst="line">
            <a:avLst/>
          </a:prstGeom>
          <a:noFill/>
          <a:ln w="12700">
            <a:solidFill>
              <a:srgbClr val="CBD5E1"/>
            </a:solidFill>
            <a:prstDash val="solid"/>
            <a:tailEnd type="triangle"/>
          </a:ln>
        </p:spPr>
        <p:txBody>
          <a:bodyPr/>
          <a:lstStyle/>
          <a:p>
            <a:endParaRPr lang="it-IT"/>
          </a:p>
        </p:txBody>
      </p:sp>
      <p:sp>
        <p:nvSpPr>
          <p:cNvPr id="19" name="Shape 17"/>
          <p:cNvSpPr/>
          <p:nvPr/>
        </p:nvSpPr>
        <p:spPr>
          <a:xfrm>
            <a:off x="4434840" y="1764792"/>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20" name="Text 18"/>
          <p:cNvSpPr/>
          <p:nvPr/>
        </p:nvSpPr>
        <p:spPr>
          <a:xfrm>
            <a:off x="4507992" y="1865376"/>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03</a:t>
            </a:r>
            <a:endParaRPr lang="en-US" sz="800" dirty="0"/>
          </a:p>
        </p:txBody>
      </p:sp>
      <p:sp>
        <p:nvSpPr>
          <p:cNvPr id="21" name="Text 19"/>
          <p:cNvSpPr/>
          <p:nvPr/>
        </p:nvSpPr>
        <p:spPr>
          <a:xfrm>
            <a:off x="4818888" y="1847088"/>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terminals</a:t>
            </a:r>
            <a:endParaRPr lang="en-US" sz="1200" dirty="0"/>
          </a:p>
        </p:txBody>
      </p:sp>
      <p:sp>
        <p:nvSpPr>
          <p:cNvPr id="22" name="Text 20"/>
          <p:cNvSpPr/>
          <p:nvPr/>
        </p:nvSpPr>
        <p:spPr>
          <a:xfrm>
            <a:off x="4818888" y="2039112"/>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03_estimate_terminals</a:t>
            </a:r>
            <a:endParaRPr lang="en-US" sz="700" dirty="0"/>
          </a:p>
        </p:txBody>
      </p:sp>
      <p:sp>
        <p:nvSpPr>
          <p:cNvPr id="23" name="Shape 21"/>
          <p:cNvSpPr/>
          <p:nvPr/>
        </p:nvSpPr>
        <p:spPr>
          <a:xfrm>
            <a:off x="685800" y="2551176"/>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24" name="Text 22"/>
          <p:cNvSpPr/>
          <p:nvPr/>
        </p:nvSpPr>
        <p:spPr>
          <a:xfrm>
            <a:off x="758952" y="2651760"/>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04</a:t>
            </a:r>
            <a:endParaRPr lang="en-US" sz="800" dirty="0"/>
          </a:p>
        </p:txBody>
      </p:sp>
      <p:sp>
        <p:nvSpPr>
          <p:cNvPr id="25" name="Text 23"/>
          <p:cNvSpPr/>
          <p:nvPr/>
        </p:nvSpPr>
        <p:spPr>
          <a:xfrm>
            <a:off x="1069848" y="2633472"/>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wires</a:t>
            </a:r>
            <a:endParaRPr lang="en-US" sz="1200" dirty="0"/>
          </a:p>
        </p:txBody>
      </p:sp>
      <p:sp>
        <p:nvSpPr>
          <p:cNvPr id="26" name="Text 24"/>
          <p:cNvSpPr/>
          <p:nvPr/>
        </p:nvSpPr>
        <p:spPr>
          <a:xfrm>
            <a:off x="1069848" y="2825496"/>
            <a:ext cx="1152144" cy="109728"/>
          </a:xfrm>
          <a:prstGeom prst="rect">
            <a:avLst/>
          </a:prstGeom>
          <a:noFill/>
          <a:ln/>
        </p:spPr>
        <p:txBody>
          <a:bodyPr wrap="square" lIns="0" tIns="0" rIns="0" bIns="0" rtlCol="0" anchor="ctr">
            <a:normAutofit/>
          </a:bodyPr>
          <a:lstStyle/>
          <a:p>
            <a:pPr marL="0" indent="0">
              <a:buNone/>
            </a:pPr>
            <a:r>
              <a:rPr lang="en-US" sz="700" dirty="0">
                <a:solidFill>
                  <a:srgbClr val="64748B"/>
                </a:solidFill>
                <a:latin typeface="Courier New" pitchFamily="34" charset="0"/>
                <a:ea typeface="Courier New" pitchFamily="34" charset="-122"/>
                <a:cs typeface="Courier New" pitchFamily="34" charset="-120"/>
              </a:rPr>
              <a:t>04_extract_wires</a:t>
            </a:r>
            <a:endParaRPr lang="en-US" sz="700" dirty="0"/>
          </a:p>
        </p:txBody>
      </p:sp>
      <p:sp>
        <p:nvSpPr>
          <p:cNvPr id="27" name="Shape 25"/>
          <p:cNvSpPr/>
          <p:nvPr/>
        </p:nvSpPr>
        <p:spPr>
          <a:xfrm>
            <a:off x="2331720" y="2807208"/>
            <a:ext cx="155448" cy="0"/>
          </a:xfrm>
          <a:prstGeom prst="line">
            <a:avLst/>
          </a:prstGeom>
          <a:noFill/>
          <a:ln w="12700">
            <a:solidFill>
              <a:srgbClr val="CBD5E1"/>
            </a:solidFill>
            <a:prstDash val="solid"/>
            <a:tailEnd type="triangle"/>
          </a:ln>
        </p:spPr>
        <p:txBody>
          <a:bodyPr/>
          <a:lstStyle/>
          <a:p>
            <a:endParaRPr lang="it-IT"/>
          </a:p>
        </p:txBody>
      </p:sp>
      <p:sp>
        <p:nvSpPr>
          <p:cNvPr id="28" name="Shape 26"/>
          <p:cNvSpPr/>
          <p:nvPr/>
        </p:nvSpPr>
        <p:spPr>
          <a:xfrm>
            <a:off x="2560320" y="2551176"/>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29" name="Text 27"/>
          <p:cNvSpPr/>
          <p:nvPr/>
        </p:nvSpPr>
        <p:spPr>
          <a:xfrm>
            <a:off x="2633472" y="2651760"/>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05</a:t>
            </a:r>
            <a:endParaRPr lang="en-US" sz="800" dirty="0"/>
          </a:p>
        </p:txBody>
      </p:sp>
      <p:sp>
        <p:nvSpPr>
          <p:cNvPr id="30" name="Text 28"/>
          <p:cNvSpPr/>
          <p:nvPr/>
        </p:nvSpPr>
        <p:spPr>
          <a:xfrm>
            <a:off x="2944368" y="2633472"/>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graph</a:t>
            </a:r>
            <a:endParaRPr lang="en-US" sz="1200" dirty="0"/>
          </a:p>
        </p:txBody>
      </p:sp>
      <p:sp>
        <p:nvSpPr>
          <p:cNvPr id="31" name="Text 29"/>
          <p:cNvSpPr/>
          <p:nvPr/>
        </p:nvSpPr>
        <p:spPr>
          <a:xfrm>
            <a:off x="2944368" y="2825496"/>
            <a:ext cx="1152144" cy="109728"/>
          </a:xfrm>
          <a:prstGeom prst="rect">
            <a:avLst/>
          </a:prstGeom>
          <a:noFill/>
          <a:ln/>
        </p:spPr>
        <p:txBody>
          <a:bodyPr wrap="square" lIns="0" tIns="0" rIns="0" bIns="0" rtlCol="0" anchor="ctr">
            <a:normAutofit/>
          </a:bodyPr>
          <a:lstStyle/>
          <a:p>
            <a:pPr marL="0" indent="0">
              <a:buNone/>
            </a:pPr>
            <a:r>
              <a:rPr lang="en-US" sz="630" dirty="0">
                <a:solidFill>
                  <a:srgbClr val="64748B"/>
                </a:solidFill>
                <a:latin typeface="Courier New" pitchFamily="34" charset="0"/>
                <a:ea typeface="Courier New" pitchFamily="34" charset="-122"/>
                <a:cs typeface="Courier New" pitchFamily="34" charset="-120"/>
              </a:rPr>
              <a:t>05_build_terminal_graph</a:t>
            </a:r>
            <a:endParaRPr lang="en-US" sz="630" dirty="0"/>
          </a:p>
        </p:txBody>
      </p:sp>
      <p:sp>
        <p:nvSpPr>
          <p:cNvPr id="32" name="Shape 30"/>
          <p:cNvSpPr/>
          <p:nvPr/>
        </p:nvSpPr>
        <p:spPr>
          <a:xfrm>
            <a:off x="4206240" y="2807208"/>
            <a:ext cx="155448" cy="0"/>
          </a:xfrm>
          <a:prstGeom prst="line">
            <a:avLst/>
          </a:prstGeom>
          <a:noFill/>
          <a:ln w="12700">
            <a:solidFill>
              <a:srgbClr val="CBD5E1"/>
            </a:solidFill>
            <a:prstDash val="solid"/>
            <a:tailEnd type="triangle"/>
          </a:ln>
        </p:spPr>
        <p:txBody>
          <a:bodyPr/>
          <a:lstStyle/>
          <a:p>
            <a:endParaRPr lang="it-IT"/>
          </a:p>
        </p:txBody>
      </p:sp>
      <p:sp>
        <p:nvSpPr>
          <p:cNvPr id="33" name="Shape 31"/>
          <p:cNvSpPr/>
          <p:nvPr/>
        </p:nvSpPr>
        <p:spPr>
          <a:xfrm>
            <a:off x="4434840" y="2551176"/>
            <a:ext cx="1609344" cy="502920"/>
          </a:xfrm>
          <a:prstGeom prst="roundRect">
            <a:avLst>
              <a:gd name="adj" fmla="val 10909"/>
            </a:avLst>
          </a:prstGeom>
          <a:solidFill>
            <a:srgbClr val="FFFFFF"/>
          </a:solidFill>
          <a:ln w="12700">
            <a:solidFill>
              <a:srgbClr val="CBD5E1"/>
            </a:solidFill>
            <a:prstDash val="solid"/>
          </a:ln>
        </p:spPr>
        <p:txBody>
          <a:bodyPr/>
          <a:lstStyle/>
          <a:p>
            <a:endParaRPr lang="it-IT"/>
          </a:p>
        </p:txBody>
      </p:sp>
      <p:sp>
        <p:nvSpPr>
          <p:cNvPr id="34" name="Text 32"/>
          <p:cNvSpPr/>
          <p:nvPr/>
        </p:nvSpPr>
        <p:spPr>
          <a:xfrm>
            <a:off x="4507992" y="2651760"/>
            <a:ext cx="274320" cy="146304"/>
          </a:xfrm>
          <a:prstGeom prst="rect">
            <a:avLst/>
          </a:prstGeom>
          <a:noFill/>
          <a:ln/>
        </p:spPr>
        <p:txBody>
          <a:bodyPr wrap="square" lIns="0" tIns="0" rIns="0" bIns="0" rtlCol="0" anchor="ctr"/>
          <a:lstStyle/>
          <a:p>
            <a:pPr marL="0" indent="0">
              <a:buNone/>
            </a:pPr>
            <a:r>
              <a:rPr lang="en-US" sz="800" b="1" dirty="0">
                <a:solidFill>
                  <a:srgbClr val="059669"/>
                </a:solidFill>
              </a:rPr>
              <a:t>06</a:t>
            </a:r>
            <a:endParaRPr lang="en-US" sz="800" dirty="0"/>
          </a:p>
        </p:txBody>
      </p:sp>
      <p:sp>
        <p:nvSpPr>
          <p:cNvPr id="35" name="Text 33"/>
          <p:cNvSpPr/>
          <p:nvPr/>
        </p:nvSpPr>
        <p:spPr>
          <a:xfrm>
            <a:off x="4818888" y="2633472"/>
            <a:ext cx="1152144" cy="146304"/>
          </a:xfrm>
          <a:prstGeom prst="rect">
            <a:avLst/>
          </a:prstGeom>
          <a:noFill/>
          <a:ln/>
        </p:spPr>
        <p:txBody>
          <a:bodyPr wrap="square" lIns="0" tIns="0" rIns="0" bIns="0" rtlCol="0" anchor="ctr">
            <a:noAutofit/>
          </a:bodyPr>
          <a:lstStyle/>
          <a:p>
            <a:pPr marL="0" indent="0">
              <a:buNone/>
            </a:pPr>
            <a:r>
              <a:rPr lang="en-US" sz="1200" b="1" dirty="0">
                <a:solidFill>
                  <a:srgbClr val="0B1320"/>
                </a:solidFill>
              </a:rPr>
              <a:t>report</a:t>
            </a:r>
            <a:endParaRPr lang="en-US" sz="1200" dirty="0"/>
          </a:p>
        </p:txBody>
      </p:sp>
      <p:sp>
        <p:nvSpPr>
          <p:cNvPr id="36" name="Text 34"/>
          <p:cNvSpPr/>
          <p:nvPr/>
        </p:nvSpPr>
        <p:spPr>
          <a:xfrm>
            <a:off x="4818888" y="2825496"/>
            <a:ext cx="1152144" cy="109728"/>
          </a:xfrm>
          <a:prstGeom prst="rect">
            <a:avLst/>
          </a:prstGeom>
          <a:noFill/>
          <a:ln/>
        </p:spPr>
        <p:txBody>
          <a:bodyPr wrap="square" lIns="0" tIns="0" rIns="0" bIns="0" rtlCol="0" anchor="ctr">
            <a:normAutofit/>
          </a:bodyPr>
          <a:lstStyle/>
          <a:p>
            <a:pPr marL="0" indent="0">
              <a:buNone/>
            </a:pPr>
            <a:r>
              <a:rPr lang="en-US" sz="630" dirty="0">
                <a:solidFill>
                  <a:srgbClr val="64748B"/>
                </a:solidFill>
                <a:latin typeface="Courier New" pitchFamily="34" charset="0"/>
                <a:ea typeface="Courier New" pitchFamily="34" charset="-122"/>
                <a:cs typeface="Courier New" pitchFamily="34" charset="-120"/>
              </a:rPr>
              <a:t>06_render_graph_report</a:t>
            </a:r>
            <a:endParaRPr lang="en-US" sz="630" dirty="0"/>
          </a:p>
        </p:txBody>
      </p:sp>
      <p:sp>
        <p:nvSpPr>
          <p:cNvPr id="37" name="Text 35"/>
          <p:cNvSpPr/>
          <p:nvPr/>
        </p:nvSpPr>
        <p:spPr>
          <a:xfrm>
            <a:off x="749808" y="3794760"/>
            <a:ext cx="210312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RAPPRESENTAZIONE</a:t>
            </a:r>
            <a:endParaRPr lang="en-US" sz="1200" dirty="0"/>
          </a:p>
        </p:txBody>
      </p:sp>
      <p:sp>
        <p:nvSpPr>
          <p:cNvPr id="38" name="Text 36"/>
          <p:cNvSpPr/>
          <p:nvPr/>
        </p:nvSpPr>
        <p:spPr>
          <a:xfrm>
            <a:off x="749808" y="4114800"/>
            <a:ext cx="5120640" cy="438912"/>
          </a:xfrm>
          <a:prstGeom prst="rect">
            <a:avLst/>
          </a:prstGeom>
          <a:noFill/>
          <a:ln/>
        </p:spPr>
        <p:txBody>
          <a:bodyPr wrap="square" lIns="0" tIns="0" rIns="0" bIns="0" rtlCol="0" anchor="ctr">
            <a:normAutofit fontScale="85000" lnSpcReduction="20000"/>
          </a:bodyPr>
          <a:lstStyle/>
          <a:p>
            <a:pPr marL="0" indent="0">
              <a:buNone/>
            </a:pPr>
            <a:r>
              <a:rPr lang="en-US" sz="2000" b="1" dirty="0">
                <a:solidFill>
                  <a:srgbClr val="0B1320"/>
                </a:solidFill>
                <a:latin typeface="Aptos Display" pitchFamily="34" charset="0"/>
                <a:ea typeface="Aptos Display" pitchFamily="34" charset="-122"/>
                <a:cs typeface="Aptos Display" pitchFamily="34" charset="-120"/>
              </a:rPr>
              <a:t>Il Graph JSON diventa il contratto tra computer vision, giudizio automatico, SPICE e agente.</a:t>
            </a:r>
            <a:endParaRPr lang="en-US" sz="2000" dirty="0"/>
          </a:p>
        </p:txBody>
      </p:sp>
      <p:sp>
        <p:nvSpPr>
          <p:cNvPr id="39" name="Shape 37"/>
          <p:cNvSpPr/>
          <p:nvPr/>
        </p:nvSpPr>
        <p:spPr>
          <a:xfrm>
            <a:off x="804672" y="4818888"/>
            <a:ext cx="73152" cy="73152"/>
          </a:xfrm>
          <a:prstGeom prst="ellipse">
            <a:avLst/>
          </a:prstGeom>
          <a:solidFill>
            <a:srgbClr val="10B981"/>
          </a:solidFill>
          <a:ln w="12700">
            <a:solidFill>
              <a:srgbClr val="10B981"/>
            </a:solidFill>
            <a:prstDash val="solid"/>
          </a:ln>
        </p:spPr>
        <p:txBody>
          <a:bodyPr/>
          <a:lstStyle/>
          <a:p>
            <a:endParaRPr lang="it-IT"/>
          </a:p>
        </p:txBody>
      </p:sp>
      <p:sp>
        <p:nvSpPr>
          <p:cNvPr id="40" name="Text 38"/>
          <p:cNvSpPr/>
          <p:nvPr/>
        </p:nvSpPr>
        <p:spPr>
          <a:xfrm>
            <a:off x="969264" y="4754880"/>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Componenti</a:t>
            </a:r>
            <a:r>
              <a:rPr lang="en-US" sz="1180" dirty="0">
                <a:solidFill>
                  <a:srgbClr val="1F2937"/>
                </a:solidFill>
                <a:latin typeface="Aptos" pitchFamily="34" charset="0"/>
                <a:ea typeface="Aptos" pitchFamily="34" charset="-122"/>
                <a:cs typeface="Aptos" pitchFamily="34" charset="-120"/>
              </a:rPr>
              <a:t> con istanza stabile: resistor22.1, led12.1, ecc.</a:t>
            </a:r>
            <a:endParaRPr lang="en-US" sz="1180" dirty="0"/>
          </a:p>
        </p:txBody>
      </p:sp>
      <p:sp>
        <p:nvSpPr>
          <p:cNvPr id="41" name="Shape 39"/>
          <p:cNvSpPr/>
          <p:nvPr/>
        </p:nvSpPr>
        <p:spPr>
          <a:xfrm>
            <a:off x="804672" y="5129784"/>
            <a:ext cx="73152" cy="73152"/>
          </a:xfrm>
          <a:prstGeom prst="ellipse">
            <a:avLst/>
          </a:prstGeom>
          <a:solidFill>
            <a:srgbClr val="10B981"/>
          </a:solidFill>
          <a:ln w="12700">
            <a:solidFill>
              <a:srgbClr val="10B981"/>
            </a:solidFill>
            <a:prstDash val="solid"/>
          </a:ln>
        </p:spPr>
        <p:txBody>
          <a:bodyPr/>
          <a:lstStyle/>
          <a:p>
            <a:endParaRPr lang="it-IT"/>
          </a:p>
        </p:txBody>
      </p:sp>
      <p:sp>
        <p:nvSpPr>
          <p:cNvPr id="42" name="Text 40"/>
          <p:cNvSpPr/>
          <p:nvPr/>
        </p:nvSpPr>
        <p:spPr>
          <a:xfrm>
            <a:off x="969264" y="5065776"/>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Terminali stimati </a:t>
            </a:r>
            <a:r>
              <a:rPr lang="en-US" sz="1180" dirty="0">
                <a:solidFill>
                  <a:srgbClr val="1F2937"/>
                </a:solidFill>
                <a:latin typeface="Aptos" pitchFamily="34" charset="0"/>
                <a:ea typeface="Aptos" pitchFamily="34" charset="-122"/>
                <a:cs typeface="Aptos" pitchFamily="34" charset="-120"/>
              </a:rPr>
              <a:t>con </a:t>
            </a:r>
            <a:r>
              <a:rPr lang="en-US" sz="1180" b="1" dirty="0">
                <a:solidFill>
                  <a:srgbClr val="1F2937"/>
                </a:solidFill>
                <a:latin typeface="Aptos" pitchFamily="34" charset="0"/>
                <a:ea typeface="Aptos" pitchFamily="34" charset="-122"/>
                <a:cs typeface="Aptos" pitchFamily="34" charset="-120"/>
              </a:rPr>
              <a:t>orientamento</a:t>
            </a:r>
            <a:r>
              <a:rPr lang="en-US" sz="1180" dirty="0">
                <a:solidFill>
                  <a:srgbClr val="1F2937"/>
                </a:solidFill>
                <a:latin typeface="Aptos" pitchFamily="34" charset="0"/>
                <a:ea typeface="Aptos" pitchFamily="34" charset="-122"/>
                <a:cs typeface="Aptos" pitchFamily="34" charset="-120"/>
              </a:rPr>
              <a:t>, OCR e regole per componenti IC.</a:t>
            </a:r>
            <a:endParaRPr lang="en-US" sz="1180" dirty="0"/>
          </a:p>
        </p:txBody>
      </p:sp>
      <p:sp>
        <p:nvSpPr>
          <p:cNvPr id="43" name="Shape 41"/>
          <p:cNvSpPr/>
          <p:nvPr/>
        </p:nvSpPr>
        <p:spPr>
          <a:xfrm>
            <a:off x="804672" y="5440680"/>
            <a:ext cx="73152" cy="73152"/>
          </a:xfrm>
          <a:prstGeom prst="ellipse">
            <a:avLst/>
          </a:prstGeom>
          <a:solidFill>
            <a:srgbClr val="10B981"/>
          </a:solidFill>
          <a:ln w="12700">
            <a:solidFill>
              <a:srgbClr val="10B981"/>
            </a:solidFill>
            <a:prstDash val="solid"/>
          </a:ln>
        </p:spPr>
        <p:txBody>
          <a:bodyPr/>
          <a:lstStyle/>
          <a:p>
            <a:endParaRPr lang="it-IT"/>
          </a:p>
        </p:txBody>
      </p:sp>
      <p:sp>
        <p:nvSpPr>
          <p:cNvPr id="44" name="Text 42"/>
          <p:cNvSpPr/>
          <p:nvPr/>
        </p:nvSpPr>
        <p:spPr>
          <a:xfrm>
            <a:off x="969264" y="5376672"/>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Wire</a:t>
            </a:r>
            <a:r>
              <a:rPr lang="en-US" sz="1180" dirty="0">
                <a:solidFill>
                  <a:srgbClr val="1F2937"/>
                </a:solidFill>
                <a:latin typeface="Aptos" pitchFamily="34" charset="0"/>
                <a:ea typeface="Aptos" pitchFamily="34" charset="-122"/>
                <a:cs typeface="Aptos" pitchFamily="34" charset="-120"/>
              </a:rPr>
              <a:t> e giunzioni trasformati in </a:t>
            </a:r>
            <a:r>
              <a:rPr lang="en-US" sz="1180" b="1" dirty="0">
                <a:solidFill>
                  <a:srgbClr val="1F2937"/>
                </a:solidFill>
                <a:latin typeface="Aptos" pitchFamily="34" charset="0"/>
                <a:ea typeface="Aptos" pitchFamily="34" charset="-122"/>
                <a:cs typeface="Aptos" pitchFamily="34" charset="-120"/>
              </a:rPr>
              <a:t>connessioni</a:t>
            </a:r>
            <a:r>
              <a:rPr lang="en-US" sz="1180" dirty="0">
                <a:solidFill>
                  <a:srgbClr val="1F2937"/>
                </a:solidFill>
                <a:latin typeface="Aptos" pitchFamily="34" charset="0"/>
                <a:ea typeface="Aptos" pitchFamily="34" charset="-122"/>
                <a:cs typeface="Aptos" pitchFamily="34" charset="-120"/>
              </a:rPr>
              <a:t> terminale-terminale.</a:t>
            </a:r>
            <a:endParaRPr lang="en-US" sz="1180" dirty="0"/>
          </a:p>
        </p:txBody>
      </p:sp>
      <p:sp>
        <p:nvSpPr>
          <p:cNvPr id="45" name="Shape 43"/>
          <p:cNvSpPr/>
          <p:nvPr/>
        </p:nvSpPr>
        <p:spPr>
          <a:xfrm>
            <a:off x="804672" y="5751576"/>
            <a:ext cx="73152" cy="73152"/>
          </a:xfrm>
          <a:prstGeom prst="ellipse">
            <a:avLst/>
          </a:prstGeom>
          <a:solidFill>
            <a:srgbClr val="10B981"/>
          </a:solidFill>
          <a:ln w="12700">
            <a:solidFill>
              <a:srgbClr val="10B981"/>
            </a:solidFill>
            <a:prstDash val="solid"/>
          </a:ln>
        </p:spPr>
        <p:txBody>
          <a:bodyPr/>
          <a:lstStyle/>
          <a:p>
            <a:endParaRPr lang="it-IT"/>
          </a:p>
        </p:txBody>
      </p:sp>
      <p:sp>
        <p:nvSpPr>
          <p:cNvPr id="46" name="Text 44"/>
          <p:cNvSpPr/>
          <p:nvPr/>
        </p:nvSpPr>
        <p:spPr>
          <a:xfrm>
            <a:off x="969264" y="5687568"/>
            <a:ext cx="5413248" cy="237744"/>
          </a:xfrm>
          <a:prstGeom prst="rect">
            <a:avLst/>
          </a:prstGeom>
          <a:noFill/>
          <a:ln/>
        </p:spPr>
        <p:txBody>
          <a:bodyPr wrap="square" lIns="0" tIns="0" rIns="0" bIns="0" rtlCol="0" anchor="ctr">
            <a:normAutofit/>
          </a:bodyPr>
          <a:lstStyle/>
          <a:p>
            <a:pPr marL="0" indent="0">
              <a:buNone/>
            </a:pPr>
            <a:r>
              <a:rPr lang="en-US" sz="1180" b="1" dirty="0">
                <a:solidFill>
                  <a:srgbClr val="1F2937"/>
                </a:solidFill>
                <a:latin typeface="Aptos" pitchFamily="34" charset="0"/>
                <a:ea typeface="Aptos" pitchFamily="34" charset="-122"/>
                <a:cs typeface="Aptos" pitchFamily="34" charset="-120"/>
              </a:rPr>
              <a:t>Warning conservati</a:t>
            </a:r>
            <a:r>
              <a:rPr lang="en-US" sz="1180" dirty="0">
                <a:solidFill>
                  <a:srgbClr val="1F2937"/>
                </a:solidFill>
                <a:latin typeface="Aptos" pitchFamily="34" charset="0"/>
                <a:ea typeface="Aptos" pitchFamily="34" charset="-122"/>
                <a:cs typeface="Aptos" pitchFamily="34" charset="-120"/>
              </a:rPr>
              <a:t>: nodi incerti, terminali scollegati, stati switch.</a:t>
            </a:r>
            <a:endParaRPr lang="en-US" sz="1180" dirty="0"/>
          </a:p>
        </p:txBody>
      </p:sp>
      <p:sp>
        <p:nvSpPr>
          <p:cNvPr id="47" name="Shape 45"/>
          <p:cNvSpPr/>
          <p:nvPr/>
        </p:nvSpPr>
        <p:spPr>
          <a:xfrm>
            <a:off x="6629400" y="1554480"/>
            <a:ext cx="4434840" cy="3931920"/>
          </a:xfrm>
          <a:prstGeom prst="roundRect">
            <a:avLst>
              <a:gd name="adj" fmla="val 1628"/>
            </a:avLst>
          </a:prstGeom>
          <a:solidFill>
            <a:srgbClr val="101827"/>
          </a:solidFill>
          <a:ln w="12700">
            <a:solidFill>
              <a:srgbClr val="101827"/>
            </a:solidFill>
            <a:prstDash val="solid"/>
          </a:ln>
        </p:spPr>
        <p:txBody>
          <a:bodyPr/>
          <a:lstStyle/>
          <a:p>
            <a:endParaRPr lang="it-IT"/>
          </a:p>
        </p:txBody>
      </p:sp>
      <p:sp>
        <p:nvSpPr>
          <p:cNvPr id="48" name="Text 46"/>
          <p:cNvSpPr/>
          <p:nvPr/>
        </p:nvSpPr>
        <p:spPr>
          <a:xfrm>
            <a:off x="6903720" y="1874520"/>
            <a:ext cx="2011680" cy="256032"/>
          </a:xfrm>
          <a:prstGeom prst="rect">
            <a:avLst/>
          </a:prstGeom>
          <a:noFill/>
          <a:ln/>
        </p:spPr>
        <p:txBody>
          <a:bodyPr wrap="square" lIns="0" tIns="0" rIns="0" bIns="0" rtlCol="0" anchor="ctr"/>
          <a:lstStyle/>
          <a:p>
            <a:pPr marL="0" indent="0">
              <a:buNone/>
            </a:pPr>
            <a:r>
              <a:rPr lang="en-US" sz="1800" b="1" dirty="0">
                <a:solidFill>
                  <a:srgbClr val="FFFFFF"/>
                </a:solidFill>
                <a:latin typeface="Aptos Display" pitchFamily="34" charset="0"/>
                <a:ea typeface="Aptos Display" pitchFamily="34" charset="-122"/>
                <a:cs typeface="Aptos Display" pitchFamily="34" charset="-120"/>
              </a:rPr>
              <a:t>Graph JSON</a:t>
            </a:r>
            <a:endParaRPr lang="en-US" sz="1800" dirty="0"/>
          </a:p>
        </p:txBody>
      </p:sp>
      <p:sp>
        <p:nvSpPr>
          <p:cNvPr id="49" name="Text 47"/>
          <p:cNvSpPr/>
          <p:nvPr/>
        </p:nvSpPr>
        <p:spPr>
          <a:xfrm>
            <a:off x="6967728" y="2377440"/>
            <a:ext cx="3749040" cy="2331720"/>
          </a:xfrm>
          <a:prstGeom prst="rect">
            <a:avLst/>
          </a:prstGeom>
          <a:noFill/>
          <a:ln/>
        </p:spPr>
        <p:txBody>
          <a:bodyPr wrap="square" lIns="381" tIns="381" rIns="381" bIns="381" rtlCol="0" anchor="ctr">
            <a:normAutofit/>
          </a:bodyPr>
          <a:lstStyle/>
          <a:p>
            <a:pPr marL="0" indent="0">
              <a:buNone/>
            </a:pPr>
            <a:r>
              <a:rPr lang="en-US" sz="1400" dirty="0">
                <a:solidFill>
                  <a:srgbClr val="D1FAE5"/>
                </a:solidFill>
                <a:latin typeface="Courier New" pitchFamily="34" charset="0"/>
                <a:ea typeface="Courier New" pitchFamily="34" charset="-122"/>
                <a:cs typeface="Courier New" pitchFamily="34" charset="-120"/>
              </a:rPr>
              <a:t>{</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"components":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"terminals":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"connections":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"visible_semantics":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"switch_state": "open",</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"polarity": "known"</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  "warnings": [...]</a:t>
            </a:r>
            <a:endParaRPr lang="en-US" sz="1400" dirty="0"/>
          </a:p>
          <a:p>
            <a:pPr marL="0" indent="0">
              <a:buNone/>
            </a:pPr>
            <a:r>
              <a:rPr lang="en-US" sz="1400" dirty="0">
                <a:solidFill>
                  <a:srgbClr val="D1FAE5"/>
                </a:solidFill>
                <a:latin typeface="Courier New" pitchFamily="34" charset="0"/>
                <a:ea typeface="Courier New" pitchFamily="34" charset="-122"/>
                <a:cs typeface="Courier New" pitchFamily="34" charset="-120"/>
              </a:rPr>
              <a:t>}</a:t>
            </a:r>
            <a:endParaRPr lang="en-US" sz="1400" dirty="0"/>
          </a:p>
        </p:txBody>
      </p:sp>
      <p:sp>
        <p:nvSpPr>
          <p:cNvPr id="50" name="Shape 48"/>
          <p:cNvSpPr/>
          <p:nvPr/>
        </p:nvSpPr>
        <p:spPr>
          <a:xfrm>
            <a:off x="8869680" y="5029200"/>
            <a:ext cx="160020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51" name="Text 49"/>
          <p:cNvSpPr/>
          <p:nvPr/>
        </p:nvSpPr>
        <p:spPr>
          <a:xfrm>
            <a:off x="8942832" y="5081321"/>
            <a:ext cx="145389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output riusabile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pic>
        <p:nvPicPr>
          <p:cNvPr id="26" name="Picture 25"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a:solidFill>
                  <a:srgbClr val="0B1320"/>
                </a:solidFill>
                <a:latin typeface="Aptos Display" panose="020B0004020202020204" pitchFamily="34" charset="0"/>
                <a:ea typeface="Aptos Display" pitchFamily="34" charset="-122"/>
                <a:cs typeface="Aptos Display" pitchFamily="34" charset="-120"/>
              </a:rPr>
              <a:t>Risultati della verifica</a:t>
            </a:r>
            <a:endParaRPr lang="en-US" sz="2800" b="1" dirty="0">
              <a:solidFill>
                <a:srgbClr val="0B1320"/>
              </a:solidFill>
              <a:latin typeface="Aptos Display" panose="020B0004020202020204" pitchFamily="34" charset="0"/>
            </a:endParaRPr>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it-IT" sz="1250">
                <a:solidFill>
                  <a:srgbClr val="64748B"/>
                </a:solidFill>
                <a:latin typeface="Aptos" panose="020B0004020202020204" pitchFamily="34" charset="0"/>
                <a:ea typeface="Aptos" pitchFamily="34" charset="-122"/>
                <a:cs typeface="Aptos" pitchFamily="34" charset="-120"/>
              </a:rPr>
              <a:t>Graph JSON generalmente fedele; l'immagine è utile ma non sempre determinante</a:t>
            </a:r>
            <a:endParaRPr lang="en-US" sz="1250" dirty="0">
              <a:solidFill>
                <a:srgbClr val="64748B"/>
              </a:solidFill>
              <a:latin typeface="Aptos" panose="020B0004020202020204" pitchFamily="34" charset="0"/>
            </a:endParaRPr>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08</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27" name="Rettangolo con angoli arrotondati 26">
            <a:extLst>
              <a:ext uri="{FF2B5EF4-FFF2-40B4-BE49-F238E27FC236}">
                <a16:creationId xmlns:a16="http://schemas.microsoft.com/office/drawing/2014/main" id="{15B6D787-D73B-EE9C-D776-F767D21F3850}"/>
              </a:ext>
            </a:extLst>
          </p:cNvPr>
          <p:cNvSpPr/>
          <p:nvPr/>
        </p:nvSpPr>
        <p:spPr>
          <a:xfrm>
            <a:off x="698500" y="1422400"/>
            <a:ext cx="4953000" cy="35306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8" name="CasellaDiTesto 27">
            <a:extLst>
              <a:ext uri="{FF2B5EF4-FFF2-40B4-BE49-F238E27FC236}">
                <a16:creationId xmlns:a16="http://schemas.microsoft.com/office/drawing/2014/main" id="{9DFF3267-7AD4-44F5-BE60-D774533D7424}"/>
              </a:ext>
            </a:extLst>
          </p:cNvPr>
          <p:cNvSpPr txBox="1"/>
          <p:nvPr/>
        </p:nvSpPr>
        <p:spPr>
          <a:xfrm>
            <a:off x="965200" y="1651000"/>
            <a:ext cx="40005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FEDELTÀ IMMAGINE ↔ GRAPH</a:t>
            </a:r>
          </a:p>
        </p:txBody>
      </p:sp>
      <p:sp>
        <p:nvSpPr>
          <p:cNvPr id="29" name="CasellaDiTesto 28">
            <a:extLst>
              <a:ext uri="{FF2B5EF4-FFF2-40B4-BE49-F238E27FC236}">
                <a16:creationId xmlns:a16="http://schemas.microsoft.com/office/drawing/2014/main" id="{525D241B-5664-A8FA-8BC8-7E10481209C5}"/>
              </a:ext>
            </a:extLst>
          </p:cNvPr>
          <p:cNvSpPr txBox="1"/>
          <p:nvPr/>
        </p:nvSpPr>
        <p:spPr>
          <a:xfrm>
            <a:off x="965200" y="2006600"/>
            <a:ext cx="3302000" cy="241300"/>
          </a:xfrm>
          <a:prstGeom prst="rect">
            <a:avLst/>
          </a:prstGeom>
          <a:noFill/>
        </p:spPr>
        <p:txBody>
          <a:bodyPr vert="horz" wrap="square" lIns="0" tIns="0" rIns="0" bIns="0" rtlCol="0" anchor="t">
            <a:noAutofit/>
          </a:bodyPr>
          <a:lstStyle/>
          <a:p>
            <a:r>
              <a:rPr lang="it-IT" sz="1550" b="1">
                <a:solidFill>
                  <a:srgbClr val="0B1320"/>
                </a:solidFill>
                <a:latin typeface="Aptos Display" panose="020B0004020202020204" pitchFamily="34" charset="0"/>
              </a:rPr>
              <a:t>Score medio per batch /100</a:t>
            </a:r>
          </a:p>
        </p:txBody>
      </p:sp>
      <p:sp>
        <p:nvSpPr>
          <p:cNvPr id="30" name="CasellaDiTesto 29">
            <a:extLst>
              <a:ext uri="{FF2B5EF4-FFF2-40B4-BE49-F238E27FC236}">
                <a16:creationId xmlns:a16="http://schemas.microsoft.com/office/drawing/2014/main" id="{5194F694-F73A-F7FB-B2E4-A4662FB94FC7}"/>
              </a:ext>
            </a:extLst>
          </p:cNvPr>
          <p:cNvSpPr txBox="1"/>
          <p:nvPr/>
        </p:nvSpPr>
        <p:spPr>
          <a:xfrm>
            <a:off x="990600" y="2476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A</a:t>
            </a:r>
          </a:p>
        </p:txBody>
      </p:sp>
      <p:sp>
        <p:nvSpPr>
          <p:cNvPr id="31" name="Rettangolo con angoli arrotondati 30">
            <a:extLst>
              <a:ext uri="{FF2B5EF4-FFF2-40B4-BE49-F238E27FC236}">
                <a16:creationId xmlns:a16="http://schemas.microsoft.com/office/drawing/2014/main" id="{2868338D-F732-6977-4776-473C88D7B2C6}"/>
              </a:ext>
            </a:extLst>
          </p:cNvPr>
          <p:cNvSpPr/>
          <p:nvPr/>
        </p:nvSpPr>
        <p:spPr>
          <a:xfrm>
            <a:off x="1485900" y="2489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2" name="Rettangolo con angoli arrotondati 31">
            <a:extLst>
              <a:ext uri="{FF2B5EF4-FFF2-40B4-BE49-F238E27FC236}">
                <a16:creationId xmlns:a16="http://schemas.microsoft.com/office/drawing/2014/main" id="{CF43ECEC-0CEB-928A-6E4B-1C2C42E5C4CB}"/>
              </a:ext>
            </a:extLst>
          </p:cNvPr>
          <p:cNvSpPr/>
          <p:nvPr/>
        </p:nvSpPr>
        <p:spPr>
          <a:xfrm>
            <a:off x="1485900" y="2489200"/>
            <a:ext cx="2775585"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3" name="CasellaDiTesto 32">
            <a:extLst>
              <a:ext uri="{FF2B5EF4-FFF2-40B4-BE49-F238E27FC236}">
                <a16:creationId xmlns:a16="http://schemas.microsoft.com/office/drawing/2014/main" id="{AF22BFD3-DF16-2C3E-3A6A-D1A1999AD0D1}"/>
              </a:ext>
            </a:extLst>
          </p:cNvPr>
          <p:cNvSpPr txBox="1"/>
          <p:nvPr/>
        </p:nvSpPr>
        <p:spPr>
          <a:xfrm>
            <a:off x="4584700" y="2476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93,0</a:t>
            </a:r>
          </a:p>
        </p:txBody>
      </p:sp>
      <p:sp>
        <p:nvSpPr>
          <p:cNvPr id="34" name="CasellaDiTesto 33">
            <a:extLst>
              <a:ext uri="{FF2B5EF4-FFF2-40B4-BE49-F238E27FC236}">
                <a16:creationId xmlns:a16="http://schemas.microsoft.com/office/drawing/2014/main" id="{77F0978D-2A12-1102-93CE-212CBF0E85D7}"/>
              </a:ext>
            </a:extLst>
          </p:cNvPr>
          <p:cNvSpPr txBox="1"/>
          <p:nvPr/>
        </p:nvSpPr>
        <p:spPr>
          <a:xfrm>
            <a:off x="990600" y="2857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B</a:t>
            </a:r>
          </a:p>
        </p:txBody>
      </p:sp>
      <p:sp>
        <p:nvSpPr>
          <p:cNvPr id="35" name="Rettangolo con angoli arrotondati 34">
            <a:extLst>
              <a:ext uri="{FF2B5EF4-FFF2-40B4-BE49-F238E27FC236}">
                <a16:creationId xmlns:a16="http://schemas.microsoft.com/office/drawing/2014/main" id="{BD5A38C6-F962-6F51-3A09-8CC9A9A8886E}"/>
              </a:ext>
            </a:extLst>
          </p:cNvPr>
          <p:cNvSpPr/>
          <p:nvPr/>
        </p:nvSpPr>
        <p:spPr>
          <a:xfrm>
            <a:off x="1485900" y="2870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6" name="Rettangolo con angoli arrotondati 35">
            <a:extLst>
              <a:ext uri="{FF2B5EF4-FFF2-40B4-BE49-F238E27FC236}">
                <a16:creationId xmlns:a16="http://schemas.microsoft.com/office/drawing/2014/main" id="{EABFDD51-764E-FF18-E3FF-D2B5280B0321}"/>
              </a:ext>
            </a:extLst>
          </p:cNvPr>
          <p:cNvSpPr/>
          <p:nvPr/>
        </p:nvSpPr>
        <p:spPr>
          <a:xfrm>
            <a:off x="1485900" y="2870200"/>
            <a:ext cx="2671128"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7" name="CasellaDiTesto 36">
            <a:extLst>
              <a:ext uri="{FF2B5EF4-FFF2-40B4-BE49-F238E27FC236}">
                <a16:creationId xmlns:a16="http://schemas.microsoft.com/office/drawing/2014/main" id="{AC8B987A-46FF-BA2C-C595-D52B5F67F56B}"/>
              </a:ext>
            </a:extLst>
          </p:cNvPr>
          <p:cNvSpPr txBox="1"/>
          <p:nvPr/>
        </p:nvSpPr>
        <p:spPr>
          <a:xfrm>
            <a:off x="4584700" y="2857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89,5</a:t>
            </a:r>
          </a:p>
        </p:txBody>
      </p:sp>
      <p:sp>
        <p:nvSpPr>
          <p:cNvPr id="38" name="CasellaDiTesto 37">
            <a:extLst>
              <a:ext uri="{FF2B5EF4-FFF2-40B4-BE49-F238E27FC236}">
                <a16:creationId xmlns:a16="http://schemas.microsoft.com/office/drawing/2014/main" id="{D581CFBF-7D3A-5F7B-6460-B369CB0B366C}"/>
              </a:ext>
            </a:extLst>
          </p:cNvPr>
          <p:cNvSpPr txBox="1"/>
          <p:nvPr/>
        </p:nvSpPr>
        <p:spPr>
          <a:xfrm>
            <a:off x="990600" y="3238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C1</a:t>
            </a:r>
          </a:p>
        </p:txBody>
      </p:sp>
      <p:sp>
        <p:nvSpPr>
          <p:cNvPr id="39" name="Rettangolo con angoli arrotondati 38">
            <a:extLst>
              <a:ext uri="{FF2B5EF4-FFF2-40B4-BE49-F238E27FC236}">
                <a16:creationId xmlns:a16="http://schemas.microsoft.com/office/drawing/2014/main" id="{621C2515-3E9B-DBB5-6EA1-8D6B0CC9F415}"/>
              </a:ext>
            </a:extLst>
          </p:cNvPr>
          <p:cNvSpPr/>
          <p:nvPr/>
        </p:nvSpPr>
        <p:spPr>
          <a:xfrm>
            <a:off x="1485900" y="3251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0" name="Rettangolo con angoli arrotondati 39">
            <a:extLst>
              <a:ext uri="{FF2B5EF4-FFF2-40B4-BE49-F238E27FC236}">
                <a16:creationId xmlns:a16="http://schemas.microsoft.com/office/drawing/2014/main" id="{17FE9861-3854-610C-83A9-AE37349EF63D}"/>
              </a:ext>
            </a:extLst>
          </p:cNvPr>
          <p:cNvSpPr/>
          <p:nvPr/>
        </p:nvSpPr>
        <p:spPr>
          <a:xfrm>
            <a:off x="1485900" y="3251200"/>
            <a:ext cx="2793492"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1" name="CasellaDiTesto 40">
            <a:extLst>
              <a:ext uri="{FF2B5EF4-FFF2-40B4-BE49-F238E27FC236}">
                <a16:creationId xmlns:a16="http://schemas.microsoft.com/office/drawing/2014/main" id="{0FA998D9-44FA-D91C-2B3C-A1C37D23BCCD}"/>
              </a:ext>
            </a:extLst>
          </p:cNvPr>
          <p:cNvSpPr txBox="1"/>
          <p:nvPr/>
        </p:nvSpPr>
        <p:spPr>
          <a:xfrm>
            <a:off x="4584700" y="3238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93,6</a:t>
            </a:r>
          </a:p>
        </p:txBody>
      </p:sp>
      <p:sp>
        <p:nvSpPr>
          <p:cNvPr id="42" name="CasellaDiTesto 41">
            <a:extLst>
              <a:ext uri="{FF2B5EF4-FFF2-40B4-BE49-F238E27FC236}">
                <a16:creationId xmlns:a16="http://schemas.microsoft.com/office/drawing/2014/main" id="{DF4E58FF-CF6C-F174-CB31-19BC806C8E2D}"/>
              </a:ext>
            </a:extLst>
          </p:cNvPr>
          <p:cNvSpPr txBox="1"/>
          <p:nvPr/>
        </p:nvSpPr>
        <p:spPr>
          <a:xfrm>
            <a:off x="990600" y="3619500"/>
            <a:ext cx="444500" cy="2032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C2</a:t>
            </a:r>
          </a:p>
        </p:txBody>
      </p:sp>
      <p:sp>
        <p:nvSpPr>
          <p:cNvPr id="43" name="Rettangolo con angoli arrotondati 42">
            <a:extLst>
              <a:ext uri="{FF2B5EF4-FFF2-40B4-BE49-F238E27FC236}">
                <a16:creationId xmlns:a16="http://schemas.microsoft.com/office/drawing/2014/main" id="{4AC37E1C-A6DE-8559-82C7-0875B69A31BC}"/>
              </a:ext>
            </a:extLst>
          </p:cNvPr>
          <p:cNvSpPr/>
          <p:nvPr/>
        </p:nvSpPr>
        <p:spPr>
          <a:xfrm>
            <a:off x="1485900" y="3632200"/>
            <a:ext cx="2984500" cy="2159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4" name="Rettangolo con angoli arrotondati 43">
            <a:extLst>
              <a:ext uri="{FF2B5EF4-FFF2-40B4-BE49-F238E27FC236}">
                <a16:creationId xmlns:a16="http://schemas.microsoft.com/office/drawing/2014/main" id="{D3A4934B-0FC3-40B0-AC31-86E1E58CD289}"/>
              </a:ext>
            </a:extLst>
          </p:cNvPr>
          <p:cNvSpPr/>
          <p:nvPr/>
        </p:nvSpPr>
        <p:spPr>
          <a:xfrm>
            <a:off x="1485900" y="3632200"/>
            <a:ext cx="2794089" cy="2159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45" name="CasellaDiTesto 44">
            <a:extLst>
              <a:ext uri="{FF2B5EF4-FFF2-40B4-BE49-F238E27FC236}">
                <a16:creationId xmlns:a16="http://schemas.microsoft.com/office/drawing/2014/main" id="{06434A24-F708-445F-B0BF-E308DAEAAC83}"/>
              </a:ext>
            </a:extLst>
          </p:cNvPr>
          <p:cNvSpPr txBox="1"/>
          <p:nvPr/>
        </p:nvSpPr>
        <p:spPr>
          <a:xfrm>
            <a:off x="4584700" y="3619500"/>
            <a:ext cx="609600" cy="215900"/>
          </a:xfrm>
          <a:prstGeom prst="rect">
            <a:avLst/>
          </a:prstGeom>
          <a:noFill/>
        </p:spPr>
        <p:txBody>
          <a:bodyPr vert="horz" wrap="square" lIns="0" tIns="0" rIns="0" bIns="0" rtlCol="0" anchor="t">
            <a:noAutofit/>
          </a:bodyPr>
          <a:lstStyle/>
          <a:p>
            <a:pPr algn="ctr"/>
            <a:r>
              <a:rPr lang="it-IT" sz="1050" b="1">
                <a:solidFill>
                  <a:srgbClr val="0B1320"/>
                </a:solidFill>
                <a:latin typeface="Aptos" panose="020B0004020202020204" pitchFamily="34" charset="0"/>
              </a:rPr>
              <a:t>93,6</a:t>
            </a:r>
          </a:p>
        </p:txBody>
      </p:sp>
      <p:sp>
        <p:nvSpPr>
          <p:cNvPr id="46" name="Rettangolo con angoli arrotondati 45">
            <a:extLst>
              <a:ext uri="{FF2B5EF4-FFF2-40B4-BE49-F238E27FC236}">
                <a16:creationId xmlns:a16="http://schemas.microsoft.com/office/drawing/2014/main" id="{6A9E2FC8-864E-D95C-B001-100E4084F2D1}"/>
              </a:ext>
            </a:extLst>
          </p:cNvPr>
          <p:cNvSpPr/>
          <p:nvPr/>
        </p:nvSpPr>
        <p:spPr>
          <a:xfrm>
            <a:off x="965200" y="4178300"/>
            <a:ext cx="1625600" cy="317500"/>
          </a:xfrm>
          <a:prstGeom prst="roundRect">
            <a:avLst/>
          </a:prstGeom>
          <a:solidFill>
            <a:srgbClr val="059669"/>
          </a:solidFill>
          <a:ln w="12700">
            <a:solidFill>
              <a:srgbClr val="059669"/>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92,4/100 media</a:t>
            </a:r>
          </a:p>
        </p:txBody>
      </p:sp>
      <p:sp>
        <p:nvSpPr>
          <p:cNvPr id="47" name="Rettangolo con angoli arrotondati 46">
            <a:extLst>
              <a:ext uri="{FF2B5EF4-FFF2-40B4-BE49-F238E27FC236}">
                <a16:creationId xmlns:a16="http://schemas.microsoft.com/office/drawing/2014/main" id="{D49FFB84-76CC-5A10-9476-B53CC98225D6}"/>
              </a:ext>
            </a:extLst>
          </p:cNvPr>
          <p:cNvSpPr/>
          <p:nvPr/>
        </p:nvSpPr>
        <p:spPr>
          <a:xfrm>
            <a:off x="2717800" y="4178300"/>
            <a:ext cx="1422400" cy="3175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1000" b="1">
                <a:solidFill>
                  <a:srgbClr val="FFFFFF"/>
                </a:solidFill>
                <a:latin typeface="Aptos" panose="020B0004020202020204" pitchFamily="34" charset="0"/>
              </a:rPr>
              <a:t>38/38 usabili</a:t>
            </a:r>
          </a:p>
        </p:txBody>
      </p:sp>
      <p:sp>
        <p:nvSpPr>
          <p:cNvPr id="48" name="CasellaDiTesto 47">
            <a:extLst>
              <a:ext uri="{FF2B5EF4-FFF2-40B4-BE49-F238E27FC236}">
                <a16:creationId xmlns:a16="http://schemas.microsoft.com/office/drawing/2014/main" id="{63D8B892-6372-1AC2-5D6A-DA1205E80EA0}"/>
              </a:ext>
            </a:extLst>
          </p:cNvPr>
          <p:cNvSpPr txBox="1"/>
          <p:nvPr/>
        </p:nvSpPr>
        <p:spPr>
          <a:xfrm>
            <a:off x="965200" y="4660900"/>
            <a:ext cx="4127500" cy="177800"/>
          </a:xfrm>
          <a:prstGeom prst="rect">
            <a:avLst/>
          </a:prstGeom>
          <a:noFill/>
        </p:spPr>
        <p:txBody>
          <a:bodyPr vert="horz" wrap="square" lIns="0" tIns="0" rIns="0" bIns="0" rtlCol="0" anchor="t">
            <a:noAutofit/>
          </a:bodyPr>
          <a:lstStyle/>
          <a:p>
            <a:r>
              <a:rPr lang="en-US" sz="950" b="1">
                <a:solidFill>
                  <a:srgbClr val="64748B"/>
                </a:solidFill>
                <a:latin typeface="Aptos" panose="020B0004020202020204" pitchFamily="34" charset="0"/>
              </a:rPr>
              <a:t>32 VERY HIGH · 4 HIGH · 2 MEDIUM · 0 LOW</a:t>
            </a:r>
            <a:endParaRPr lang="it-IT" sz="950" b="1">
              <a:solidFill>
                <a:srgbClr val="64748B"/>
              </a:solidFill>
              <a:latin typeface="Aptos" panose="020B0004020202020204" pitchFamily="34" charset="0"/>
            </a:endParaRPr>
          </a:p>
        </p:txBody>
      </p:sp>
      <p:sp>
        <p:nvSpPr>
          <p:cNvPr id="49" name="Rettangolo con angoli arrotondati 48">
            <a:extLst>
              <a:ext uri="{FF2B5EF4-FFF2-40B4-BE49-F238E27FC236}">
                <a16:creationId xmlns:a16="http://schemas.microsoft.com/office/drawing/2014/main" id="{8392E856-0E14-11DA-3C24-C1221D9AD729}"/>
              </a:ext>
            </a:extLst>
          </p:cNvPr>
          <p:cNvSpPr/>
          <p:nvPr/>
        </p:nvSpPr>
        <p:spPr>
          <a:xfrm>
            <a:off x="6032500" y="1422400"/>
            <a:ext cx="5461000" cy="3530600"/>
          </a:xfrm>
          <a:prstGeom prst="roundRect">
            <a:avLst/>
          </a:prstGeom>
          <a:solidFill>
            <a:srgbClr val="FFFFFF"/>
          </a:solidFill>
          <a:ln w="1270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0" name="CasellaDiTesto 49">
            <a:extLst>
              <a:ext uri="{FF2B5EF4-FFF2-40B4-BE49-F238E27FC236}">
                <a16:creationId xmlns:a16="http://schemas.microsoft.com/office/drawing/2014/main" id="{49F1E2FD-BF9C-689D-DA74-3E5312C69D5F}"/>
              </a:ext>
            </a:extLst>
          </p:cNvPr>
          <p:cNvSpPr txBox="1"/>
          <p:nvPr/>
        </p:nvSpPr>
        <p:spPr>
          <a:xfrm>
            <a:off x="6324600" y="1651000"/>
            <a:ext cx="4343400" cy="228600"/>
          </a:xfrm>
          <a:prstGeom prst="rect">
            <a:avLst/>
          </a:prstGeom>
          <a:noFill/>
        </p:spPr>
        <p:txBody>
          <a:bodyPr vert="horz" wrap="square" lIns="0" tIns="0" rIns="0" bIns="0" rtlCol="0" anchor="t">
            <a:noAutofit/>
          </a:bodyPr>
          <a:lstStyle/>
          <a:p>
            <a:r>
              <a:rPr lang="it-IT" sz="1150" b="1">
                <a:solidFill>
                  <a:srgbClr val="059669"/>
                </a:solidFill>
                <a:latin typeface="Aptos" panose="020B0004020202020204" pitchFamily="34" charset="0"/>
              </a:rPr>
              <a:t>DIAGNOSI: QUANTO AGGIUNGE L'IMMAGINE?</a:t>
            </a:r>
          </a:p>
        </p:txBody>
      </p:sp>
      <p:sp>
        <p:nvSpPr>
          <p:cNvPr id="51" name="CasellaDiTesto 50">
            <a:extLst>
              <a:ext uri="{FF2B5EF4-FFF2-40B4-BE49-F238E27FC236}">
                <a16:creationId xmlns:a16="http://schemas.microsoft.com/office/drawing/2014/main" id="{135CE290-4ED3-F6FE-9AF5-BC0437C14758}"/>
              </a:ext>
            </a:extLst>
          </p:cNvPr>
          <p:cNvSpPr txBox="1"/>
          <p:nvPr/>
        </p:nvSpPr>
        <p:spPr>
          <a:xfrm>
            <a:off x="6324600" y="2006600"/>
            <a:ext cx="2286000" cy="241300"/>
          </a:xfrm>
          <a:prstGeom prst="rect">
            <a:avLst/>
          </a:prstGeom>
          <a:noFill/>
        </p:spPr>
        <p:txBody>
          <a:bodyPr vert="horz" wrap="square" lIns="0" tIns="0" rIns="0" bIns="0" rtlCol="0" anchor="t">
            <a:noAutofit/>
          </a:bodyPr>
          <a:lstStyle/>
          <a:p>
            <a:r>
              <a:rPr lang="it-IT" sz="1550" b="1">
                <a:solidFill>
                  <a:srgbClr val="0B1320"/>
                </a:solidFill>
                <a:latin typeface="Aptos Display" panose="020B0004020202020204" pitchFamily="34" charset="0"/>
              </a:rPr>
              <a:t>Score medio /21</a:t>
            </a:r>
          </a:p>
        </p:txBody>
      </p:sp>
      <p:sp>
        <p:nvSpPr>
          <p:cNvPr id="52" name="Rettangolo con angoli arrotondati 51">
            <a:extLst>
              <a:ext uri="{FF2B5EF4-FFF2-40B4-BE49-F238E27FC236}">
                <a16:creationId xmlns:a16="http://schemas.microsoft.com/office/drawing/2014/main" id="{1E950AFF-EACD-B434-646E-B0ABDD2C807C}"/>
              </a:ext>
            </a:extLst>
          </p:cNvPr>
          <p:cNvSpPr/>
          <p:nvPr/>
        </p:nvSpPr>
        <p:spPr>
          <a:xfrm>
            <a:off x="10375900" y="1917700"/>
            <a:ext cx="812800" cy="304800"/>
          </a:xfrm>
          <a:prstGeom prst="roundRect">
            <a:avLst/>
          </a:prstGeom>
          <a:solidFill>
            <a:srgbClr val="0B1320"/>
          </a:solidFill>
          <a:ln w="12700">
            <a:solidFill>
              <a:srgbClr val="0B1320"/>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60" b="1">
                <a:solidFill>
                  <a:srgbClr val="FFFFFF"/>
                </a:solidFill>
                <a:latin typeface="Aptos" panose="020B0004020202020204" pitchFamily="34" charset="0"/>
              </a:rPr>
              <a:t>256 run</a:t>
            </a:r>
          </a:p>
        </p:txBody>
      </p:sp>
      <p:sp>
        <p:nvSpPr>
          <p:cNvPr id="53" name="Rettangolo con angoli arrotondati 52">
            <a:extLst>
              <a:ext uri="{FF2B5EF4-FFF2-40B4-BE49-F238E27FC236}">
                <a16:creationId xmlns:a16="http://schemas.microsoft.com/office/drawing/2014/main" id="{C7153294-DDFF-EE9E-0B37-2B44E355347B}"/>
              </a:ext>
            </a:extLst>
          </p:cNvPr>
          <p:cNvSpPr/>
          <p:nvPr/>
        </p:nvSpPr>
        <p:spPr>
          <a:xfrm>
            <a:off x="6324600" y="2387600"/>
            <a:ext cx="127000" cy="1270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4" name="CasellaDiTesto 53">
            <a:extLst>
              <a:ext uri="{FF2B5EF4-FFF2-40B4-BE49-F238E27FC236}">
                <a16:creationId xmlns:a16="http://schemas.microsoft.com/office/drawing/2014/main" id="{854E2AE3-A50B-507E-5891-E1527A5047E8}"/>
              </a:ext>
            </a:extLst>
          </p:cNvPr>
          <p:cNvSpPr txBox="1"/>
          <p:nvPr/>
        </p:nvSpPr>
        <p:spPr>
          <a:xfrm>
            <a:off x="6527800" y="2349500"/>
            <a:ext cx="1422400" cy="190500"/>
          </a:xfrm>
          <a:prstGeom prst="rect">
            <a:avLst/>
          </a:prstGeom>
          <a:noFill/>
        </p:spPr>
        <p:txBody>
          <a:bodyPr vert="horz" wrap="square" lIns="0" tIns="0" rIns="0" bIns="0" rtlCol="0" anchor="t">
            <a:noAutofit/>
          </a:bodyPr>
          <a:lstStyle/>
          <a:p>
            <a:r>
              <a:rPr lang="it-IT" sz="930">
                <a:solidFill>
                  <a:srgbClr val="334155"/>
                </a:solidFill>
                <a:latin typeface="Aptos" panose="020B0004020202020204" pitchFamily="34" charset="0"/>
              </a:rPr>
              <a:t>JSON + datasheet</a:t>
            </a:r>
          </a:p>
        </p:txBody>
      </p:sp>
      <p:sp>
        <p:nvSpPr>
          <p:cNvPr id="55" name="Rettangolo con angoli arrotondati 54">
            <a:extLst>
              <a:ext uri="{FF2B5EF4-FFF2-40B4-BE49-F238E27FC236}">
                <a16:creationId xmlns:a16="http://schemas.microsoft.com/office/drawing/2014/main" id="{99166B6B-9362-DF1F-7932-B0A805DB11CC}"/>
              </a:ext>
            </a:extLst>
          </p:cNvPr>
          <p:cNvSpPr/>
          <p:nvPr/>
        </p:nvSpPr>
        <p:spPr>
          <a:xfrm>
            <a:off x="8140700" y="2387600"/>
            <a:ext cx="127000" cy="1270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6" name="CasellaDiTesto 55">
            <a:extLst>
              <a:ext uri="{FF2B5EF4-FFF2-40B4-BE49-F238E27FC236}">
                <a16:creationId xmlns:a16="http://schemas.microsoft.com/office/drawing/2014/main" id="{43919CF2-5646-362F-927A-900C32B04751}"/>
              </a:ext>
            </a:extLst>
          </p:cNvPr>
          <p:cNvSpPr txBox="1"/>
          <p:nvPr/>
        </p:nvSpPr>
        <p:spPr>
          <a:xfrm>
            <a:off x="8343900" y="2349500"/>
            <a:ext cx="1473200" cy="190500"/>
          </a:xfrm>
          <a:prstGeom prst="rect">
            <a:avLst/>
          </a:prstGeom>
          <a:noFill/>
        </p:spPr>
        <p:txBody>
          <a:bodyPr vert="horz" wrap="square" lIns="0" tIns="0" rIns="0" bIns="0" rtlCol="0" anchor="t">
            <a:noAutofit/>
          </a:bodyPr>
          <a:lstStyle/>
          <a:p>
            <a:r>
              <a:rPr lang="it-IT" sz="930">
                <a:solidFill>
                  <a:srgbClr val="334155"/>
                </a:solidFill>
                <a:latin typeface="Aptos" panose="020B0004020202020204" pitchFamily="34" charset="0"/>
              </a:rPr>
              <a:t>JSON + immagine</a:t>
            </a:r>
          </a:p>
        </p:txBody>
      </p:sp>
      <p:sp>
        <p:nvSpPr>
          <p:cNvPr id="57" name="CasellaDiTesto 56">
            <a:extLst>
              <a:ext uri="{FF2B5EF4-FFF2-40B4-BE49-F238E27FC236}">
                <a16:creationId xmlns:a16="http://schemas.microsoft.com/office/drawing/2014/main" id="{82B081E2-D1DD-CC23-ACB4-2339C9F41F5F}"/>
              </a:ext>
            </a:extLst>
          </p:cNvPr>
          <p:cNvSpPr txBox="1"/>
          <p:nvPr/>
        </p:nvSpPr>
        <p:spPr>
          <a:xfrm>
            <a:off x="6477000" y="2832100"/>
            <a:ext cx="812800" cy="2286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Batch v1</a:t>
            </a:r>
          </a:p>
        </p:txBody>
      </p:sp>
      <p:sp>
        <p:nvSpPr>
          <p:cNvPr id="58" name="Rettangolo con angoli arrotondati 57">
            <a:extLst>
              <a:ext uri="{FF2B5EF4-FFF2-40B4-BE49-F238E27FC236}">
                <a16:creationId xmlns:a16="http://schemas.microsoft.com/office/drawing/2014/main" id="{E8B861AC-605A-D79F-8664-D4539E4E74BC}"/>
              </a:ext>
            </a:extLst>
          </p:cNvPr>
          <p:cNvSpPr/>
          <p:nvPr/>
        </p:nvSpPr>
        <p:spPr>
          <a:xfrm>
            <a:off x="7353300" y="27686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59" name="Rettangolo con angoli arrotondati 58">
            <a:extLst>
              <a:ext uri="{FF2B5EF4-FFF2-40B4-BE49-F238E27FC236}">
                <a16:creationId xmlns:a16="http://schemas.microsoft.com/office/drawing/2014/main" id="{7139DED2-C381-DDB8-5748-61AA7741FE65}"/>
              </a:ext>
            </a:extLst>
          </p:cNvPr>
          <p:cNvSpPr/>
          <p:nvPr/>
        </p:nvSpPr>
        <p:spPr>
          <a:xfrm>
            <a:off x="7353300" y="2768600"/>
            <a:ext cx="2511625" cy="1270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0" name="Rettangolo con angoli arrotondati 59">
            <a:extLst>
              <a:ext uri="{FF2B5EF4-FFF2-40B4-BE49-F238E27FC236}">
                <a16:creationId xmlns:a16="http://schemas.microsoft.com/office/drawing/2014/main" id="{0FC31E5B-7B97-DB3B-52A5-21EB0A4C9DB4}"/>
              </a:ext>
            </a:extLst>
          </p:cNvPr>
          <p:cNvSpPr/>
          <p:nvPr/>
        </p:nvSpPr>
        <p:spPr>
          <a:xfrm>
            <a:off x="7353300" y="29845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1" name="Rettangolo con angoli arrotondati 60">
            <a:extLst>
              <a:ext uri="{FF2B5EF4-FFF2-40B4-BE49-F238E27FC236}">
                <a16:creationId xmlns:a16="http://schemas.microsoft.com/office/drawing/2014/main" id="{CCF0E238-CD96-513D-ACBB-99006F1E8DE2}"/>
              </a:ext>
            </a:extLst>
          </p:cNvPr>
          <p:cNvSpPr/>
          <p:nvPr/>
        </p:nvSpPr>
        <p:spPr>
          <a:xfrm>
            <a:off x="7353300" y="2984500"/>
            <a:ext cx="2554254" cy="1270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2" name="CasellaDiTesto 61">
            <a:extLst>
              <a:ext uri="{FF2B5EF4-FFF2-40B4-BE49-F238E27FC236}">
                <a16:creationId xmlns:a16="http://schemas.microsoft.com/office/drawing/2014/main" id="{8506FF36-2A41-AFF2-6026-5B84CFF11B04}"/>
              </a:ext>
            </a:extLst>
          </p:cNvPr>
          <p:cNvSpPr txBox="1"/>
          <p:nvPr/>
        </p:nvSpPr>
        <p:spPr>
          <a:xfrm>
            <a:off x="10782300" y="2730500"/>
            <a:ext cx="558800" cy="190500"/>
          </a:xfrm>
          <a:prstGeom prst="rect">
            <a:avLst/>
          </a:prstGeom>
          <a:noFill/>
        </p:spPr>
        <p:txBody>
          <a:bodyPr vert="horz" wrap="square" lIns="0" tIns="0" rIns="0" bIns="0" rtlCol="0" anchor="t">
            <a:noAutofit/>
          </a:bodyPr>
          <a:lstStyle/>
          <a:p>
            <a:pPr algn="ctr"/>
            <a:r>
              <a:rPr lang="it-IT" sz="930" b="1">
                <a:solidFill>
                  <a:srgbClr val="2563EB"/>
                </a:solidFill>
                <a:latin typeface="Aptos" panose="020B0004020202020204" pitchFamily="34" charset="0"/>
              </a:rPr>
              <a:t>15,67</a:t>
            </a:r>
          </a:p>
        </p:txBody>
      </p:sp>
      <p:sp>
        <p:nvSpPr>
          <p:cNvPr id="63" name="CasellaDiTesto 62">
            <a:extLst>
              <a:ext uri="{FF2B5EF4-FFF2-40B4-BE49-F238E27FC236}">
                <a16:creationId xmlns:a16="http://schemas.microsoft.com/office/drawing/2014/main" id="{ABBAC561-33E0-BEE6-120C-8591A088BA62}"/>
              </a:ext>
            </a:extLst>
          </p:cNvPr>
          <p:cNvSpPr txBox="1"/>
          <p:nvPr/>
        </p:nvSpPr>
        <p:spPr>
          <a:xfrm>
            <a:off x="10782300" y="2946400"/>
            <a:ext cx="558800" cy="190500"/>
          </a:xfrm>
          <a:prstGeom prst="rect">
            <a:avLst/>
          </a:prstGeom>
          <a:noFill/>
        </p:spPr>
        <p:txBody>
          <a:bodyPr vert="horz" wrap="square" lIns="0" tIns="0" rIns="0" bIns="0" rtlCol="0" anchor="t">
            <a:noAutofit/>
          </a:bodyPr>
          <a:lstStyle/>
          <a:p>
            <a:pPr algn="ctr"/>
            <a:r>
              <a:rPr lang="it-IT" sz="930" b="1">
                <a:solidFill>
                  <a:srgbClr val="8B5CF6"/>
                </a:solidFill>
                <a:latin typeface="Aptos" panose="020B0004020202020204" pitchFamily="34" charset="0"/>
              </a:rPr>
              <a:t>15,94</a:t>
            </a:r>
          </a:p>
        </p:txBody>
      </p:sp>
      <p:sp>
        <p:nvSpPr>
          <p:cNvPr id="64" name="CasellaDiTesto 63">
            <a:extLst>
              <a:ext uri="{FF2B5EF4-FFF2-40B4-BE49-F238E27FC236}">
                <a16:creationId xmlns:a16="http://schemas.microsoft.com/office/drawing/2014/main" id="{7B8F3866-2522-C83E-29DA-6F865BE5D820}"/>
              </a:ext>
            </a:extLst>
          </p:cNvPr>
          <p:cNvSpPr txBox="1"/>
          <p:nvPr/>
        </p:nvSpPr>
        <p:spPr>
          <a:xfrm>
            <a:off x="6477000" y="3517900"/>
            <a:ext cx="812800" cy="228600"/>
          </a:xfrm>
          <a:prstGeom prst="rect">
            <a:avLst/>
          </a:prstGeom>
          <a:noFill/>
        </p:spPr>
        <p:txBody>
          <a:bodyPr vert="horz" wrap="square" lIns="0" tIns="0" rIns="0" bIns="0" rtlCol="0" anchor="t">
            <a:noAutofit/>
          </a:bodyPr>
          <a:lstStyle/>
          <a:p>
            <a:r>
              <a:rPr lang="it-IT" sz="1050" b="1">
                <a:solidFill>
                  <a:srgbClr val="334155"/>
                </a:solidFill>
                <a:latin typeface="Aptos" panose="020B0004020202020204" pitchFamily="34" charset="0"/>
              </a:rPr>
              <a:t>Batch v2</a:t>
            </a:r>
          </a:p>
        </p:txBody>
      </p:sp>
      <p:sp>
        <p:nvSpPr>
          <p:cNvPr id="65" name="Rettangolo con angoli arrotondati 64">
            <a:extLst>
              <a:ext uri="{FF2B5EF4-FFF2-40B4-BE49-F238E27FC236}">
                <a16:creationId xmlns:a16="http://schemas.microsoft.com/office/drawing/2014/main" id="{5BDFC3E2-E98C-A0A2-0431-9D3ACE9464CA}"/>
              </a:ext>
            </a:extLst>
          </p:cNvPr>
          <p:cNvSpPr/>
          <p:nvPr/>
        </p:nvSpPr>
        <p:spPr>
          <a:xfrm>
            <a:off x="7353300" y="34544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6" name="Rettangolo con angoli arrotondati 65">
            <a:extLst>
              <a:ext uri="{FF2B5EF4-FFF2-40B4-BE49-F238E27FC236}">
                <a16:creationId xmlns:a16="http://schemas.microsoft.com/office/drawing/2014/main" id="{E6FA1F82-7940-DA21-6367-FAE452F7E2B3}"/>
              </a:ext>
            </a:extLst>
          </p:cNvPr>
          <p:cNvSpPr/>
          <p:nvPr/>
        </p:nvSpPr>
        <p:spPr>
          <a:xfrm>
            <a:off x="7353300" y="3454400"/>
            <a:ext cx="2393992" cy="1270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7" name="Rettangolo con angoli arrotondati 66">
            <a:extLst>
              <a:ext uri="{FF2B5EF4-FFF2-40B4-BE49-F238E27FC236}">
                <a16:creationId xmlns:a16="http://schemas.microsoft.com/office/drawing/2014/main" id="{28FF861D-6572-E124-3653-BFED1AFA7F5E}"/>
              </a:ext>
            </a:extLst>
          </p:cNvPr>
          <p:cNvSpPr/>
          <p:nvPr/>
        </p:nvSpPr>
        <p:spPr>
          <a:xfrm>
            <a:off x="7353300" y="3670300"/>
            <a:ext cx="3365500" cy="127000"/>
          </a:xfrm>
          <a:prstGeom prst="roundRect">
            <a:avLst/>
          </a:prstGeom>
          <a:solidFill>
            <a:srgbClr val="E2E8F0"/>
          </a:solidFill>
          <a:ln w="12700">
            <a:solidFill>
              <a:srgbClr val="E2E8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8" name="Rettangolo con angoli arrotondati 67">
            <a:extLst>
              <a:ext uri="{FF2B5EF4-FFF2-40B4-BE49-F238E27FC236}">
                <a16:creationId xmlns:a16="http://schemas.microsoft.com/office/drawing/2014/main" id="{75C2E6DF-B428-B6F1-E926-B6B0FF3EDD93}"/>
              </a:ext>
            </a:extLst>
          </p:cNvPr>
          <p:cNvSpPr/>
          <p:nvPr/>
        </p:nvSpPr>
        <p:spPr>
          <a:xfrm>
            <a:off x="7353300" y="3670300"/>
            <a:ext cx="2453930" cy="1270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69" name="CasellaDiTesto 68">
            <a:extLst>
              <a:ext uri="{FF2B5EF4-FFF2-40B4-BE49-F238E27FC236}">
                <a16:creationId xmlns:a16="http://schemas.microsoft.com/office/drawing/2014/main" id="{2831DD3A-A6AD-5098-BE3C-607D6B68620C}"/>
              </a:ext>
            </a:extLst>
          </p:cNvPr>
          <p:cNvSpPr txBox="1"/>
          <p:nvPr/>
        </p:nvSpPr>
        <p:spPr>
          <a:xfrm>
            <a:off x="10782300" y="3416300"/>
            <a:ext cx="558800" cy="190500"/>
          </a:xfrm>
          <a:prstGeom prst="rect">
            <a:avLst/>
          </a:prstGeom>
          <a:noFill/>
        </p:spPr>
        <p:txBody>
          <a:bodyPr vert="horz" wrap="square" lIns="0" tIns="0" rIns="0" bIns="0" rtlCol="0" anchor="t">
            <a:noAutofit/>
          </a:bodyPr>
          <a:lstStyle/>
          <a:p>
            <a:pPr algn="ctr"/>
            <a:r>
              <a:rPr lang="it-IT" sz="930" b="1">
                <a:solidFill>
                  <a:srgbClr val="2563EB"/>
                </a:solidFill>
                <a:latin typeface="Aptos" panose="020B0004020202020204" pitchFamily="34" charset="0"/>
              </a:rPr>
              <a:t>14,94</a:t>
            </a:r>
          </a:p>
        </p:txBody>
      </p:sp>
      <p:sp>
        <p:nvSpPr>
          <p:cNvPr id="70" name="CasellaDiTesto 69">
            <a:extLst>
              <a:ext uri="{FF2B5EF4-FFF2-40B4-BE49-F238E27FC236}">
                <a16:creationId xmlns:a16="http://schemas.microsoft.com/office/drawing/2014/main" id="{745253ED-3A73-8B5E-EC8C-D46F5A7AE8B2}"/>
              </a:ext>
            </a:extLst>
          </p:cNvPr>
          <p:cNvSpPr txBox="1"/>
          <p:nvPr/>
        </p:nvSpPr>
        <p:spPr>
          <a:xfrm>
            <a:off x="10782300" y="3632200"/>
            <a:ext cx="558800" cy="190500"/>
          </a:xfrm>
          <a:prstGeom prst="rect">
            <a:avLst/>
          </a:prstGeom>
          <a:noFill/>
        </p:spPr>
        <p:txBody>
          <a:bodyPr vert="horz" wrap="square" lIns="0" tIns="0" rIns="0" bIns="0" rtlCol="0" anchor="t">
            <a:noAutofit/>
          </a:bodyPr>
          <a:lstStyle/>
          <a:p>
            <a:pPr algn="ctr"/>
            <a:r>
              <a:rPr lang="it-IT" sz="930" b="1">
                <a:solidFill>
                  <a:srgbClr val="8B5CF6"/>
                </a:solidFill>
                <a:latin typeface="Aptos" panose="020B0004020202020204" pitchFamily="34" charset="0"/>
              </a:rPr>
              <a:t>15,31</a:t>
            </a:r>
          </a:p>
        </p:txBody>
      </p:sp>
      <p:sp>
        <p:nvSpPr>
          <p:cNvPr id="71" name="Rettangolo con angoli arrotondati 70">
            <a:extLst>
              <a:ext uri="{FF2B5EF4-FFF2-40B4-BE49-F238E27FC236}">
                <a16:creationId xmlns:a16="http://schemas.microsoft.com/office/drawing/2014/main" id="{A3A1A6E7-E563-2A48-D282-71A88B895AB1}"/>
              </a:ext>
            </a:extLst>
          </p:cNvPr>
          <p:cNvSpPr/>
          <p:nvPr/>
        </p:nvSpPr>
        <p:spPr>
          <a:xfrm>
            <a:off x="6350000" y="4165600"/>
            <a:ext cx="1549400" cy="317500"/>
          </a:xfrm>
          <a:prstGeom prst="roundRect">
            <a:avLst/>
          </a:prstGeom>
          <a:solidFill>
            <a:srgbClr val="10B981"/>
          </a:solidFill>
          <a:ln w="12700">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Delta score +0,32</a:t>
            </a:r>
          </a:p>
        </p:txBody>
      </p:sp>
      <p:sp>
        <p:nvSpPr>
          <p:cNvPr id="72" name="Rettangolo con angoli arrotondati 71">
            <a:extLst>
              <a:ext uri="{FF2B5EF4-FFF2-40B4-BE49-F238E27FC236}">
                <a16:creationId xmlns:a16="http://schemas.microsoft.com/office/drawing/2014/main" id="{7A0D125A-400F-0158-DBB9-4CEE854A0735}"/>
              </a:ext>
            </a:extLst>
          </p:cNvPr>
          <p:cNvSpPr/>
          <p:nvPr/>
        </p:nvSpPr>
        <p:spPr>
          <a:xfrm>
            <a:off x="8026400" y="4165600"/>
            <a:ext cx="1409700" cy="317500"/>
          </a:xfrm>
          <a:prstGeom prst="roundRect">
            <a:avLst/>
          </a:prstGeom>
          <a:solidFill>
            <a:srgbClr val="2563EB"/>
          </a:solidFill>
          <a:ln w="12700">
            <a:solidFill>
              <a:srgbClr val="2563EB"/>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Top-1 +3,9 pp</a:t>
            </a:r>
          </a:p>
        </p:txBody>
      </p:sp>
      <p:sp>
        <p:nvSpPr>
          <p:cNvPr id="73" name="Rettangolo con angoli arrotondati 72">
            <a:extLst>
              <a:ext uri="{FF2B5EF4-FFF2-40B4-BE49-F238E27FC236}">
                <a16:creationId xmlns:a16="http://schemas.microsoft.com/office/drawing/2014/main" id="{0004EEBA-57A4-417E-3951-ECDAE6E38928}"/>
              </a:ext>
            </a:extLst>
          </p:cNvPr>
          <p:cNvSpPr/>
          <p:nvPr/>
        </p:nvSpPr>
        <p:spPr>
          <a:xfrm>
            <a:off x="9563100" y="4165600"/>
            <a:ext cx="1422400" cy="317500"/>
          </a:xfrm>
          <a:prstGeom prst="roundRect">
            <a:avLst/>
          </a:prstGeom>
          <a:solidFill>
            <a:srgbClr val="8B5CF6"/>
          </a:solidFill>
          <a:ln w="12700">
            <a:solidFill>
              <a:srgbClr val="8B5CF6"/>
            </a:solidFill>
          </a:ln>
        </p:spPr>
        <p:style>
          <a:lnRef idx="2">
            <a:schemeClr val="accent1">
              <a:shade val="15000"/>
            </a:schemeClr>
          </a:lnRef>
          <a:fillRef idx="1">
            <a:schemeClr val="accent1"/>
          </a:fillRef>
          <a:effectRef idx="0">
            <a:schemeClr val="accent1"/>
          </a:effectRef>
          <a:fontRef idx="minor">
            <a:schemeClr val="lt1"/>
          </a:fontRef>
        </p:style>
        <p:txBody>
          <a:bodyPr lIns="50800" tIns="12700" rIns="50800" bIns="12700" rtlCol="0" anchor="ctr"/>
          <a:lstStyle/>
          <a:p>
            <a:pPr algn="ctr"/>
            <a:r>
              <a:rPr lang="it-IT" sz="970" b="1">
                <a:solidFill>
                  <a:srgbClr val="FFFFFF"/>
                </a:solidFill>
                <a:latin typeface="Aptos" panose="020B0004020202020204" pitchFamily="34" charset="0"/>
              </a:rPr>
              <a:t>Top-3 85,2%</a:t>
            </a:r>
          </a:p>
        </p:txBody>
      </p:sp>
      <p:sp>
        <p:nvSpPr>
          <p:cNvPr id="74" name="CasellaDiTesto 73">
            <a:extLst>
              <a:ext uri="{FF2B5EF4-FFF2-40B4-BE49-F238E27FC236}">
                <a16:creationId xmlns:a16="http://schemas.microsoft.com/office/drawing/2014/main" id="{A687929C-2C31-64B2-7053-AAF695DAE2D4}"/>
              </a:ext>
            </a:extLst>
          </p:cNvPr>
          <p:cNvSpPr txBox="1"/>
          <p:nvPr/>
        </p:nvSpPr>
        <p:spPr>
          <a:xfrm>
            <a:off x="6350000" y="4660900"/>
            <a:ext cx="4635500" cy="177800"/>
          </a:xfrm>
          <a:prstGeom prst="rect">
            <a:avLst/>
          </a:prstGeom>
          <a:noFill/>
        </p:spPr>
        <p:txBody>
          <a:bodyPr vert="horz" wrap="square" lIns="0" tIns="0" rIns="0" bIns="0" rtlCol="0" anchor="t">
            <a:noAutofit/>
          </a:bodyPr>
          <a:lstStyle/>
          <a:p>
            <a:r>
              <a:rPr lang="it-IT" sz="950" b="1">
                <a:solidFill>
                  <a:srgbClr val="64748B"/>
                </a:solidFill>
                <a:latin typeface="Aptos" panose="020B0004020202020204" pitchFamily="34" charset="0"/>
              </a:rPr>
              <a:t>Migliore qualità: GPT-5.4 = 19,13/21; i modelli mini riducono il costo.</a:t>
            </a:r>
          </a:p>
        </p:txBody>
      </p:sp>
      <p:sp>
        <p:nvSpPr>
          <p:cNvPr id="75" name="Rettangolo con angoli arrotondati 74">
            <a:extLst>
              <a:ext uri="{FF2B5EF4-FFF2-40B4-BE49-F238E27FC236}">
                <a16:creationId xmlns:a16="http://schemas.microsoft.com/office/drawing/2014/main" id="{6602DBE2-9C52-CC90-B1EB-240A042F2822}"/>
              </a:ext>
            </a:extLst>
          </p:cNvPr>
          <p:cNvSpPr/>
          <p:nvPr/>
        </p:nvSpPr>
        <p:spPr>
          <a:xfrm>
            <a:off x="698500" y="5181600"/>
            <a:ext cx="10795000" cy="914400"/>
          </a:xfrm>
          <a:prstGeom prst="roundRect">
            <a:avLst/>
          </a:prstGeom>
          <a:solidFill>
            <a:srgbClr val="ECFDF5"/>
          </a:solidFill>
          <a:ln w="12700">
            <a:solidFill>
              <a:srgbClr val="BBF7D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6" name="CasellaDiTesto 75">
            <a:extLst>
              <a:ext uri="{FF2B5EF4-FFF2-40B4-BE49-F238E27FC236}">
                <a16:creationId xmlns:a16="http://schemas.microsoft.com/office/drawing/2014/main" id="{E577A2C8-5B50-0508-6836-580289AF9253}"/>
              </a:ext>
            </a:extLst>
          </p:cNvPr>
          <p:cNvSpPr txBox="1"/>
          <p:nvPr/>
        </p:nvSpPr>
        <p:spPr>
          <a:xfrm>
            <a:off x="952500" y="5372100"/>
            <a:ext cx="1816100" cy="203200"/>
          </a:xfrm>
          <a:prstGeom prst="rect">
            <a:avLst/>
          </a:prstGeom>
          <a:noFill/>
        </p:spPr>
        <p:txBody>
          <a:bodyPr vert="horz" wrap="square" lIns="0" tIns="0" rIns="0" bIns="0" rtlCol="0" anchor="t">
            <a:noAutofit/>
          </a:bodyPr>
          <a:lstStyle/>
          <a:p>
            <a:r>
              <a:rPr lang="it-IT" sz="1080" b="1">
                <a:solidFill>
                  <a:srgbClr val="059669"/>
                </a:solidFill>
                <a:latin typeface="Aptos" panose="020B0004020202020204" pitchFamily="34" charset="0"/>
              </a:rPr>
              <a:t>MESSAGGIO CHIAVE</a:t>
            </a:r>
          </a:p>
        </p:txBody>
      </p:sp>
      <p:sp>
        <p:nvSpPr>
          <p:cNvPr id="77" name="CasellaDiTesto 76">
            <a:extLst>
              <a:ext uri="{FF2B5EF4-FFF2-40B4-BE49-F238E27FC236}">
                <a16:creationId xmlns:a16="http://schemas.microsoft.com/office/drawing/2014/main" id="{9D6E242B-CAE5-E3AC-560E-487C2B3C357B}"/>
              </a:ext>
            </a:extLst>
          </p:cNvPr>
          <p:cNvSpPr txBox="1"/>
          <p:nvPr/>
        </p:nvSpPr>
        <p:spPr>
          <a:xfrm>
            <a:off x="2705100" y="5321300"/>
            <a:ext cx="8458200" cy="431800"/>
          </a:xfrm>
          <a:prstGeom prst="rect">
            <a:avLst/>
          </a:prstGeom>
          <a:noFill/>
        </p:spPr>
        <p:txBody>
          <a:bodyPr vert="horz" wrap="square" lIns="0" tIns="0" rIns="0" bIns="0" rtlCol="0" anchor="t">
            <a:noAutofit/>
          </a:bodyPr>
          <a:lstStyle/>
          <a:p>
            <a:r>
              <a:rPr lang="it-IT" sz="1120" b="1">
                <a:solidFill>
                  <a:srgbClr val="334155"/>
                </a:solidFill>
                <a:latin typeface="Aptos" panose="020B0004020202020204" pitchFamily="34" charset="0"/>
              </a:rPr>
              <a:t>Il Graph JSON conserva già gran parte dell'informazione necessaria al troubleshooting. L'immagine è complementare: può aiutare, essere neutra o introdurre rumore a seconda del circuito e del modello.</a:t>
            </a:r>
          </a:p>
        </p:txBody>
      </p:sp>
      <p:sp>
        <p:nvSpPr>
          <p:cNvPr id="78" name="CasellaDiTesto 77">
            <a:extLst>
              <a:ext uri="{FF2B5EF4-FFF2-40B4-BE49-F238E27FC236}">
                <a16:creationId xmlns:a16="http://schemas.microsoft.com/office/drawing/2014/main" id="{7C93F238-FC65-C7B1-F1FB-90F94B71F36B}"/>
              </a:ext>
            </a:extLst>
          </p:cNvPr>
          <p:cNvSpPr txBox="1"/>
          <p:nvPr/>
        </p:nvSpPr>
        <p:spPr>
          <a:xfrm>
            <a:off x="2705100" y="5816600"/>
            <a:ext cx="8458200" cy="165100"/>
          </a:xfrm>
          <a:prstGeom prst="rect">
            <a:avLst/>
          </a:prstGeom>
          <a:noFill/>
        </p:spPr>
        <p:txBody>
          <a:bodyPr vert="horz" wrap="square" lIns="0" tIns="0" rIns="0" bIns="0" rtlCol="0" anchor="t">
            <a:noAutofit/>
          </a:bodyPr>
          <a:lstStyle/>
          <a:p>
            <a:r>
              <a:rPr lang="it-IT" sz="880">
                <a:solidFill>
                  <a:srgbClr val="64748B"/>
                </a:solidFill>
                <a:latin typeface="Aptos" panose="020B0004020202020204" pitchFamily="34" charset="0"/>
              </a:rPr>
              <a:t>Limite: un solo judge e una sola run per combinazione; benchmark uniforme, non validazione statistica multi-rater.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pic>
        <p:nvPicPr>
          <p:cNvPr id="45" name="Picture 4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Pipeline 2.0: Graph JSON → SPICE</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Trasformare il grafo in netlist simulabile e contesto diagnostico</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09</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1268590" y="1689681"/>
            <a:ext cx="146304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INPUT</a:t>
            </a:r>
            <a:endParaRPr lang="en-US" sz="1200" dirty="0"/>
          </a:p>
        </p:txBody>
      </p:sp>
      <p:sp>
        <p:nvSpPr>
          <p:cNvPr id="9" name="Shape 7"/>
          <p:cNvSpPr/>
          <p:nvPr/>
        </p:nvSpPr>
        <p:spPr>
          <a:xfrm>
            <a:off x="1268590" y="2073729"/>
            <a:ext cx="2148840" cy="502920"/>
          </a:xfrm>
          <a:prstGeom prst="roundRect">
            <a:avLst>
              <a:gd name="adj" fmla="val 14545"/>
            </a:avLst>
          </a:prstGeom>
          <a:solidFill>
            <a:srgbClr val="10B981"/>
          </a:solidFill>
          <a:ln w="12700">
            <a:solidFill>
              <a:srgbClr val="10B981"/>
            </a:solidFill>
            <a:prstDash val="solid"/>
          </a:ln>
        </p:spPr>
        <p:txBody>
          <a:bodyPr/>
          <a:lstStyle/>
          <a:p>
            <a:endParaRPr lang="it-IT"/>
          </a:p>
        </p:txBody>
      </p:sp>
      <p:sp>
        <p:nvSpPr>
          <p:cNvPr id="10" name="Text 8"/>
          <p:cNvSpPr/>
          <p:nvPr/>
        </p:nvSpPr>
        <p:spPr>
          <a:xfrm>
            <a:off x="1341742" y="2146881"/>
            <a:ext cx="2002536" cy="35661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Graph JSON</a:t>
            </a:r>
            <a:endParaRPr lang="en-US" sz="1200" dirty="0"/>
          </a:p>
          <a:p>
            <a:pPr marL="0" indent="0" algn="ctr">
              <a:buNone/>
            </a:pPr>
            <a:r>
              <a:rPr lang="en-US" sz="920" b="1" dirty="0">
                <a:solidFill>
                  <a:srgbClr val="FFFFFF"/>
                </a:solidFill>
                <a:latin typeface="Aptos" pitchFamily="34" charset="0"/>
                <a:ea typeface="Aptos" pitchFamily="34" charset="-122"/>
                <a:cs typeface="Aptos" pitchFamily="34" charset="-120"/>
              </a:rPr>
              <a:t>componenti + terminali + wire</a:t>
            </a:r>
            <a:endParaRPr lang="en-US" sz="920" dirty="0"/>
          </a:p>
        </p:txBody>
      </p:sp>
      <p:sp>
        <p:nvSpPr>
          <p:cNvPr id="11" name="Shape 9"/>
          <p:cNvSpPr/>
          <p:nvPr/>
        </p:nvSpPr>
        <p:spPr>
          <a:xfrm>
            <a:off x="1268590" y="2823537"/>
            <a:ext cx="2148840" cy="502920"/>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2" name="Text 10"/>
          <p:cNvSpPr/>
          <p:nvPr/>
        </p:nvSpPr>
        <p:spPr>
          <a:xfrm>
            <a:off x="1341742" y="2896689"/>
            <a:ext cx="2002536" cy="35661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values.yaml</a:t>
            </a:r>
            <a:endParaRPr lang="en-US" sz="1200" dirty="0"/>
          </a:p>
          <a:p>
            <a:pPr marL="0" indent="0" algn="ctr">
              <a:buNone/>
            </a:pPr>
            <a:r>
              <a:rPr lang="en-US" sz="920" b="1" dirty="0">
                <a:solidFill>
                  <a:srgbClr val="FFFFFF"/>
                </a:solidFill>
                <a:latin typeface="Aptos" pitchFamily="34" charset="0"/>
                <a:ea typeface="Aptos" pitchFamily="34" charset="-122"/>
                <a:cs typeface="Aptos" pitchFamily="34" charset="-120"/>
              </a:rPr>
              <a:t>valori e assunzioni dichiarate</a:t>
            </a:r>
            <a:endParaRPr lang="en-US" sz="920" dirty="0"/>
          </a:p>
        </p:txBody>
      </p:sp>
      <p:sp>
        <p:nvSpPr>
          <p:cNvPr id="13" name="Shape 11"/>
          <p:cNvSpPr/>
          <p:nvPr/>
        </p:nvSpPr>
        <p:spPr>
          <a:xfrm>
            <a:off x="1268590" y="3573345"/>
            <a:ext cx="2148840" cy="502920"/>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4" name="Text 12"/>
          <p:cNvSpPr/>
          <p:nvPr/>
        </p:nvSpPr>
        <p:spPr>
          <a:xfrm>
            <a:off x="1341742" y="3646497"/>
            <a:ext cx="2002536" cy="356616"/>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SPICE YAML</a:t>
            </a:r>
            <a:endParaRPr lang="en-US" sz="1200" dirty="0"/>
          </a:p>
          <a:p>
            <a:pPr marL="0" indent="0" algn="ctr">
              <a:buNone/>
            </a:pPr>
            <a:r>
              <a:rPr lang="en-US" sz="920" b="1" dirty="0">
                <a:solidFill>
                  <a:srgbClr val="FFFFFF"/>
                </a:solidFill>
                <a:latin typeface="Aptos" pitchFamily="34" charset="0"/>
                <a:ea typeface="Aptos" pitchFamily="34" charset="-122"/>
                <a:cs typeface="Aptos" pitchFamily="34" charset="-120"/>
              </a:rPr>
              <a:t>classi, modelli, override</a:t>
            </a:r>
            <a:endParaRPr lang="en-US" sz="920" dirty="0"/>
          </a:p>
        </p:txBody>
      </p:sp>
      <p:sp>
        <p:nvSpPr>
          <p:cNvPr id="15" name="Shape 13"/>
          <p:cNvSpPr/>
          <p:nvPr/>
        </p:nvSpPr>
        <p:spPr>
          <a:xfrm>
            <a:off x="3591166" y="2832681"/>
            <a:ext cx="658368" cy="0"/>
          </a:xfrm>
          <a:prstGeom prst="line">
            <a:avLst/>
          </a:prstGeom>
          <a:noFill/>
          <a:ln w="17780">
            <a:solidFill>
              <a:srgbClr val="64748B"/>
            </a:solidFill>
            <a:prstDash val="solid"/>
            <a:tailEnd type="triangle"/>
          </a:ln>
        </p:spPr>
        <p:txBody>
          <a:bodyPr/>
          <a:lstStyle/>
          <a:p>
            <a:endParaRPr lang="it-IT"/>
          </a:p>
        </p:txBody>
      </p:sp>
      <p:sp>
        <p:nvSpPr>
          <p:cNvPr id="16" name="Text 14"/>
          <p:cNvSpPr/>
          <p:nvPr/>
        </p:nvSpPr>
        <p:spPr>
          <a:xfrm>
            <a:off x="4350118" y="1689681"/>
            <a:ext cx="201168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STEP TECNICI</a:t>
            </a:r>
            <a:endParaRPr lang="en-US" sz="1200" dirty="0"/>
          </a:p>
        </p:txBody>
      </p:sp>
      <p:sp>
        <p:nvSpPr>
          <p:cNvPr id="17" name="Shape 15"/>
          <p:cNvSpPr/>
          <p:nvPr/>
        </p:nvSpPr>
        <p:spPr>
          <a:xfrm>
            <a:off x="4350118" y="2055441"/>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18" name="Text 16"/>
          <p:cNvSpPr/>
          <p:nvPr/>
        </p:nvSpPr>
        <p:spPr>
          <a:xfrm>
            <a:off x="4423270" y="2142309"/>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01  io</a:t>
            </a:r>
            <a:endParaRPr lang="en-US" sz="1100" dirty="0"/>
          </a:p>
        </p:txBody>
      </p:sp>
      <p:sp>
        <p:nvSpPr>
          <p:cNvPr id="19" name="Shape 17"/>
          <p:cNvSpPr/>
          <p:nvPr/>
        </p:nvSpPr>
        <p:spPr>
          <a:xfrm>
            <a:off x="5776582" y="2055441"/>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0" name="Text 18"/>
          <p:cNvSpPr/>
          <p:nvPr/>
        </p:nvSpPr>
        <p:spPr>
          <a:xfrm>
            <a:off x="5849734" y="2142309"/>
            <a:ext cx="1060704" cy="109728"/>
          </a:xfrm>
          <a:prstGeom prst="rect">
            <a:avLst/>
          </a:prstGeom>
          <a:noFill/>
          <a:ln/>
        </p:spPr>
        <p:txBody>
          <a:bodyPr wrap="square" lIns="0" tIns="0" rIns="0" bIns="0" rtlCol="0" anchor="ctr">
            <a:noAutofit/>
          </a:bodyPr>
          <a:lstStyle/>
          <a:p>
            <a:pPr marL="0" indent="0">
              <a:buNone/>
            </a:pPr>
            <a:r>
              <a:rPr lang="en-US" sz="1000" dirty="0">
                <a:solidFill>
                  <a:srgbClr val="0B1320"/>
                </a:solidFill>
                <a:latin typeface="Courier New" pitchFamily="34" charset="0"/>
                <a:ea typeface="Courier New" pitchFamily="34" charset="-122"/>
                <a:cs typeface="Courier New" pitchFamily="34" charset="-120"/>
              </a:rPr>
              <a:t>02  normalize</a:t>
            </a:r>
            <a:endParaRPr lang="en-US" sz="1000" dirty="0"/>
          </a:p>
        </p:txBody>
      </p:sp>
      <p:sp>
        <p:nvSpPr>
          <p:cNvPr id="21" name="Shape 19"/>
          <p:cNvSpPr/>
          <p:nvPr/>
        </p:nvSpPr>
        <p:spPr>
          <a:xfrm>
            <a:off x="4350118" y="2585793"/>
            <a:ext cx="1207008" cy="310896"/>
          </a:xfrm>
          <a:prstGeom prst="roundRect">
            <a:avLst>
              <a:gd name="adj" fmla="val 11765"/>
            </a:avLst>
          </a:prstGeom>
          <a:solidFill>
            <a:srgbClr val="FFFFFF"/>
          </a:solidFill>
          <a:ln w="10160">
            <a:solidFill>
              <a:srgbClr val="CBD5E1"/>
            </a:solidFill>
            <a:prstDash val="solid"/>
          </a:ln>
        </p:spPr>
        <p:txBody>
          <a:bodyPr/>
          <a:lstStyle/>
          <a:p>
            <a:endParaRPr lang="it-IT" dirty="0"/>
          </a:p>
        </p:txBody>
      </p:sp>
      <p:sp>
        <p:nvSpPr>
          <p:cNvPr id="22" name="Text 20"/>
          <p:cNvSpPr/>
          <p:nvPr/>
        </p:nvSpPr>
        <p:spPr>
          <a:xfrm>
            <a:off x="4423270" y="2672661"/>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03  node map</a:t>
            </a:r>
            <a:endParaRPr lang="en-US" sz="1100" dirty="0"/>
          </a:p>
        </p:txBody>
      </p:sp>
      <p:sp>
        <p:nvSpPr>
          <p:cNvPr id="23" name="Shape 21"/>
          <p:cNvSpPr/>
          <p:nvPr/>
        </p:nvSpPr>
        <p:spPr>
          <a:xfrm>
            <a:off x="5776582" y="2585793"/>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4" name="Text 22"/>
          <p:cNvSpPr/>
          <p:nvPr/>
        </p:nvSpPr>
        <p:spPr>
          <a:xfrm>
            <a:off x="5849734" y="2672661"/>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04  values</a:t>
            </a:r>
            <a:endParaRPr lang="en-US" sz="1100" dirty="0"/>
          </a:p>
        </p:txBody>
      </p:sp>
      <p:sp>
        <p:nvSpPr>
          <p:cNvPr id="25" name="Shape 23"/>
          <p:cNvSpPr/>
          <p:nvPr/>
        </p:nvSpPr>
        <p:spPr>
          <a:xfrm>
            <a:off x="4350118" y="3116145"/>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6" name="Text 24"/>
          <p:cNvSpPr/>
          <p:nvPr/>
        </p:nvSpPr>
        <p:spPr>
          <a:xfrm>
            <a:off x="4423270" y="3203013"/>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06  rules</a:t>
            </a:r>
            <a:endParaRPr lang="en-US" sz="1100" dirty="0"/>
          </a:p>
        </p:txBody>
      </p:sp>
      <p:sp>
        <p:nvSpPr>
          <p:cNvPr id="27" name="Shape 25"/>
          <p:cNvSpPr/>
          <p:nvPr/>
        </p:nvSpPr>
        <p:spPr>
          <a:xfrm>
            <a:off x="5776582" y="3116145"/>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28" name="Text 26"/>
          <p:cNvSpPr/>
          <p:nvPr/>
        </p:nvSpPr>
        <p:spPr>
          <a:xfrm>
            <a:off x="5849734" y="3203013"/>
            <a:ext cx="1060704" cy="109728"/>
          </a:xfrm>
          <a:prstGeom prst="rect">
            <a:avLst/>
          </a:prstGeom>
          <a:noFill/>
          <a:ln/>
        </p:spPr>
        <p:txBody>
          <a:bodyPr wrap="square" lIns="0" tIns="0" rIns="0" bIns="0" rtlCol="0" anchor="ctr">
            <a:noAutofit/>
          </a:bodyPr>
          <a:lstStyle/>
          <a:p>
            <a:pPr marL="0" indent="0">
              <a:buNone/>
            </a:pPr>
            <a:r>
              <a:rPr lang="en-US" sz="900" dirty="0">
                <a:solidFill>
                  <a:srgbClr val="0B1320"/>
                </a:solidFill>
                <a:latin typeface="Courier New" pitchFamily="34" charset="0"/>
                <a:ea typeface="Courier New" pitchFamily="34" charset="-122"/>
                <a:cs typeface="Courier New" pitchFamily="34" charset="-120"/>
              </a:rPr>
              <a:t>07  spice emit</a:t>
            </a:r>
            <a:endParaRPr lang="en-US" sz="900" dirty="0"/>
          </a:p>
        </p:txBody>
      </p:sp>
      <p:sp>
        <p:nvSpPr>
          <p:cNvPr id="29" name="Shape 27"/>
          <p:cNvSpPr/>
          <p:nvPr/>
        </p:nvSpPr>
        <p:spPr>
          <a:xfrm>
            <a:off x="4350118" y="3646497"/>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30" name="Text 28"/>
          <p:cNvSpPr/>
          <p:nvPr/>
        </p:nvSpPr>
        <p:spPr>
          <a:xfrm>
            <a:off x="4423270" y="3733365"/>
            <a:ext cx="1060704" cy="109728"/>
          </a:xfrm>
          <a:prstGeom prst="rect">
            <a:avLst/>
          </a:prstGeom>
          <a:noFill/>
          <a:ln/>
        </p:spPr>
        <p:txBody>
          <a:bodyPr wrap="square" lIns="0" tIns="0" rIns="0" bIns="0" rtlCol="0" anchor="ctr">
            <a:noAutofit/>
          </a:bodyPr>
          <a:lstStyle/>
          <a:p>
            <a:pPr marL="0" indent="0">
              <a:buNone/>
            </a:pPr>
            <a:r>
              <a:rPr lang="en-US" sz="1100" dirty="0">
                <a:solidFill>
                  <a:srgbClr val="0B1320"/>
                </a:solidFill>
                <a:latin typeface="Courier New" pitchFamily="34" charset="0"/>
                <a:ea typeface="Courier New" pitchFamily="34" charset="-122"/>
                <a:cs typeface="Courier New" pitchFamily="34" charset="-120"/>
              </a:rPr>
              <a:t>08  ngspice</a:t>
            </a:r>
            <a:endParaRPr lang="en-US" sz="1100" dirty="0"/>
          </a:p>
        </p:txBody>
      </p:sp>
      <p:sp>
        <p:nvSpPr>
          <p:cNvPr id="31" name="Shape 29"/>
          <p:cNvSpPr/>
          <p:nvPr/>
        </p:nvSpPr>
        <p:spPr>
          <a:xfrm>
            <a:off x="5776582" y="3646497"/>
            <a:ext cx="1207008" cy="310896"/>
          </a:xfrm>
          <a:prstGeom prst="roundRect">
            <a:avLst>
              <a:gd name="adj" fmla="val 11765"/>
            </a:avLst>
          </a:prstGeom>
          <a:solidFill>
            <a:srgbClr val="FFFFFF"/>
          </a:solidFill>
          <a:ln w="10160">
            <a:solidFill>
              <a:srgbClr val="CBD5E1"/>
            </a:solidFill>
            <a:prstDash val="solid"/>
          </a:ln>
        </p:spPr>
        <p:txBody>
          <a:bodyPr/>
          <a:lstStyle/>
          <a:p>
            <a:endParaRPr lang="it-IT"/>
          </a:p>
        </p:txBody>
      </p:sp>
      <p:sp>
        <p:nvSpPr>
          <p:cNvPr id="32" name="Text 30"/>
          <p:cNvSpPr/>
          <p:nvPr/>
        </p:nvSpPr>
        <p:spPr>
          <a:xfrm>
            <a:off x="5849734" y="3733365"/>
            <a:ext cx="1060704" cy="109728"/>
          </a:xfrm>
          <a:prstGeom prst="rect">
            <a:avLst/>
          </a:prstGeom>
          <a:noFill/>
          <a:ln/>
        </p:spPr>
        <p:txBody>
          <a:bodyPr wrap="square" lIns="0" tIns="0" rIns="0" bIns="0" rtlCol="0" anchor="ctr">
            <a:noAutofit/>
          </a:bodyPr>
          <a:lstStyle/>
          <a:p>
            <a:pPr marL="0" indent="0">
              <a:buNone/>
            </a:pPr>
            <a:r>
              <a:rPr lang="en-US" sz="1200" dirty="0">
                <a:solidFill>
                  <a:srgbClr val="0B1320"/>
                </a:solidFill>
                <a:latin typeface="Courier New" pitchFamily="34" charset="0"/>
                <a:ea typeface="Courier New" pitchFamily="34" charset="-122"/>
                <a:cs typeface="Courier New" pitchFamily="34" charset="-120"/>
              </a:rPr>
              <a:t>10  context</a:t>
            </a:r>
            <a:endParaRPr lang="en-US" sz="1200" dirty="0"/>
          </a:p>
        </p:txBody>
      </p:sp>
      <p:sp>
        <p:nvSpPr>
          <p:cNvPr id="33" name="Shape 31"/>
          <p:cNvSpPr/>
          <p:nvPr/>
        </p:nvSpPr>
        <p:spPr>
          <a:xfrm>
            <a:off x="7303630" y="2832681"/>
            <a:ext cx="585216" cy="0"/>
          </a:xfrm>
          <a:prstGeom prst="line">
            <a:avLst/>
          </a:prstGeom>
          <a:noFill/>
          <a:ln w="17780">
            <a:solidFill>
              <a:srgbClr val="64748B"/>
            </a:solidFill>
            <a:prstDash val="solid"/>
            <a:tailEnd type="triangle"/>
          </a:ln>
        </p:spPr>
        <p:txBody>
          <a:bodyPr/>
          <a:lstStyle/>
          <a:p>
            <a:endParaRPr lang="it-IT"/>
          </a:p>
        </p:txBody>
      </p:sp>
      <p:sp>
        <p:nvSpPr>
          <p:cNvPr id="34" name="Text 32"/>
          <p:cNvSpPr/>
          <p:nvPr/>
        </p:nvSpPr>
        <p:spPr>
          <a:xfrm>
            <a:off x="8007718" y="1689681"/>
            <a:ext cx="182880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OUTPUT</a:t>
            </a:r>
            <a:endParaRPr lang="en-US" sz="1200" dirty="0"/>
          </a:p>
        </p:txBody>
      </p:sp>
      <p:sp>
        <p:nvSpPr>
          <p:cNvPr id="35" name="Shape 33"/>
          <p:cNvSpPr/>
          <p:nvPr/>
        </p:nvSpPr>
        <p:spPr>
          <a:xfrm>
            <a:off x="8007718" y="2037153"/>
            <a:ext cx="2377440" cy="438912"/>
          </a:xfrm>
          <a:prstGeom prst="roundRect">
            <a:avLst>
              <a:gd name="adj" fmla="val 16667"/>
            </a:avLst>
          </a:prstGeom>
          <a:solidFill>
            <a:srgbClr val="8B5CF6"/>
          </a:solidFill>
          <a:ln w="12700">
            <a:solidFill>
              <a:srgbClr val="8B5CF6"/>
            </a:solidFill>
            <a:prstDash val="solid"/>
          </a:ln>
        </p:spPr>
        <p:txBody>
          <a:bodyPr/>
          <a:lstStyle/>
          <a:p>
            <a:endParaRPr lang="it-IT"/>
          </a:p>
        </p:txBody>
      </p:sp>
      <p:sp>
        <p:nvSpPr>
          <p:cNvPr id="36" name="Text 34"/>
          <p:cNvSpPr/>
          <p:nvPr/>
        </p:nvSpPr>
        <p:spPr>
          <a:xfrm>
            <a:off x="8080870" y="2110305"/>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07_netlist.cir</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netlist SPICE</a:t>
            </a:r>
            <a:endParaRPr lang="en-US" sz="880" dirty="0"/>
          </a:p>
        </p:txBody>
      </p:sp>
      <p:sp>
        <p:nvSpPr>
          <p:cNvPr id="37" name="Shape 35"/>
          <p:cNvSpPr/>
          <p:nvPr/>
        </p:nvSpPr>
        <p:spPr>
          <a:xfrm>
            <a:off x="8007718" y="2649801"/>
            <a:ext cx="2377440" cy="438912"/>
          </a:xfrm>
          <a:prstGeom prst="roundRect">
            <a:avLst>
              <a:gd name="adj" fmla="val 16667"/>
            </a:avLst>
          </a:prstGeom>
          <a:solidFill>
            <a:srgbClr val="8B5CF6"/>
          </a:solidFill>
          <a:ln w="12700">
            <a:solidFill>
              <a:srgbClr val="8B5CF6"/>
            </a:solidFill>
            <a:prstDash val="solid"/>
          </a:ln>
        </p:spPr>
        <p:txBody>
          <a:bodyPr/>
          <a:lstStyle/>
          <a:p>
            <a:endParaRPr lang="it-IT"/>
          </a:p>
        </p:txBody>
      </p:sp>
      <p:sp>
        <p:nvSpPr>
          <p:cNvPr id="38" name="Text 36"/>
          <p:cNvSpPr/>
          <p:nvPr/>
        </p:nvSpPr>
        <p:spPr>
          <a:xfrm>
            <a:off x="8080870" y="2722953"/>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08_tran.csv</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forme d’onda</a:t>
            </a:r>
            <a:endParaRPr lang="en-US" sz="880" dirty="0"/>
          </a:p>
        </p:txBody>
      </p:sp>
      <p:sp>
        <p:nvSpPr>
          <p:cNvPr id="39" name="Shape 37"/>
          <p:cNvSpPr/>
          <p:nvPr/>
        </p:nvSpPr>
        <p:spPr>
          <a:xfrm>
            <a:off x="8007718" y="3262449"/>
            <a:ext cx="2377440" cy="438912"/>
          </a:xfrm>
          <a:prstGeom prst="roundRect">
            <a:avLst>
              <a:gd name="adj" fmla="val 16667"/>
            </a:avLst>
          </a:prstGeom>
          <a:solidFill>
            <a:srgbClr val="10B981"/>
          </a:solidFill>
          <a:ln w="12700">
            <a:solidFill>
              <a:srgbClr val="10B981"/>
            </a:solidFill>
            <a:prstDash val="solid"/>
          </a:ln>
        </p:spPr>
        <p:txBody>
          <a:bodyPr/>
          <a:lstStyle/>
          <a:p>
            <a:endParaRPr lang="it-IT"/>
          </a:p>
        </p:txBody>
      </p:sp>
      <p:sp>
        <p:nvSpPr>
          <p:cNvPr id="40" name="Text 38"/>
          <p:cNvSpPr/>
          <p:nvPr/>
        </p:nvSpPr>
        <p:spPr>
          <a:xfrm>
            <a:off x="8080870" y="3335601"/>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10_context.json</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pacchetto per agente</a:t>
            </a:r>
            <a:endParaRPr lang="en-US" sz="880" dirty="0"/>
          </a:p>
        </p:txBody>
      </p:sp>
      <p:sp>
        <p:nvSpPr>
          <p:cNvPr id="41" name="Shape 39"/>
          <p:cNvSpPr/>
          <p:nvPr/>
        </p:nvSpPr>
        <p:spPr>
          <a:xfrm>
            <a:off x="8007718" y="3875097"/>
            <a:ext cx="2377440" cy="438912"/>
          </a:xfrm>
          <a:prstGeom prst="roundRect">
            <a:avLst>
              <a:gd name="adj" fmla="val 16667"/>
            </a:avLst>
          </a:prstGeom>
          <a:solidFill>
            <a:srgbClr val="10B981"/>
          </a:solidFill>
          <a:ln w="12700">
            <a:solidFill>
              <a:srgbClr val="10B981"/>
            </a:solidFill>
            <a:prstDash val="solid"/>
          </a:ln>
        </p:spPr>
        <p:txBody>
          <a:bodyPr/>
          <a:lstStyle/>
          <a:p>
            <a:endParaRPr lang="it-IT"/>
          </a:p>
        </p:txBody>
      </p:sp>
      <p:sp>
        <p:nvSpPr>
          <p:cNvPr id="42" name="Text 40"/>
          <p:cNvSpPr/>
          <p:nvPr/>
        </p:nvSpPr>
        <p:spPr>
          <a:xfrm>
            <a:off x="8080870" y="3948249"/>
            <a:ext cx="2231136" cy="292608"/>
          </a:xfrm>
          <a:prstGeom prst="rect">
            <a:avLst/>
          </a:prstGeom>
          <a:noFill/>
          <a:ln/>
        </p:spPr>
        <p:txBody>
          <a:bodyPr wrap="square" lIns="0" tIns="0" rIns="0" bIns="0" rtlCol="0" anchor="ctr">
            <a:normAutofit lnSpcReduction="10000"/>
          </a:bodyPr>
          <a:lstStyle/>
          <a:p>
            <a:pPr marL="0" indent="0" algn="ctr">
              <a:buNone/>
            </a:pPr>
            <a:r>
              <a:rPr lang="en-US" sz="1200" b="1" dirty="0">
                <a:solidFill>
                  <a:srgbClr val="FFFFFF"/>
                </a:solidFill>
                <a:latin typeface="Aptos" pitchFamily="34" charset="0"/>
                <a:ea typeface="Aptos" pitchFamily="34" charset="-122"/>
                <a:cs typeface="Aptos" pitchFamily="34" charset="-120"/>
              </a:rPr>
              <a:t>viewer 13–15</a:t>
            </a:r>
            <a:endParaRPr lang="en-US" sz="1200" dirty="0"/>
          </a:p>
          <a:p>
            <a:pPr marL="0" indent="0" algn="ctr">
              <a:buNone/>
            </a:pPr>
            <a:r>
              <a:rPr lang="en-US" sz="880" b="1" dirty="0">
                <a:solidFill>
                  <a:srgbClr val="FFFFFF"/>
                </a:solidFill>
                <a:latin typeface="Aptos" pitchFamily="34" charset="0"/>
                <a:ea typeface="Aptos" pitchFamily="34" charset="-122"/>
                <a:cs typeface="Aptos" pitchFamily="34" charset="-120"/>
              </a:rPr>
              <a:t>schema equivalente</a:t>
            </a:r>
            <a:endParaRPr lang="en-US" sz="880" dirty="0"/>
          </a:p>
        </p:txBody>
      </p:sp>
      <p:sp>
        <p:nvSpPr>
          <p:cNvPr id="43" name="Shape 41"/>
          <p:cNvSpPr/>
          <p:nvPr/>
        </p:nvSpPr>
        <p:spPr>
          <a:xfrm>
            <a:off x="822960" y="5166360"/>
            <a:ext cx="10287000" cy="676656"/>
          </a:xfrm>
          <a:prstGeom prst="roundRect">
            <a:avLst>
              <a:gd name="adj" fmla="val 8108"/>
            </a:avLst>
          </a:prstGeom>
          <a:solidFill>
            <a:srgbClr val="0B1320"/>
          </a:solidFill>
          <a:ln w="12700">
            <a:solidFill>
              <a:srgbClr val="0B1320"/>
            </a:solidFill>
            <a:prstDash val="solid"/>
          </a:ln>
        </p:spPr>
        <p:txBody>
          <a:bodyPr/>
          <a:lstStyle/>
          <a:p>
            <a:endParaRPr lang="it-IT"/>
          </a:p>
        </p:txBody>
      </p:sp>
      <p:sp>
        <p:nvSpPr>
          <p:cNvPr id="44" name="Text 42"/>
          <p:cNvSpPr/>
          <p:nvPr/>
        </p:nvSpPr>
        <p:spPr>
          <a:xfrm>
            <a:off x="1024128" y="5385816"/>
            <a:ext cx="9784080" cy="201168"/>
          </a:xfrm>
          <a:prstGeom prst="rect">
            <a:avLst/>
          </a:prstGeom>
          <a:noFill/>
          <a:ln/>
        </p:spPr>
        <p:txBody>
          <a:bodyPr wrap="square" lIns="0" tIns="0" rIns="0" bIns="0" rtlCol="0" anchor="ctr">
            <a:normAutofit fontScale="92500"/>
          </a:bodyPr>
          <a:lstStyle/>
          <a:p>
            <a:pPr marL="0" indent="0">
              <a:buNone/>
            </a:pPr>
            <a:r>
              <a:rPr lang="en-US" sz="1300" b="1" dirty="0">
                <a:solidFill>
                  <a:srgbClr val="FFFFFF"/>
                </a:solidFill>
                <a:latin typeface="Aptos" pitchFamily="34" charset="0"/>
                <a:ea typeface="Aptos" pitchFamily="34" charset="-122"/>
                <a:cs typeface="Aptos" pitchFamily="34" charset="-120"/>
              </a:rPr>
              <a:t>Regola ingegneristica: la pipeline non inventa collegamenti o modelli. Se qualcosa manca, viene dichiarato come warning o assunzione.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pic>
        <p:nvPicPr>
          <p:cNvPr id="47" name="Picture 46"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Scenari controllati e viewer visuale</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Ogni ipotesi diagnostica produce una run separata e confrontabile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10</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13232" y="1353312"/>
            <a:ext cx="237744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RUNTIME SCENARIO</a:t>
            </a:r>
            <a:endParaRPr lang="en-US" sz="1200" dirty="0"/>
          </a:p>
        </p:txBody>
      </p:sp>
      <p:sp>
        <p:nvSpPr>
          <p:cNvPr id="9" name="Shape 7"/>
          <p:cNvSpPr/>
          <p:nvPr/>
        </p:nvSpPr>
        <p:spPr>
          <a:xfrm>
            <a:off x="777240" y="1874520"/>
            <a:ext cx="155448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0" name="Text 8"/>
          <p:cNvSpPr/>
          <p:nvPr/>
        </p:nvSpPr>
        <p:spPr>
          <a:xfrm>
            <a:off x="850392"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scenario.json</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azione proposta</a:t>
            </a:r>
            <a:endParaRPr lang="en-US" sz="1200" dirty="0"/>
          </a:p>
        </p:txBody>
      </p:sp>
      <p:sp>
        <p:nvSpPr>
          <p:cNvPr id="11" name="Shape 9"/>
          <p:cNvSpPr/>
          <p:nvPr/>
        </p:nvSpPr>
        <p:spPr>
          <a:xfrm>
            <a:off x="2368296" y="2157984"/>
            <a:ext cx="420624" cy="0"/>
          </a:xfrm>
          <a:prstGeom prst="line">
            <a:avLst/>
          </a:prstGeom>
          <a:noFill/>
          <a:ln w="14605">
            <a:solidFill>
              <a:srgbClr val="64748B"/>
            </a:solidFill>
            <a:prstDash val="solid"/>
            <a:tailEnd type="triangle"/>
          </a:ln>
        </p:spPr>
        <p:txBody>
          <a:bodyPr/>
          <a:lstStyle/>
          <a:p>
            <a:endParaRPr lang="it-IT"/>
          </a:p>
        </p:txBody>
      </p:sp>
      <p:sp>
        <p:nvSpPr>
          <p:cNvPr id="12" name="Shape 10"/>
          <p:cNvSpPr/>
          <p:nvPr/>
        </p:nvSpPr>
        <p:spPr>
          <a:xfrm>
            <a:off x="2907792" y="1874520"/>
            <a:ext cx="155448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3" name="Text 11"/>
          <p:cNvSpPr/>
          <p:nvPr/>
        </p:nvSpPr>
        <p:spPr>
          <a:xfrm>
            <a:off x="2980944"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base snapshot</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copia immutabile</a:t>
            </a:r>
            <a:endParaRPr lang="en-US" sz="1200" dirty="0"/>
          </a:p>
        </p:txBody>
      </p:sp>
      <p:sp>
        <p:nvSpPr>
          <p:cNvPr id="14" name="Shape 12"/>
          <p:cNvSpPr/>
          <p:nvPr/>
        </p:nvSpPr>
        <p:spPr>
          <a:xfrm>
            <a:off x="4498848" y="2157984"/>
            <a:ext cx="420624" cy="0"/>
          </a:xfrm>
          <a:prstGeom prst="line">
            <a:avLst/>
          </a:prstGeom>
          <a:noFill/>
          <a:ln w="14605">
            <a:solidFill>
              <a:srgbClr val="64748B"/>
            </a:solidFill>
            <a:prstDash val="solid"/>
            <a:tailEnd type="triangle"/>
          </a:ln>
        </p:spPr>
        <p:txBody>
          <a:bodyPr/>
          <a:lstStyle/>
          <a:p>
            <a:endParaRPr lang="it-IT"/>
          </a:p>
        </p:txBody>
      </p:sp>
      <p:sp>
        <p:nvSpPr>
          <p:cNvPr id="15" name="Shape 13"/>
          <p:cNvSpPr/>
          <p:nvPr/>
        </p:nvSpPr>
        <p:spPr>
          <a:xfrm>
            <a:off x="5038344" y="1874520"/>
            <a:ext cx="155448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6" name="Text 14"/>
          <p:cNvSpPr/>
          <p:nvPr/>
        </p:nvSpPr>
        <p:spPr>
          <a:xfrm>
            <a:off x="5111496"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run SPICE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netlist alternativa</a:t>
            </a:r>
            <a:endParaRPr lang="en-US" sz="1200" dirty="0"/>
          </a:p>
        </p:txBody>
      </p:sp>
      <p:sp>
        <p:nvSpPr>
          <p:cNvPr id="17" name="Shape 15"/>
          <p:cNvSpPr/>
          <p:nvPr/>
        </p:nvSpPr>
        <p:spPr>
          <a:xfrm>
            <a:off x="6629400" y="2157984"/>
            <a:ext cx="420624" cy="0"/>
          </a:xfrm>
          <a:prstGeom prst="line">
            <a:avLst/>
          </a:prstGeom>
          <a:noFill/>
          <a:ln w="14605">
            <a:solidFill>
              <a:srgbClr val="64748B"/>
            </a:solidFill>
            <a:prstDash val="solid"/>
            <a:tailEnd type="triangle"/>
          </a:ln>
        </p:spPr>
        <p:txBody>
          <a:bodyPr/>
          <a:lstStyle/>
          <a:p>
            <a:endParaRPr lang="it-IT"/>
          </a:p>
        </p:txBody>
      </p:sp>
      <p:sp>
        <p:nvSpPr>
          <p:cNvPr id="18" name="Shape 16"/>
          <p:cNvSpPr/>
          <p:nvPr/>
        </p:nvSpPr>
        <p:spPr>
          <a:xfrm>
            <a:off x="7168896" y="1874520"/>
            <a:ext cx="155448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9" name="Text 17"/>
          <p:cNvSpPr/>
          <p:nvPr/>
        </p:nvSpPr>
        <p:spPr>
          <a:xfrm>
            <a:off x="7242048"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comparison</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base vs scenario</a:t>
            </a:r>
            <a:endParaRPr lang="en-US" sz="1200" dirty="0"/>
          </a:p>
        </p:txBody>
      </p:sp>
      <p:sp>
        <p:nvSpPr>
          <p:cNvPr id="20" name="Shape 18"/>
          <p:cNvSpPr/>
          <p:nvPr/>
        </p:nvSpPr>
        <p:spPr>
          <a:xfrm>
            <a:off x="8759952" y="2157984"/>
            <a:ext cx="420624" cy="0"/>
          </a:xfrm>
          <a:prstGeom prst="line">
            <a:avLst/>
          </a:prstGeom>
          <a:noFill/>
          <a:ln w="14605">
            <a:solidFill>
              <a:srgbClr val="64748B"/>
            </a:solidFill>
            <a:prstDash val="solid"/>
            <a:tailEnd type="triangle"/>
          </a:ln>
        </p:spPr>
        <p:txBody>
          <a:bodyPr/>
          <a:lstStyle/>
          <a:p>
            <a:endParaRPr lang="it-IT"/>
          </a:p>
        </p:txBody>
      </p:sp>
      <p:sp>
        <p:nvSpPr>
          <p:cNvPr id="21" name="Shape 19"/>
          <p:cNvSpPr/>
          <p:nvPr/>
        </p:nvSpPr>
        <p:spPr>
          <a:xfrm>
            <a:off x="9299448" y="1874520"/>
            <a:ext cx="1554480" cy="566928"/>
          </a:xfrm>
          <a:prstGeom prst="roundRect">
            <a:avLst>
              <a:gd name="adj" fmla="val 12903"/>
            </a:avLst>
          </a:prstGeom>
          <a:solidFill>
            <a:srgbClr val="8B5CF6"/>
          </a:solidFill>
          <a:ln w="12700">
            <a:solidFill>
              <a:srgbClr val="8B5CF6"/>
            </a:solidFill>
            <a:prstDash val="solid"/>
          </a:ln>
        </p:spPr>
        <p:txBody>
          <a:bodyPr/>
          <a:lstStyle/>
          <a:p>
            <a:endParaRPr lang="it-IT"/>
          </a:p>
        </p:txBody>
      </p:sp>
      <p:sp>
        <p:nvSpPr>
          <p:cNvPr id="22" name="Text 20"/>
          <p:cNvSpPr/>
          <p:nvPr/>
        </p:nvSpPr>
        <p:spPr>
          <a:xfrm>
            <a:off x="9372600" y="1947672"/>
            <a:ext cx="140817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viewer</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SVG interattivo</a:t>
            </a:r>
            <a:endParaRPr lang="en-US" sz="1200" dirty="0"/>
          </a:p>
        </p:txBody>
      </p:sp>
      <p:sp>
        <p:nvSpPr>
          <p:cNvPr id="23" name="Text 21"/>
          <p:cNvSpPr/>
          <p:nvPr/>
        </p:nvSpPr>
        <p:spPr>
          <a:xfrm>
            <a:off x="713232" y="3630168"/>
            <a:ext cx="237744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PRIMITIVE VALIDATE</a:t>
            </a:r>
            <a:endParaRPr lang="en-US" sz="1200" dirty="0"/>
          </a:p>
        </p:txBody>
      </p:sp>
      <p:sp>
        <p:nvSpPr>
          <p:cNvPr id="24" name="Text 22"/>
          <p:cNvSpPr/>
          <p:nvPr/>
        </p:nvSpPr>
        <p:spPr>
          <a:xfrm>
            <a:off x="749808" y="3977640"/>
            <a:ext cx="2194560" cy="182880"/>
          </a:xfrm>
          <a:prstGeom prst="rect">
            <a:avLst/>
          </a:prstGeom>
          <a:noFill/>
          <a:ln/>
        </p:spPr>
        <p:txBody>
          <a:bodyPr wrap="square" lIns="0" tIns="0" rIns="0" bIns="0" rtlCol="0" anchor="ctr"/>
          <a:lstStyle/>
          <a:p>
            <a:pPr marL="0" indent="0">
              <a:buNone/>
            </a:pPr>
            <a:r>
              <a:rPr lang="en-US" sz="1400" b="1" dirty="0">
                <a:solidFill>
                  <a:srgbClr val="0B1320"/>
                </a:solidFill>
              </a:rPr>
              <a:t>Stato / valori</a:t>
            </a:r>
            <a:endParaRPr lang="en-US" sz="1400" dirty="0"/>
          </a:p>
        </p:txBody>
      </p:sp>
      <p:sp>
        <p:nvSpPr>
          <p:cNvPr id="25" name="Shape 23"/>
          <p:cNvSpPr/>
          <p:nvPr/>
        </p:nvSpPr>
        <p:spPr>
          <a:xfrm>
            <a:off x="749808" y="4315968"/>
            <a:ext cx="2606040" cy="256032"/>
          </a:xfrm>
          <a:prstGeom prst="roundRect">
            <a:avLst>
              <a:gd name="adj" fmla="val 28571"/>
            </a:avLst>
          </a:prstGeom>
          <a:solidFill>
            <a:srgbClr val="2563EB">
              <a:alpha val="92000"/>
            </a:srgbClr>
          </a:solidFill>
          <a:ln w="12700">
            <a:solidFill>
              <a:srgbClr val="2563EB">
                <a:alpha val="0"/>
              </a:srgbClr>
            </a:solidFill>
            <a:prstDash val="solid"/>
          </a:ln>
        </p:spPr>
        <p:txBody>
          <a:bodyPr/>
          <a:lstStyle/>
          <a:p>
            <a:endParaRPr lang="it-IT"/>
          </a:p>
        </p:txBody>
      </p:sp>
      <p:sp>
        <p:nvSpPr>
          <p:cNvPr id="26" name="Text 24"/>
          <p:cNvSpPr/>
          <p:nvPr/>
        </p:nvSpPr>
        <p:spPr>
          <a:xfrm>
            <a:off x="822960" y="4368089"/>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close_switch</a:t>
            </a:r>
            <a:endParaRPr lang="en-US" sz="1200" dirty="0"/>
          </a:p>
        </p:txBody>
      </p:sp>
      <p:sp>
        <p:nvSpPr>
          <p:cNvPr id="27" name="Shape 25"/>
          <p:cNvSpPr/>
          <p:nvPr/>
        </p:nvSpPr>
        <p:spPr>
          <a:xfrm>
            <a:off x="749808" y="4700016"/>
            <a:ext cx="2606040" cy="256032"/>
          </a:xfrm>
          <a:prstGeom prst="roundRect">
            <a:avLst>
              <a:gd name="adj" fmla="val 28571"/>
            </a:avLst>
          </a:prstGeom>
          <a:solidFill>
            <a:srgbClr val="2563EB">
              <a:alpha val="92000"/>
            </a:srgbClr>
          </a:solidFill>
          <a:ln w="12700">
            <a:solidFill>
              <a:srgbClr val="2563EB">
                <a:alpha val="0"/>
              </a:srgbClr>
            </a:solidFill>
            <a:prstDash val="solid"/>
          </a:ln>
        </p:spPr>
        <p:txBody>
          <a:bodyPr/>
          <a:lstStyle/>
          <a:p>
            <a:endParaRPr lang="it-IT"/>
          </a:p>
        </p:txBody>
      </p:sp>
      <p:sp>
        <p:nvSpPr>
          <p:cNvPr id="28" name="Text 26"/>
          <p:cNvSpPr/>
          <p:nvPr/>
        </p:nvSpPr>
        <p:spPr>
          <a:xfrm>
            <a:off x="822960" y="4752137"/>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change_source_value</a:t>
            </a:r>
            <a:endParaRPr lang="en-US" sz="1200" dirty="0"/>
          </a:p>
        </p:txBody>
      </p:sp>
      <p:sp>
        <p:nvSpPr>
          <p:cNvPr id="29" name="Shape 27"/>
          <p:cNvSpPr/>
          <p:nvPr/>
        </p:nvSpPr>
        <p:spPr>
          <a:xfrm>
            <a:off x="749808" y="5084064"/>
            <a:ext cx="2606040" cy="256032"/>
          </a:xfrm>
          <a:prstGeom prst="roundRect">
            <a:avLst>
              <a:gd name="adj" fmla="val 28571"/>
            </a:avLst>
          </a:prstGeom>
          <a:solidFill>
            <a:srgbClr val="2563EB">
              <a:alpha val="92000"/>
            </a:srgbClr>
          </a:solidFill>
          <a:ln w="12700">
            <a:solidFill>
              <a:srgbClr val="2563EB">
                <a:alpha val="0"/>
              </a:srgbClr>
            </a:solidFill>
            <a:prstDash val="solid"/>
          </a:ln>
        </p:spPr>
        <p:txBody>
          <a:bodyPr/>
          <a:lstStyle/>
          <a:p>
            <a:endParaRPr lang="it-IT"/>
          </a:p>
        </p:txBody>
      </p:sp>
      <p:sp>
        <p:nvSpPr>
          <p:cNvPr id="30" name="Text 28"/>
          <p:cNvSpPr/>
          <p:nvPr/>
        </p:nvSpPr>
        <p:spPr>
          <a:xfrm>
            <a:off x="822960" y="5136185"/>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change_component_value</a:t>
            </a:r>
            <a:endParaRPr lang="en-US" sz="1200" dirty="0"/>
          </a:p>
        </p:txBody>
      </p:sp>
      <p:sp>
        <p:nvSpPr>
          <p:cNvPr id="31" name="Text 29"/>
          <p:cNvSpPr/>
          <p:nvPr/>
        </p:nvSpPr>
        <p:spPr>
          <a:xfrm>
            <a:off x="4453128" y="3977640"/>
            <a:ext cx="2194560" cy="182880"/>
          </a:xfrm>
          <a:prstGeom prst="rect">
            <a:avLst/>
          </a:prstGeom>
          <a:noFill/>
          <a:ln/>
        </p:spPr>
        <p:txBody>
          <a:bodyPr wrap="square" lIns="0" tIns="0" rIns="0" bIns="0" rtlCol="0" anchor="ctr"/>
          <a:lstStyle/>
          <a:p>
            <a:pPr marL="0" indent="0">
              <a:buNone/>
            </a:pPr>
            <a:r>
              <a:rPr lang="en-US" sz="1400" b="1" dirty="0">
                <a:solidFill>
                  <a:srgbClr val="0B1320"/>
                </a:solidFill>
              </a:rPr>
              <a:t>Topologia</a:t>
            </a:r>
            <a:endParaRPr lang="en-US" sz="1400" dirty="0"/>
          </a:p>
        </p:txBody>
      </p:sp>
      <p:sp>
        <p:nvSpPr>
          <p:cNvPr id="32" name="Shape 30"/>
          <p:cNvSpPr/>
          <p:nvPr/>
        </p:nvSpPr>
        <p:spPr>
          <a:xfrm>
            <a:off x="4453128" y="4315968"/>
            <a:ext cx="260604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33" name="Text 31"/>
          <p:cNvSpPr/>
          <p:nvPr/>
        </p:nvSpPr>
        <p:spPr>
          <a:xfrm>
            <a:off x="4526280" y="4368089"/>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connect_nodes</a:t>
            </a:r>
            <a:endParaRPr lang="en-US" sz="1200" dirty="0"/>
          </a:p>
        </p:txBody>
      </p:sp>
      <p:sp>
        <p:nvSpPr>
          <p:cNvPr id="34" name="Shape 32"/>
          <p:cNvSpPr/>
          <p:nvPr/>
        </p:nvSpPr>
        <p:spPr>
          <a:xfrm>
            <a:off x="4453128" y="4700016"/>
            <a:ext cx="260604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35" name="Text 33"/>
          <p:cNvSpPr/>
          <p:nvPr/>
        </p:nvSpPr>
        <p:spPr>
          <a:xfrm>
            <a:off x="4526280" y="4752137"/>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feed_nodes_from_source_node</a:t>
            </a:r>
            <a:endParaRPr lang="en-US" sz="1200" dirty="0"/>
          </a:p>
        </p:txBody>
      </p:sp>
      <p:sp>
        <p:nvSpPr>
          <p:cNvPr id="36" name="Shape 34"/>
          <p:cNvSpPr/>
          <p:nvPr/>
        </p:nvSpPr>
        <p:spPr>
          <a:xfrm>
            <a:off x="4453128" y="5084064"/>
            <a:ext cx="2606040" cy="256032"/>
          </a:xfrm>
          <a:prstGeom prst="roundRect">
            <a:avLst>
              <a:gd name="adj" fmla="val 28571"/>
            </a:avLst>
          </a:prstGeom>
          <a:solidFill>
            <a:srgbClr val="10B981">
              <a:alpha val="92000"/>
            </a:srgbClr>
          </a:solidFill>
          <a:ln w="12700">
            <a:solidFill>
              <a:srgbClr val="10B981">
                <a:alpha val="0"/>
              </a:srgbClr>
            </a:solidFill>
            <a:prstDash val="solid"/>
          </a:ln>
        </p:spPr>
        <p:txBody>
          <a:bodyPr/>
          <a:lstStyle/>
          <a:p>
            <a:endParaRPr lang="it-IT"/>
          </a:p>
        </p:txBody>
      </p:sp>
      <p:sp>
        <p:nvSpPr>
          <p:cNvPr id="37" name="Text 35"/>
          <p:cNvSpPr/>
          <p:nvPr/>
        </p:nvSpPr>
        <p:spPr>
          <a:xfrm>
            <a:off x="4526280" y="5136185"/>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add_resistor_between_nodes</a:t>
            </a:r>
            <a:endParaRPr lang="en-US" sz="1200" dirty="0"/>
          </a:p>
        </p:txBody>
      </p:sp>
      <p:sp>
        <p:nvSpPr>
          <p:cNvPr id="38" name="Text 36"/>
          <p:cNvSpPr/>
          <p:nvPr/>
        </p:nvSpPr>
        <p:spPr>
          <a:xfrm>
            <a:off x="8156448" y="3977640"/>
            <a:ext cx="2194560" cy="182880"/>
          </a:xfrm>
          <a:prstGeom prst="rect">
            <a:avLst/>
          </a:prstGeom>
          <a:noFill/>
          <a:ln/>
        </p:spPr>
        <p:txBody>
          <a:bodyPr wrap="square" lIns="0" tIns="0" rIns="0" bIns="0" rtlCol="0" anchor="ctr"/>
          <a:lstStyle/>
          <a:p>
            <a:pPr marL="0" indent="0">
              <a:buNone/>
            </a:pPr>
            <a:r>
              <a:rPr lang="en-US" sz="1400" b="1" dirty="0">
                <a:solidFill>
                  <a:srgbClr val="0B1320"/>
                </a:solidFill>
              </a:rPr>
              <a:t>Stimoli / </a:t>
            </a:r>
            <a:r>
              <a:rPr lang="en-US" sz="1400" b="1" dirty="0" err="1">
                <a:solidFill>
                  <a:srgbClr val="0B1320"/>
                </a:solidFill>
              </a:rPr>
              <a:t>transitori</a:t>
            </a:r>
            <a:endParaRPr lang="en-US" sz="1400" dirty="0"/>
          </a:p>
        </p:txBody>
      </p:sp>
      <p:sp>
        <p:nvSpPr>
          <p:cNvPr id="39" name="Shape 37"/>
          <p:cNvSpPr/>
          <p:nvPr/>
        </p:nvSpPr>
        <p:spPr>
          <a:xfrm>
            <a:off x="8156448" y="4315968"/>
            <a:ext cx="2606040" cy="256032"/>
          </a:xfrm>
          <a:prstGeom prst="roundRect">
            <a:avLst>
              <a:gd name="adj" fmla="val 28571"/>
            </a:avLst>
          </a:prstGeom>
          <a:solidFill>
            <a:srgbClr val="8B5CF6">
              <a:alpha val="92000"/>
            </a:srgbClr>
          </a:solidFill>
          <a:ln w="12700">
            <a:solidFill>
              <a:srgbClr val="8B5CF6">
                <a:alpha val="0"/>
              </a:srgbClr>
            </a:solidFill>
            <a:prstDash val="solid"/>
          </a:ln>
        </p:spPr>
        <p:txBody>
          <a:bodyPr/>
          <a:lstStyle/>
          <a:p>
            <a:endParaRPr lang="it-IT"/>
          </a:p>
        </p:txBody>
      </p:sp>
      <p:sp>
        <p:nvSpPr>
          <p:cNvPr id="40" name="Text 38"/>
          <p:cNvSpPr/>
          <p:nvPr/>
        </p:nvSpPr>
        <p:spPr>
          <a:xfrm>
            <a:off x="8229600" y="4368089"/>
            <a:ext cx="2459736" cy="118872"/>
          </a:xfrm>
          <a:prstGeom prst="rect">
            <a:avLst/>
          </a:prstGeom>
          <a:noFill/>
          <a:ln/>
        </p:spPr>
        <p:txBody>
          <a:bodyPr wrap="square" lIns="0" tIns="0" rIns="0" bIns="0" rtlCol="0" anchor="ctr"/>
          <a:lstStyle/>
          <a:p>
            <a:pPr marL="0" indent="0" algn="ctr">
              <a:buNone/>
            </a:pPr>
            <a:r>
              <a:rPr lang="en-US" sz="1100" b="1" dirty="0">
                <a:solidFill>
                  <a:srgbClr val="FFFFFF"/>
                </a:solidFill>
                <a:latin typeface="Aptos" pitchFamily="34" charset="0"/>
                <a:ea typeface="Aptos" pitchFamily="34" charset="-122"/>
                <a:cs typeface="Aptos" pitchFamily="34" charset="-120"/>
              </a:rPr>
              <a:t>add_voltage_source_between_nodes</a:t>
            </a:r>
            <a:endParaRPr lang="en-US" sz="1100" dirty="0"/>
          </a:p>
        </p:txBody>
      </p:sp>
      <p:sp>
        <p:nvSpPr>
          <p:cNvPr id="41" name="Shape 39"/>
          <p:cNvSpPr/>
          <p:nvPr/>
        </p:nvSpPr>
        <p:spPr>
          <a:xfrm>
            <a:off x="8156448" y="4700016"/>
            <a:ext cx="2606040" cy="256032"/>
          </a:xfrm>
          <a:prstGeom prst="roundRect">
            <a:avLst>
              <a:gd name="adj" fmla="val 28571"/>
            </a:avLst>
          </a:prstGeom>
          <a:solidFill>
            <a:srgbClr val="8B5CF6">
              <a:alpha val="92000"/>
            </a:srgbClr>
          </a:solidFill>
          <a:ln w="12700">
            <a:solidFill>
              <a:srgbClr val="8B5CF6">
                <a:alpha val="0"/>
              </a:srgbClr>
            </a:solidFill>
            <a:prstDash val="solid"/>
          </a:ln>
        </p:spPr>
        <p:txBody>
          <a:bodyPr/>
          <a:lstStyle/>
          <a:p>
            <a:endParaRPr lang="it-IT"/>
          </a:p>
        </p:txBody>
      </p:sp>
      <p:sp>
        <p:nvSpPr>
          <p:cNvPr id="42" name="Text 40"/>
          <p:cNvSpPr/>
          <p:nvPr/>
        </p:nvSpPr>
        <p:spPr>
          <a:xfrm>
            <a:off x="8229600" y="4752137"/>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drive_node_voltage</a:t>
            </a:r>
            <a:endParaRPr lang="en-US" sz="1200" dirty="0"/>
          </a:p>
        </p:txBody>
      </p:sp>
      <p:sp>
        <p:nvSpPr>
          <p:cNvPr id="43" name="Shape 41"/>
          <p:cNvSpPr/>
          <p:nvPr/>
        </p:nvSpPr>
        <p:spPr>
          <a:xfrm>
            <a:off x="8156448" y="5084064"/>
            <a:ext cx="2606040" cy="256032"/>
          </a:xfrm>
          <a:prstGeom prst="roundRect">
            <a:avLst>
              <a:gd name="adj" fmla="val 28571"/>
            </a:avLst>
          </a:prstGeom>
          <a:solidFill>
            <a:srgbClr val="8B5CF6">
              <a:alpha val="92000"/>
            </a:srgbClr>
          </a:solidFill>
          <a:ln w="12700">
            <a:solidFill>
              <a:srgbClr val="8B5CF6">
                <a:alpha val="0"/>
              </a:srgbClr>
            </a:solidFill>
            <a:prstDash val="solid"/>
          </a:ln>
        </p:spPr>
        <p:txBody>
          <a:bodyPr/>
          <a:lstStyle/>
          <a:p>
            <a:endParaRPr lang="it-IT"/>
          </a:p>
        </p:txBody>
      </p:sp>
      <p:sp>
        <p:nvSpPr>
          <p:cNvPr id="44" name="Text 42"/>
          <p:cNvSpPr/>
          <p:nvPr/>
        </p:nvSpPr>
        <p:spPr>
          <a:xfrm>
            <a:off x="8229600" y="5136185"/>
            <a:ext cx="2459736" cy="118872"/>
          </a:xfrm>
          <a:prstGeom prst="rect">
            <a:avLst/>
          </a:prstGeom>
          <a:noFill/>
          <a:ln/>
        </p:spPr>
        <p:txBody>
          <a:bodyPr wrap="square" lIns="0" tIns="0" rIns="0" bIns="0" rtlCol="0" anchor="ctr"/>
          <a:lstStyle/>
          <a:p>
            <a:pPr marL="0" indent="0" algn="ctr">
              <a:buNone/>
            </a:pPr>
            <a:r>
              <a:rPr lang="en-US" sz="1200" b="1" dirty="0">
                <a:solidFill>
                  <a:srgbClr val="FFFFFF"/>
                </a:solidFill>
                <a:latin typeface="Aptos" pitchFamily="34" charset="0"/>
                <a:ea typeface="Aptos" pitchFamily="34" charset="-122"/>
                <a:cs typeface="Aptos" pitchFamily="34" charset="-120"/>
              </a:rPr>
              <a:t>set_initial_node_voltage</a:t>
            </a:r>
            <a:endParaRPr lang="en-US" sz="1200" dirty="0"/>
          </a:p>
        </p:txBody>
      </p:sp>
      <p:sp>
        <p:nvSpPr>
          <p:cNvPr id="46" name="Text 44"/>
          <p:cNvSpPr/>
          <p:nvPr/>
        </p:nvSpPr>
        <p:spPr>
          <a:xfrm>
            <a:off x="1060704" y="5715000"/>
            <a:ext cx="9966960" cy="128016"/>
          </a:xfrm>
          <a:prstGeom prst="rect">
            <a:avLst/>
          </a:prstGeom>
          <a:noFill/>
          <a:ln/>
        </p:spPr>
        <p:txBody>
          <a:bodyPr wrap="square" lIns="0" tIns="0" rIns="0" bIns="0" rtlCol="0" anchor="ctr">
            <a:normAutofit fontScale="92500" lnSpcReduction="20000"/>
          </a:bodyPr>
          <a:lstStyle/>
          <a:p>
            <a:pPr marL="0" indent="0">
              <a:buNone/>
            </a:pPr>
            <a:endParaRPr lang="en-US" sz="109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pic>
        <p:nvPicPr>
          <p:cNvPr id="35" name="Picture 34"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Modalità CHAT: diagnosi guidata</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L’utente sceglie quali scenari eseguire, la pipeline conserva ogni decisione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11</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49808" y="1353312"/>
            <a:ext cx="2103120" cy="201168"/>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FLUSSO OPERATIVO</a:t>
            </a:r>
            <a:endParaRPr lang="en-US" sz="1200" dirty="0"/>
          </a:p>
        </p:txBody>
      </p:sp>
      <p:sp>
        <p:nvSpPr>
          <p:cNvPr id="9" name="Shape 7"/>
          <p:cNvSpPr/>
          <p:nvPr/>
        </p:nvSpPr>
        <p:spPr>
          <a:xfrm>
            <a:off x="658368" y="1874520"/>
            <a:ext cx="141732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0" name="Text 8"/>
          <p:cNvSpPr/>
          <p:nvPr/>
        </p:nvSpPr>
        <p:spPr>
          <a:xfrm>
            <a:off x="731520"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Sintomo utente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domanda naturale</a:t>
            </a:r>
            <a:endParaRPr lang="en-US" sz="1200" dirty="0"/>
          </a:p>
        </p:txBody>
      </p:sp>
      <p:sp>
        <p:nvSpPr>
          <p:cNvPr id="11" name="Shape 9"/>
          <p:cNvSpPr/>
          <p:nvPr/>
        </p:nvSpPr>
        <p:spPr>
          <a:xfrm>
            <a:off x="2112264" y="2157984"/>
            <a:ext cx="310896" cy="0"/>
          </a:xfrm>
          <a:prstGeom prst="line">
            <a:avLst/>
          </a:prstGeom>
          <a:noFill/>
          <a:ln w="13335">
            <a:solidFill>
              <a:srgbClr val="64748B"/>
            </a:solidFill>
            <a:prstDash val="solid"/>
            <a:tailEnd type="triangle"/>
          </a:ln>
        </p:spPr>
        <p:txBody>
          <a:bodyPr/>
          <a:lstStyle/>
          <a:p>
            <a:endParaRPr lang="it-IT"/>
          </a:p>
        </p:txBody>
      </p:sp>
      <p:sp>
        <p:nvSpPr>
          <p:cNvPr id="12" name="Shape 10"/>
          <p:cNvSpPr/>
          <p:nvPr/>
        </p:nvSpPr>
        <p:spPr>
          <a:xfrm>
            <a:off x="2523744" y="1874520"/>
            <a:ext cx="1417320" cy="566928"/>
          </a:xfrm>
          <a:prstGeom prst="roundRect">
            <a:avLst>
              <a:gd name="adj" fmla="val 12903"/>
            </a:avLst>
          </a:prstGeom>
          <a:solidFill>
            <a:srgbClr val="2563EB"/>
          </a:solidFill>
          <a:ln w="12700">
            <a:solidFill>
              <a:srgbClr val="2563EB"/>
            </a:solidFill>
            <a:prstDash val="solid"/>
          </a:ln>
        </p:spPr>
        <p:txBody>
          <a:bodyPr/>
          <a:lstStyle/>
          <a:p>
            <a:endParaRPr lang="it-IT"/>
          </a:p>
        </p:txBody>
      </p:sp>
      <p:sp>
        <p:nvSpPr>
          <p:cNvPr id="13" name="Text 11"/>
          <p:cNvSpPr/>
          <p:nvPr/>
        </p:nvSpPr>
        <p:spPr>
          <a:xfrm>
            <a:off x="2596896"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Agente read‑only</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analisi artefatti</a:t>
            </a:r>
            <a:endParaRPr lang="en-US" sz="1200" dirty="0"/>
          </a:p>
        </p:txBody>
      </p:sp>
      <p:sp>
        <p:nvSpPr>
          <p:cNvPr id="14" name="Shape 12"/>
          <p:cNvSpPr/>
          <p:nvPr/>
        </p:nvSpPr>
        <p:spPr>
          <a:xfrm>
            <a:off x="3977640" y="2157984"/>
            <a:ext cx="310896" cy="0"/>
          </a:xfrm>
          <a:prstGeom prst="line">
            <a:avLst/>
          </a:prstGeom>
          <a:noFill/>
          <a:ln w="13335">
            <a:solidFill>
              <a:srgbClr val="64748B"/>
            </a:solidFill>
            <a:prstDash val="solid"/>
            <a:tailEnd type="triangle"/>
          </a:ln>
        </p:spPr>
        <p:txBody>
          <a:bodyPr/>
          <a:lstStyle/>
          <a:p>
            <a:endParaRPr lang="it-IT"/>
          </a:p>
        </p:txBody>
      </p:sp>
      <p:sp>
        <p:nvSpPr>
          <p:cNvPr id="15" name="Shape 13"/>
          <p:cNvSpPr/>
          <p:nvPr/>
        </p:nvSpPr>
        <p:spPr>
          <a:xfrm>
            <a:off x="4389120" y="1874520"/>
            <a:ext cx="141732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6" name="Text 14"/>
          <p:cNvSpPr/>
          <p:nvPr/>
        </p:nvSpPr>
        <p:spPr>
          <a:xfrm>
            <a:off x="4462272"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Proposte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scenari candidati</a:t>
            </a:r>
            <a:endParaRPr lang="en-US" sz="1200" dirty="0"/>
          </a:p>
        </p:txBody>
      </p:sp>
      <p:sp>
        <p:nvSpPr>
          <p:cNvPr id="17" name="Shape 15"/>
          <p:cNvSpPr/>
          <p:nvPr/>
        </p:nvSpPr>
        <p:spPr>
          <a:xfrm>
            <a:off x="5843016" y="2157984"/>
            <a:ext cx="310896" cy="0"/>
          </a:xfrm>
          <a:prstGeom prst="line">
            <a:avLst/>
          </a:prstGeom>
          <a:noFill/>
          <a:ln w="13335">
            <a:solidFill>
              <a:srgbClr val="64748B"/>
            </a:solidFill>
            <a:prstDash val="solid"/>
            <a:tailEnd type="triangle"/>
          </a:ln>
        </p:spPr>
        <p:txBody>
          <a:bodyPr/>
          <a:lstStyle/>
          <a:p>
            <a:endParaRPr lang="it-IT"/>
          </a:p>
        </p:txBody>
      </p:sp>
      <p:sp>
        <p:nvSpPr>
          <p:cNvPr id="18" name="Shape 16"/>
          <p:cNvSpPr/>
          <p:nvPr/>
        </p:nvSpPr>
        <p:spPr>
          <a:xfrm>
            <a:off x="6254496" y="1874520"/>
            <a:ext cx="1417320" cy="566928"/>
          </a:xfrm>
          <a:prstGeom prst="roundRect">
            <a:avLst>
              <a:gd name="adj" fmla="val 12903"/>
            </a:avLst>
          </a:prstGeom>
          <a:solidFill>
            <a:srgbClr val="10B981"/>
          </a:solidFill>
          <a:ln w="12700">
            <a:solidFill>
              <a:srgbClr val="10B981"/>
            </a:solidFill>
            <a:prstDash val="solid"/>
          </a:ln>
        </p:spPr>
        <p:txBody>
          <a:bodyPr/>
          <a:lstStyle/>
          <a:p>
            <a:endParaRPr lang="it-IT"/>
          </a:p>
        </p:txBody>
      </p:sp>
      <p:sp>
        <p:nvSpPr>
          <p:cNvPr id="19" name="Text 17"/>
          <p:cNvSpPr/>
          <p:nvPr/>
        </p:nvSpPr>
        <p:spPr>
          <a:xfrm>
            <a:off x="6327648"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Conferma utente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esegui scenario N</a:t>
            </a:r>
            <a:endParaRPr lang="en-US" sz="1200" dirty="0"/>
          </a:p>
        </p:txBody>
      </p:sp>
      <p:sp>
        <p:nvSpPr>
          <p:cNvPr id="20" name="Shape 18"/>
          <p:cNvSpPr/>
          <p:nvPr/>
        </p:nvSpPr>
        <p:spPr>
          <a:xfrm>
            <a:off x="7708392" y="2157984"/>
            <a:ext cx="310896" cy="0"/>
          </a:xfrm>
          <a:prstGeom prst="line">
            <a:avLst/>
          </a:prstGeom>
          <a:noFill/>
          <a:ln w="13335">
            <a:solidFill>
              <a:srgbClr val="64748B"/>
            </a:solidFill>
            <a:prstDash val="solid"/>
            <a:tailEnd type="triangle"/>
          </a:ln>
        </p:spPr>
        <p:txBody>
          <a:bodyPr/>
          <a:lstStyle/>
          <a:p>
            <a:endParaRPr lang="it-IT"/>
          </a:p>
        </p:txBody>
      </p:sp>
      <p:sp>
        <p:nvSpPr>
          <p:cNvPr id="21" name="Shape 19"/>
          <p:cNvSpPr/>
          <p:nvPr/>
        </p:nvSpPr>
        <p:spPr>
          <a:xfrm>
            <a:off x="8119872" y="1874520"/>
            <a:ext cx="1417320" cy="566928"/>
          </a:xfrm>
          <a:prstGeom prst="roundRect">
            <a:avLst>
              <a:gd name="adj" fmla="val 12903"/>
            </a:avLst>
          </a:prstGeom>
          <a:solidFill>
            <a:srgbClr val="8B5CF6"/>
          </a:solidFill>
          <a:ln w="12700">
            <a:solidFill>
              <a:srgbClr val="8B5CF6"/>
            </a:solidFill>
            <a:prstDash val="solid"/>
          </a:ln>
        </p:spPr>
        <p:txBody>
          <a:bodyPr/>
          <a:lstStyle/>
          <a:p>
            <a:endParaRPr lang="it-IT"/>
          </a:p>
        </p:txBody>
      </p:sp>
      <p:sp>
        <p:nvSpPr>
          <p:cNvPr id="22" name="Text 20"/>
          <p:cNvSpPr/>
          <p:nvPr/>
        </p:nvSpPr>
        <p:spPr>
          <a:xfrm>
            <a:off x="8193024" y="1947672"/>
            <a:ext cx="1271016" cy="420624"/>
          </a:xfrm>
          <a:prstGeom prst="rect">
            <a:avLst/>
          </a:prstGeom>
          <a:noFill/>
          <a:ln/>
        </p:spPr>
        <p:txBody>
          <a:bodyPr wrap="square" lIns="0" tIns="0" rIns="0" bIns="0" rtlCol="0" anchor="ctr">
            <a:norm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Runner</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ngspice + viewer</a:t>
            </a:r>
            <a:endParaRPr lang="en-US" sz="1200" dirty="0"/>
          </a:p>
        </p:txBody>
      </p:sp>
      <p:sp>
        <p:nvSpPr>
          <p:cNvPr id="23" name="Shape 21"/>
          <p:cNvSpPr/>
          <p:nvPr/>
        </p:nvSpPr>
        <p:spPr>
          <a:xfrm>
            <a:off x="9573768" y="2157984"/>
            <a:ext cx="310896" cy="0"/>
          </a:xfrm>
          <a:prstGeom prst="line">
            <a:avLst/>
          </a:prstGeom>
          <a:noFill/>
          <a:ln w="13335">
            <a:solidFill>
              <a:srgbClr val="64748B"/>
            </a:solidFill>
            <a:prstDash val="solid"/>
            <a:tailEnd type="triangle"/>
          </a:ln>
        </p:spPr>
        <p:txBody>
          <a:bodyPr/>
          <a:lstStyle/>
          <a:p>
            <a:endParaRPr lang="it-IT"/>
          </a:p>
        </p:txBody>
      </p:sp>
      <p:sp>
        <p:nvSpPr>
          <p:cNvPr id="24" name="Shape 22"/>
          <p:cNvSpPr/>
          <p:nvPr/>
        </p:nvSpPr>
        <p:spPr>
          <a:xfrm>
            <a:off x="9985248" y="1874520"/>
            <a:ext cx="1417320" cy="566928"/>
          </a:xfrm>
          <a:prstGeom prst="roundRect">
            <a:avLst>
              <a:gd name="adj" fmla="val 12903"/>
            </a:avLst>
          </a:prstGeom>
          <a:solidFill>
            <a:srgbClr val="8B5CF6"/>
          </a:solidFill>
          <a:ln w="12700">
            <a:solidFill>
              <a:srgbClr val="8B5CF6"/>
            </a:solidFill>
            <a:prstDash val="solid"/>
          </a:ln>
        </p:spPr>
        <p:txBody>
          <a:bodyPr/>
          <a:lstStyle/>
          <a:p>
            <a:endParaRPr lang="it-IT"/>
          </a:p>
        </p:txBody>
      </p:sp>
      <p:sp>
        <p:nvSpPr>
          <p:cNvPr id="25" name="Text 23"/>
          <p:cNvSpPr/>
          <p:nvPr/>
        </p:nvSpPr>
        <p:spPr>
          <a:xfrm>
            <a:off x="10058400" y="1947672"/>
            <a:ext cx="1271016" cy="420624"/>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Risposta</a:t>
            </a:r>
            <a:endParaRPr lang="en-US" sz="1100" dirty="0"/>
          </a:p>
          <a:p>
            <a:pPr marL="0" indent="0" algn="ctr">
              <a:buNone/>
            </a:pPr>
            <a:r>
              <a:rPr lang="en-US" sz="1100" b="1" dirty="0" err="1">
                <a:solidFill>
                  <a:srgbClr val="FFFFFF"/>
                </a:solidFill>
                <a:latin typeface="Aptos" pitchFamily="34" charset="0"/>
                <a:ea typeface="Aptos" pitchFamily="34" charset="-122"/>
                <a:cs typeface="Aptos" pitchFamily="34" charset="-120"/>
              </a:rPr>
              <a:t>interpretazione</a:t>
            </a:r>
            <a:r>
              <a:rPr lang="en-US" sz="1100" b="1" dirty="0">
                <a:solidFill>
                  <a:srgbClr val="FFFFFF"/>
                </a:solidFill>
                <a:latin typeface="Aptos" pitchFamily="34" charset="0"/>
                <a:ea typeface="Aptos" pitchFamily="34" charset="-122"/>
                <a:cs typeface="Aptos" pitchFamily="34" charset="-120"/>
              </a:rPr>
              <a:t> </a:t>
            </a:r>
            <a:r>
              <a:rPr lang="en-US" sz="1100" b="1" dirty="0" err="1">
                <a:solidFill>
                  <a:srgbClr val="FFFFFF"/>
                </a:solidFill>
                <a:latin typeface="Aptos" pitchFamily="34" charset="0"/>
                <a:ea typeface="Aptos" pitchFamily="34" charset="-122"/>
                <a:cs typeface="Aptos" pitchFamily="34" charset="-120"/>
              </a:rPr>
              <a:t>confronto</a:t>
            </a:r>
            <a:endParaRPr lang="en-US" sz="1100" dirty="0"/>
          </a:p>
        </p:txBody>
      </p:sp>
      <p:sp>
        <p:nvSpPr>
          <p:cNvPr id="26" name="Text 24"/>
          <p:cNvSpPr/>
          <p:nvPr/>
        </p:nvSpPr>
        <p:spPr>
          <a:xfrm>
            <a:off x="804672" y="3383280"/>
            <a:ext cx="4132618" cy="317212"/>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COSA DIMOSTRA</a:t>
            </a:r>
            <a:endParaRPr lang="en-US" sz="1200" dirty="0"/>
          </a:p>
        </p:txBody>
      </p:sp>
      <p:sp>
        <p:nvSpPr>
          <p:cNvPr id="27" name="Shape 25"/>
          <p:cNvSpPr/>
          <p:nvPr/>
        </p:nvSpPr>
        <p:spPr>
          <a:xfrm>
            <a:off x="787663" y="3880234"/>
            <a:ext cx="143743" cy="115350"/>
          </a:xfrm>
          <a:prstGeom prst="ellipse">
            <a:avLst/>
          </a:prstGeom>
          <a:solidFill>
            <a:srgbClr val="10B981"/>
          </a:solidFill>
          <a:ln w="12700">
            <a:solidFill>
              <a:srgbClr val="10B981"/>
            </a:solidFill>
            <a:prstDash val="solid"/>
          </a:ln>
        </p:spPr>
        <p:txBody>
          <a:bodyPr/>
          <a:lstStyle/>
          <a:p>
            <a:endParaRPr lang="it-IT"/>
          </a:p>
        </p:txBody>
      </p:sp>
      <p:sp>
        <p:nvSpPr>
          <p:cNvPr id="28" name="Text 26"/>
          <p:cNvSpPr/>
          <p:nvPr/>
        </p:nvSpPr>
        <p:spPr>
          <a:xfrm>
            <a:off x="1024128" y="3767327"/>
            <a:ext cx="10097962" cy="374887"/>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Il sistema sa trasformare domande come “</a:t>
            </a:r>
            <a:r>
              <a:rPr lang="en-US" sz="1250" i="1" dirty="0">
                <a:solidFill>
                  <a:srgbClr val="1F2937"/>
                </a:solidFill>
                <a:latin typeface="Aptos" pitchFamily="34" charset="0"/>
                <a:ea typeface="Aptos" pitchFamily="34" charset="-122"/>
                <a:cs typeface="Aptos" pitchFamily="34" charset="-120"/>
              </a:rPr>
              <a:t>la lampada non si accende</a:t>
            </a:r>
            <a:r>
              <a:rPr lang="en-US" sz="1250" dirty="0">
                <a:solidFill>
                  <a:srgbClr val="1F2937"/>
                </a:solidFill>
                <a:latin typeface="Aptos" pitchFamily="34" charset="0"/>
                <a:ea typeface="Aptos" pitchFamily="34" charset="-122"/>
                <a:cs typeface="Aptos" pitchFamily="34" charset="-120"/>
              </a:rPr>
              <a:t>” in ipotesi elettriche eseguibili.</a:t>
            </a:r>
            <a:endParaRPr lang="en-US" sz="1250" dirty="0"/>
          </a:p>
        </p:txBody>
      </p:sp>
      <p:sp>
        <p:nvSpPr>
          <p:cNvPr id="29" name="Shape 27"/>
          <p:cNvSpPr/>
          <p:nvPr/>
        </p:nvSpPr>
        <p:spPr>
          <a:xfrm>
            <a:off x="787662" y="4270248"/>
            <a:ext cx="143743" cy="115350"/>
          </a:xfrm>
          <a:prstGeom prst="ellipse">
            <a:avLst/>
          </a:prstGeom>
          <a:solidFill>
            <a:srgbClr val="10B981"/>
          </a:solidFill>
          <a:ln w="12700">
            <a:solidFill>
              <a:srgbClr val="10B981"/>
            </a:solidFill>
            <a:prstDash val="solid"/>
          </a:ln>
        </p:spPr>
        <p:txBody>
          <a:bodyPr/>
          <a:lstStyle/>
          <a:p>
            <a:endParaRPr lang="it-IT"/>
          </a:p>
        </p:txBody>
      </p:sp>
      <p:sp>
        <p:nvSpPr>
          <p:cNvPr id="30" name="Text 28"/>
          <p:cNvSpPr/>
          <p:nvPr/>
        </p:nvSpPr>
        <p:spPr>
          <a:xfrm>
            <a:off x="1024128" y="4151375"/>
            <a:ext cx="10097962" cy="374887"/>
          </a:xfrm>
          <a:prstGeom prst="rect">
            <a:avLst/>
          </a:prstGeom>
          <a:noFill/>
          <a:ln/>
        </p:spPr>
        <p:txBody>
          <a:bodyPr wrap="square" lIns="0" tIns="0" rIns="0" bIns="0" rtlCol="0" anchor="ctr">
            <a:normAutofit/>
          </a:bodyPr>
          <a:lstStyle/>
          <a:p>
            <a:pPr marL="0" indent="0">
              <a:buNone/>
            </a:pPr>
            <a:r>
              <a:rPr lang="en-US" sz="1230" b="1" dirty="0">
                <a:solidFill>
                  <a:srgbClr val="1F2937"/>
                </a:solidFill>
                <a:latin typeface="Aptos" pitchFamily="34" charset="0"/>
                <a:ea typeface="Aptos" pitchFamily="34" charset="-122"/>
                <a:cs typeface="Aptos" pitchFamily="34" charset="-120"/>
              </a:rPr>
              <a:t>History</a:t>
            </a:r>
            <a:r>
              <a:rPr lang="en-US" sz="1230" dirty="0">
                <a:solidFill>
                  <a:srgbClr val="1F2937"/>
                </a:solidFill>
                <a:latin typeface="Aptos" pitchFamily="34" charset="0"/>
                <a:ea typeface="Aptos" pitchFamily="34" charset="-122"/>
                <a:cs typeface="Aptos" pitchFamily="34" charset="-120"/>
              </a:rPr>
              <a:t> e </a:t>
            </a:r>
            <a:r>
              <a:rPr lang="en-US" sz="1230" b="1" dirty="0">
                <a:solidFill>
                  <a:srgbClr val="1F2937"/>
                </a:solidFill>
                <a:latin typeface="Aptos" pitchFamily="34" charset="0"/>
                <a:ea typeface="Aptos" pitchFamily="34" charset="-122"/>
                <a:cs typeface="Aptos" pitchFamily="34" charset="-120"/>
              </a:rPr>
              <a:t>scenario registry </a:t>
            </a:r>
            <a:r>
              <a:rPr lang="en-US" sz="1230" dirty="0">
                <a:solidFill>
                  <a:srgbClr val="1F2937"/>
                </a:solidFill>
                <a:latin typeface="Aptos" pitchFamily="34" charset="0"/>
                <a:ea typeface="Aptos" pitchFamily="34" charset="-122"/>
                <a:cs typeface="Aptos" pitchFamily="34" charset="-120"/>
              </a:rPr>
              <a:t>rendono ripetibile la conversazione.</a:t>
            </a:r>
            <a:endParaRPr lang="en-US" sz="1230" dirty="0"/>
          </a:p>
        </p:txBody>
      </p:sp>
      <p:sp>
        <p:nvSpPr>
          <p:cNvPr id="31" name="Shape 29"/>
          <p:cNvSpPr/>
          <p:nvPr/>
        </p:nvSpPr>
        <p:spPr>
          <a:xfrm>
            <a:off x="787663" y="4660262"/>
            <a:ext cx="143743" cy="115350"/>
          </a:xfrm>
          <a:prstGeom prst="ellipse">
            <a:avLst/>
          </a:prstGeom>
          <a:solidFill>
            <a:srgbClr val="10B981"/>
          </a:solidFill>
          <a:ln w="12700">
            <a:solidFill>
              <a:srgbClr val="10B981"/>
            </a:solidFill>
            <a:prstDash val="solid"/>
          </a:ln>
        </p:spPr>
        <p:txBody>
          <a:bodyPr/>
          <a:lstStyle/>
          <a:p>
            <a:endParaRPr lang="it-IT"/>
          </a:p>
        </p:txBody>
      </p:sp>
      <p:sp>
        <p:nvSpPr>
          <p:cNvPr id="32" name="Text 30"/>
          <p:cNvSpPr/>
          <p:nvPr/>
        </p:nvSpPr>
        <p:spPr>
          <a:xfrm>
            <a:off x="1024128" y="4535423"/>
            <a:ext cx="10097962" cy="374887"/>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Gli scenari sono s</a:t>
            </a:r>
            <a:r>
              <a:rPr lang="en-US" sz="1250" b="1" dirty="0">
                <a:solidFill>
                  <a:srgbClr val="1F2937"/>
                </a:solidFill>
                <a:latin typeface="Aptos" pitchFamily="34" charset="0"/>
                <a:ea typeface="Aptos" pitchFamily="34" charset="-122"/>
                <a:cs typeface="Aptos" pitchFamily="34" charset="-120"/>
              </a:rPr>
              <a:t>elf-contained</a:t>
            </a:r>
            <a:r>
              <a:rPr lang="en-US" sz="1250" dirty="0">
                <a:solidFill>
                  <a:srgbClr val="1F2937"/>
                </a:solidFill>
                <a:latin typeface="Aptos" pitchFamily="34" charset="0"/>
                <a:ea typeface="Aptos" pitchFamily="34" charset="-122"/>
                <a:cs typeface="Aptos" pitchFamily="34" charset="-120"/>
              </a:rPr>
              <a:t>: ogni run riparte dalla base e non sporca gli output originali.</a:t>
            </a:r>
            <a:endParaRPr lang="en-US" sz="1250" dirty="0"/>
          </a:p>
        </p:txBody>
      </p:sp>
      <p:sp>
        <p:nvSpPr>
          <p:cNvPr id="33" name="Shape 31"/>
          <p:cNvSpPr/>
          <p:nvPr/>
        </p:nvSpPr>
        <p:spPr>
          <a:xfrm>
            <a:off x="787127" y="5047162"/>
            <a:ext cx="143743" cy="115350"/>
          </a:xfrm>
          <a:prstGeom prst="ellipse">
            <a:avLst/>
          </a:prstGeom>
          <a:solidFill>
            <a:srgbClr val="10B981"/>
          </a:solidFill>
          <a:ln w="12700">
            <a:solidFill>
              <a:srgbClr val="10B981"/>
            </a:solidFill>
            <a:prstDash val="solid"/>
          </a:ln>
        </p:spPr>
        <p:txBody>
          <a:bodyPr/>
          <a:lstStyle/>
          <a:p>
            <a:endParaRPr lang="it-IT"/>
          </a:p>
        </p:txBody>
      </p:sp>
      <p:sp>
        <p:nvSpPr>
          <p:cNvPr id="34" name="Text 32"/>
          <p:cNvSpPr/>
          <p:nvPr/>
        </p:nvSpPr>
        <p:spPr>
          <a:xfrm>
            <a:off x="1024128" y="4919471"/>
            <a:ext cx="10097962" cy="374887"/>
          </a:xfrm>
          <a:prstGeom prst="rect">
            <a:avLst/>
          </a:prstGeom>
          <a:noFill/>
          <a:ln/>
        </p:spPr>
        <p:txBody>
          <a:bodyPr wrap="square" lIns="0" tIns="0" rIns="0" bIns="0" rtlCol="0" anchor="ctr">
            <a:normAutofit/>
          </a:bodyPr>
          <a:lstStyle/>
          <a:p>
            <a:pPr marL="0" indent="0">
              <a:buNone/>
            </a:pPr>
            <a:r>
              <a:rPr lang="en-US" sz="1230" dirty="0">
                <a:solidFill>
                  <a:srgbClr val="1F2937"/>
                </a:solidFill>
                <a:latin typeface="Aptos" pitchFamily="34" charset="0"/>
                <a:ea typeface="Aptos" pitchFamily="34" charset="-122"/>
                <a:cs typeface="Aptos" pitchFamily="34" charset="-120"/>
              </a:rPr>
              <a:t>Utile per debug, validazione manuale e raccolta di casi studio per la tesi.</a:t>
            </a:r>
            <a:endParaRPr lang="en-US" sz="12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pic>
        <p:nvPicPr>
          <p:cNvPr id="47" name="Picture 46"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Modalità AGENT: automazione controllata</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L’agente propone, esegue e confronta scenari fino a una conclusione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12</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49808" y="1417320"/>
            <a:ext cx="2011680" cy="201168"/>
          </a:xfrm>
          <a:prstGeom prst="rect">
            <a:avLst/>
          </a:prstGeom>
          <a:noFill/>
          <a:ln/>
        </p:spPr>
        <p:txBody>
          <a:bodyPr wrap="square" lIns="0" tIns="0" rIns="0" bIns="0" rtlCol="0" anchor="ctr"/>
          <a:lstStyle/>
          <a:p>
            <a:pPr marL="0" indent="0">
              <a:buNone/>
            </a:pPr>
            <a:r>
              <a:rPr lang="en-US" sz="860" b="1" dirty="0">
                <a:solidFill>
                  <a:srgbClr val="059669"/>
                </a:solidFill>
                <a:latin typeface="Aptos" pitchFamily="34" charset="0"/>
                <a:ea typeface="Aptos" pitchFamily="34" charset="-122"/>
                <a:cs typeface="Aptos" pitchFamily="34" charset="-120"/>
              </a:rPr>
              <a:t>CICLO AUTONOMO</a:t>
            </a:r>
            <a:endParaRPr lang="en-US" sz="860" dirty="0"/>
          </a:p>
        </p:txBody>
      </p:sp>
      <p:sp>
        <p:nvSpPr>
          <p:cNvPr id="9" name="Shape 7"/>
          <p:cNvSpPr/>
          <p:nvPr/>
        </p:nvSpPr>
        <p:spPr>
          <a:xfrm>
            <a:off x="713232" y="2029968"/>
            <a:ext cx="329184" cy="371060"/>
          </a:xfrm>
          <a:prstGeom prst="ellipse">
            <a:avLst/>
          </a:prstGeom>
          <a:solidFill>
            <a:srgbClr val="10B981"/>
          </a:solidFill>
          <a:ln w="12700">
            <a:solidFill>
              <a:srgbClr val="10B981"/>
            </a:solidFill>
            <a:prstDash val="solid"/>
          </a:ln>
        </p:spPr>
        <p:txBody>
          <a:bodyPr/>
          <a:lstStyle/>
          <a:p>
            <a:endParaRPr lang="it-IT" sz="2000" dirty="0"/>
          </a:p>
        </p:txBody>
      </p:sp>
      <p:sp>
        <p:nvSpPr>
          <p:cNvPr id="10" name="Text 8"/>
          <p:cNvSpPr/>
          <p:nvPr/>
        </p:nvSpPr>
        <p:spPr>
          <a:xfrm>
            <a:off x="713232"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1" name="Shape 9"/>
          <p:cNvSpPr/>
          <p:nvPr/>
        </p:nvSpPr>
        <p:spPr>
          <a:xfrm>
            <a:off x="1133856" y="1965959"/>
            <a:ext cx="941832" cy="566897"/>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2" name="Text 10"/>
          <p:cNvSpPr/>
          <p:nvPr/>
        </p:nvSpPr>
        <p:spPr>
          <a:xfrm>
            <a:off x="1207008" y="2039112"/>
            <a:ext cx="795528" cy="40198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decide</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run / stop</a:t>
            </a:r>
            <a:endParaRPr lang="en-US" sz="1200" dirty="0"/>
          </a:p>
        </p:txBody>
      </p:sp>
      <p:sp>
        <p:nvSpPr>
          <p:cNvPr id="13" name="Shape 11"/>
          <p:cNvSpPr/>
          <p:nvPr/>
        </p:nvSpPr>
        <p:spPr>
          <a:xfrm>
            <a:off x="2112264" y="2221992"/>
            <a:ext cx="64008" cy="0"/>
          </a:xfrm>
          <a:prstGeom prst="line">
            <a:avLst/>
          </a:prstGeom>
          <a:noFill/>
          <a:ln w="12700">
            <a:solidFill>
              <a:srgbClr val="64748B"/>
            </a:solidFill>
            <a:prstDash val="solid"/>
            <a:tailEnd type="triangle"/>
          </a:ln>
        </p:spPr>
        <p:txBody>
          <a:bodyPr/>
          <a:lstStyle/>
          <a:p>
            <a:endParaRPr lang="it-IT"/>
          </a:p>
        </p:txBody>
      </p:sp>
      <p:sp>
        <p:nvSpPr>
          <p:cNvPr id="14" name="Shape 12"/>
          <p:cNvSpPr/>
          <p:nvPr/>
        </p:nvSpPr>
        <p:spPr>
          <a:xfrm>
            <a:off x="2194560"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15" name="Text 13"/>
          <p:cNvSpPr/>
          <p:nvPr/>
        </p:nvSpPr>
        <p:spPr>
          <a:xfrm>
            <a:off x="2194560"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6" name="Shape 14"/>
          <p:cNvSpPr/>
          <p:nvPr/>
        </p:nvSpPr>
        <p:spPr>
          <a:xfrm>
            <a:off x="2615184" y="1965959"/>
            <a:ext cx="941832" cy="566897"/>
          </a:xfrm>
          <a:prstGeom prst="roundRect">
            <a:avLst>
              <a:gd name="adj" fmla="val 14545"/>
            </a:avLst>
          </a:prstGeom>
          <a:solidFill>
            <a:srgbClr val="2563EB"/>
          </a:solidFill>
          <a:ln w="12700">
            <a:solidFill>
              <a:srgbClr val="2563EB"/>
            </a:solidFill>
            <a:prstDash val="solid"/>
          </a:ln>
        </p:spPr>
        <p:txBody>
          <a:bodyPr/>
          <a:lstStyle/>
          <a:p>
            <a:endParaRPr lang="it-IT"/>
          </a:p>
        </p:txBody>
      </p:sp>
      <p:sp>
        <p:nvSpPr>
          <p:cNvPr id="17" name="Text 15"/>
          <p:cNvSpPr/>
          <p:nvPr/>
        </p:nvSpPr>
        <p:spPr>
          <a:xfrm>
            <a:off x="2688336" y="2039112"/>
            <a:ext cx="795528" cy="401982"/>
          </a:xfrm>
          <a:prstGeom prst="rect">
            <a:avLst/>
          </a:prstGeom>
          <a:noFill/>
          <a:ln/>
        </p:spPr>
        <p:txBody>
          <a:bodyPr wrap="square" lIns="0" tIns="0" rIns="0" bIns="0" rtlCol="0" anchor="ctr">
            <a:noAutofit/>
          </a:bodyPr>
          <a:lstStyle/>
          <a:p>
            <a:pPr marL="0" indent="0" algn="ctr">
              <a:buNone/>
            </a:pPr>
            <a:r>
              <a:rPr lang="en-US" sz="1200" b="1" dirty="0">
                <a:solidFill>
                  <a:srgbClr val="FFFFFF"/>
                </a:solidFill>
                <a:latin typeface="Aptos" pitchFamily="34" charset="0"/>
                <a:ea typeface="Aptos" pitchFamily="34" charset="-122"/>
                <a:cs typeface="Aptos" pitchFamily="34" charset="-120"/>
              </a:rPr>
              <a:t>valida</a:t>
            </a:r>
            <a:endParaRPr lang="en-US" sz="1200" dirty="0"/>
          </a:p>
          <a:p>
            <a:pPr marL="0" indent="0" algn="ctr">
              <a:buNone/>
            </a:pPr>
            <a:r>
              <a:rPr lang="en-US" sz="1200" b="1" dirty="0">
                <a:solidFill>
                  <a:srgbClr val="FFFFFF"/>
                </a:solidFill>
                <a:latin typeface="Aptos" pitchFamily="34" charset="0"/>
                <a:ea typeface="Aptos" pitchFamily="34" charset="-122"/>
                <a:cs typeface="Aptos" pitchFamily="34" charset="-120"/>
              </a:rPr>
              <a:t>whitelist</a:t>
            </a:r>
            <a:endParaRPr lang="en-US" sz="1200" dirty="0"/>
          </a:p>
        </p:txBody>
      </p:sp>
      <p:sp>
        <p:nvSpPr>
          <p:cNvPr id="18" name="Shape 16"/>
          <p:cNvSpPr/>
          <p:nvPr/>
        </p:nvSpPr>
        <p:spPr>
          <a:xfrm>
            <a:off x="3593592" y="2221992"/>
            <a:ext cx="64008" cy="0"/>
          </a:xfrm>
          <a:prstGeom prst="line">
            <a:avLst/>
          </a:prstGeom>
          <a:noFill/>
          <a:ln w="12700">
            <a:solidFill>
              <a:srgbClr val="64748B"/>
            </a:solidFill>
            <a:prstDash val="solid"/>
            <a:tailEnd type="triangle"/>
          </a:ln>
        </p:spPr>
        <p:txBody>
          <a:bodyPr/>
          <a:lstStyle/>
          <a:p>
            <a:endParaRPr lang="it-IT"/>
          </a:p>
        </p:txBody>
      </p:sp>
      <p:sp>
        <p:nvSpPr>
          <p:cNvPr id="19" name="Shape 17"/>
          <p:cNvSpPr/>
          <p:nvPr/>
        </p:nvSpPr>
        <p:spPr>
          <a:xfrm>
            <a:off x="3675888"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20" name="Text 18"/>
          <p:cNvSpPr/>
          <p:nvPr/>
        </p:nvSpPr>
        <p:spPr>
          <a:xfrm>
            <a:off x="3675888"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21" name="Shape 19"/>
          <p:cNvSpPr/>
          <p:nvPr/>
        </p:nvSpPr>
        <p:spPr>
          <a:xfrm>
            <a:off x="4096512" y="1965959"/>
            <a:ext cx="941832" cy="566897"/>
          </a:xfrm>
          <a:prstGeom prst="roundRect">
            <a:avLst>
              <a:gd name="adj" fmla="val 14545"/>
            </a:avLst>
          </a:prstGeom>
          <a:solidFill>
            <a:srgbClr val="8B5CF6"/>
          </a:solidFill>
          <a:ln w="12700">
            <a:solidFill>
              <a:srgbClr val="8B5CF6"/>
            </a:solidFill>
            <a:prstDash val="solid"/>
          </a:ln>
        </p:spPr>
        <p:txBody>
          <a:bodyPr/>
          <a:lstStyle/>
          <a:p>
            <a:endParaRPr lang="it-IT"/>
          </a:p>
        </p:txBody>
      </p:sp>
      <p:sp>
        <p:nvSpPr>
          <p:cNvPr id="22" name="Text 20"/>
          <p:cNvSpPr/>
          <p:nvPr/>
        </p:nvSpPr>
        <p:spPr>
          <a:xfrm>
            <a:off x="4169664" y="2039112"/>
            <a:ext cx="795528" cy="401982"/>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esegue</a:t>
            </a:r>
            <a:endParaRPr lang="en-US" sz="1100" dirty="0"/>
          </a:p>
          <a:p>
            <a:pPr marL="0" indent="0" algn="ctr">
              <a:buNone/>
            </a:pPr>
            <a:r>
              <a:rPr lang="en-US" sz="1100" b="1" dirty="0">
                <a:solidFill>
                  <a:srgbClr val="FFFFFF"/>
                </a:solidFill>
                <a:latin typeface="Aptos" pitchFamily="34" charset="0"/>
                <a:ea typeface="Aptos" pitchFamily="34" charset="-122"/>
                <a:cs typeface="Aptos" pitchFamily="34" charset="-120"/>
              </a:rPr>
              <a:t>SPICE + viewer</a:t>
            </a:r>
            <a:endParaRPr lang="en-US" sz="1100" dirty="0"/>
          </a:p>
        </p:txBody>
      </p:sp>
      <p:sp>
        <p:nvSpPr>
          <p:cNvPr id="23" name="Shape 21"/>
          <p:cNvSpPr/>
          <p:nvPr/>
        </p:nvSpPr>
        <p:spPr>
          <a:xfrm>
            <a:off x="5074920" y="2221992"/>
            <a:ext cx="64008" cy="0"/>
          </a:xfrm>
          <a:prstGeom prst="line">
            <a:avLst/>
          </a:prstGeom>
          <a:noFill/>
          <a:ln w="12700">
            <a:solidFill>
              <a:srgbClr val="64748B"/>
            </a:solidFill>
            <a:prstDash val="solid"/>
            <a:tailEnd type="triangle"/>
          </a:ln>
        </p:spPr>
        <p:txBody>
          <a:bodyPr/>
          <a:lstStyle/>
          <a:p>
            <a:endParaRPr lang="it-IT"/>
          </a:p>
        </p:txBody>
      </p:sp>
      <p:sp>
        <p:nvSpPr>
          <p:cNvPr id="24" name="Shape 22"/>
          <p:cNvSpPr/>
          <p:nvPr/>
        </p:nvSpPr>
        <p:spPr>
          <a:xfrm>
            <a:off x="5157216"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25" name="Text 23"/>
          <p:cNvSpPr/>
          <p:nvPr/>
        </p:nvSpPr>
        <p:spPr>
          <a:xfrm>
            <a:off x="5157216"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6" name="Shape 24"/>
          <p:cNvSpPr/>
          <p:nvPr/>
        </p:nvSpPr>
        <p:spPr>
          <a:xfrm>
            <a:off x="5577840" y="1965959"/>
            <a:ext cx="941832" cy="566897"/>
          </a:xfrm>
          <a:prstGeom prst="roundRect">
            <a:avLst>
              <a:gd name="adj" fmla="val 14545"/>
            </a:avLst>
          </a:prstGeom>
          <a:solidFill>
            <a:srgbClr val="8B5CF6"/>
          </a:solidFill>
          <a:ln w="12700">
            <a:solidFill>
              <a:srgbClr val="8B5CF6"/>
            </a:solidFill>
            <a:prstDash val="solid"/>
          </a:ln>
        </p:spPr>
        <p:txBody>
          <a:bodyPr/>
          <a:lstStyle/>
          <a:p>
            <a:endParaRPr lang="it-IT"/>
          </a:p>
        </p:txBody>
      </p:sp>
      <p:sp>
        <p:nvSpPr>
          <p:cNvPr id="27" name="Text 25"/>
          <p:cNvSpPr/>
          <p:nvPr/>
        </p:nvSpPr>
        <p:spPr>
          <a:xfrm>
            <a:off x="5650992" y="2039112"/>
            <a:ext cx="795528" cy="401982"/>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confronta</a:t>
            </a:r>
            <a:endParaRPr lang="en-US" sz="1100" dirty="0"/>
          </a:p>
          <a:p>
            <a:pPr marL="0" indent="0" algn="ctr">
              <a:buNone/>
            </a:pPr>
            <a:r>
              <a:rPr lang="en-US" sz="1100" b="1" dirty="0">
                <a:solidFill>
                  <a:srgbClr val="FFFFFF"/>
                </a:solidFill>
                <a:latin typeface="Aptos" pitchFamily="34" charset="0"/>
                <a:ea typeface="Aptos" pitchFamily="34" charset="-122"/>
                <a:cs typeface="Aptos" pitchFamily="34" charset="-120"/>
              </a:rPr>
              <a:t>expect + metriche</a:t>
            </a:r>
            <a:endParaRPr lang="en-US" sz="1100" dirty="0"/>
          </a:p>
        </p:txBody>
      </p:sp>
      <p:sp>
        <p:nvSpPr>
          <p:cNvPr id="28" name="Shape 26"/>
          <p:cNvSpPr/>
          <p:nvPr/>
        </p:nvSpPr>
        <p:spPr>
          <a:xfrm>
            <a:off x="6556248" y="2221992"/>
            <a:ext cx="64008" cy="0"/>
          </a:xfrm>
          <a:prstGeom prst="line">
            <a:avLst/>
          </a:prstGeom>
          <a:noFill/>
          <a:ln w="12700">
            <a:solidFill>
              <a:srgbClr val="64748B"/>
            </a:solidFill>
            <a:prstDash val="solid"/>
            <a:tailEnd type="triangle"/>
          </a:ln>
        </p:spPr>
        <p:txBody>
          <a:bodyPr/>
          <a:lstStyle/>
          <a:p>
            <a:endParaRPr lang="it-IT"/>
          </a:p>
        </p:txBody>
      </p:sp>
      <p:sp>
        <p:nvSpPr>
          <p:cNvPr id="29" name="Shape 27"/>
          <p:cNvSpPr/>
          <p:nvPr/>
        </p:nvSpPr>
        <p:spPr>
          <a:xfrm>
            <a:off x="6638544" y="2029968"/>
            <a:ext cx="329184" cy="371060"/>
          </a:xfrm>
          <a:prstGeom prst="ellipse">
            <a:avLst/>
          </a:prstGeom>
          <a:solidFill>
            <a:srgbClr val="10B981"/>
          </a:solidFill>
          <a:ln w="12700">
            <a:solidFill>
              <a:srgbClr val="10B981"/>
            </a:solidFill>
            <a:prstDash val="solid"/>
          </a:ln>
        </p:spPr>
        <p:txBody>
          <a:bodyPr/>
          <a:lstStyle/>
          <a:p>
            <a:endParaRPr lang="it-IT"/>
          </a:p>
        </p:txBody>
      </p:sp>
      <p:sp>
        <p:nvSpPr>
          <p:cNvPr id="30" name="Text 28"/>
          <p:cNvSpPr/>
          <p:nvPr/>
        </p:nvSpPr>
        <p:spPr>
          <a:xfrm>
            <a:off x="6638544" y="2112264"/>
            <a:ext cx="329184" cy="10307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31" name="Shape 29"/>
          <p:cNvSpPr/>
          <p:nvPr/>
        </p:nvSpPr>
        <p:spPr>
          <a:xfrm>
            <a:off x="7059168" y="1965959"/>
            <a:ext cx="941832" cy="566897"/>
          </a:xfrm>
          <a:prstGeom prst="roundRect">
            <a:avLst>
              <a:gd name="adj" fmla="val 14545"/>
            </a:avLst>
          </a:prstGeom>
          <a:solidFill>
            <a:srgbClr val="10B981"/>
          </a:solidFill>
          <a:ln w="12700">
            <a:solidFill>
              <a:srgbClr val="10B981"/>
            </a:solidFill>
            <a:prstDash val="solid"/>
          </a:ln>
        </p:spPr>
        <p:txBody>
          <a:bodyPr/>
          <a:lstStyle/>
          <a:p>
            <a:endParaRPr lang="it-IT"/>
          </a:p>
        </p:txBody>
      </p:sp>
      <p:sp>
        <p:nvSpPr>
          <p:cNvPr id="32" name="Text 30"/>
          <p:cNvSpPr/>
          <p:nvPr/>
        </p:nvSpPr>
        <p:spPr>
          <a:xfrm>
            <a:off x="7132320" y="2039112"/>
            <a:ext cx="795528" cy="401982"/>
          </a:xfrm>
          <a:prstGeom prst="rect">
            <a:avLst/>
          </a:prstGeom>
          <a:noFill/>
          <a:ln/>
        </p:spPr>
        <p:txBody>
          <a:bodyPr wrap="square" lIns="0" tIns="0" rIns="0" bIns="0" rtlCol="0" anchor="ctr">
            <a:noAutofit/>
          </a:bodyPr>
          <a:lstStyle/>
          <a:p>
            <a:pPr marL="0" indent="0" algn="ctr">
              <a:buNone/>
            </a:pPr>
            <a:r>
              <a:rPr lang="en-US" sz="1100" b="1" dirty="0">
                <a:solidFill>
                  <a:srgbClr val="FFFFFF"/>
                </a:solidFill>
                <a:latin typeface="Aptos" pitchFamily="34" charset="0"/>
                <a:ea typeface="Aptos" pitchFamily="34" charset="-122"/>
                <a:cs typeface="Aptos" pitchFamily="34" charset="-120"/>
              </a:rPr>
              <a:t>conclude</a:t>
            </a:r>
            <a:endParaRPr lang="en-US" sz="1100" dirty="0"/>
          </a:p>
          <a:p>
            <a:pPr marL="0" indent="0" algn="ctr">
              <a:buNone/>
            </a:pPr>
            <a:r>
              <a:rPr lang="en-US" sz="1100" b="1" dirty="0">
                <a:solidFill>
                  <a:srgbClr val="FFFFFF"/>
                </a:solidFill>
                <a:latin typeface="Aptos" pitchFamily="34" charset="0"/>
                <a:ea typeface="Aptos" pitchFamily="34" charset="-122"/>
                <a:cs typeface="Aptos" pitchFamily="34" charset="-120"/>
              </a:rPr>
              <a:t>resolved / localized</a:t>
            </a:r>
            <a:endParaRPr lang="en-US" sz="1100" dirty="0"/>
          </a:p>
        </p:txBody>
      </p:sp>
      <p:sp>
        <p:nvSpPr>
          <p:cNvPr id="33" name="Text 31"/>
          <p:cNvSpPr/>
          <p:nvPr/>
        </p:nvSpPr>
        <p:spPr>
          <a:xfrm>
            <a:off x="530352" y="3410712"/>
            <a:ext cx="5059396" cy="201164"/>
          </a:xfrm>
          <a:prstGeom prst="rect">
            <a:avLst/>
          </a:prstGeom>
          <a:noFill/>
          <a:ln/>
        </p:spPr>
        <p:txBody>
          <a:bodyPr wrap="square" lIns="0" tIns="0" rIns="0" bIns="0" rtlCol="0" anchor="ctr"/>
          <a:lstStyle/>
          <a:p>
            <a:pPr marL="0" indent="0">
              <a:buNone/>
            </a:pPr>
            <a:r>
              <a:rPr lang="en-US" sz="1200" b="1" dirty="0">
                <a:solidFill>
                  <a:srgbClr val="059669"/>
                </a:solidFill>
                <a:latin typeface="Aptos" pitchFamily="34" charset="0"/>
                <a:ea typeface="Aptos" pitchFamily="34" charset="-122"/>
                <a:cs typeface="Aptos" pitchFamily="34" charset="-120"/>
              </a:rPr>
              <a:t>GUARDRAIL IMPLEMENTATI</a:t>
            </a:r>
            <a:endParaRPr lang="en-US" sz="1200" dirty="0"/>
          </a:p>
        </p:txBody>
      </p:sp>
      <p:sp>
        <p:nvSpPr>
          <p:cNvPr id="34" name="Shape 32"/>
          <p:cNvSpPr/>
          <p:nvPr/>
        </p:nvSpPr>
        <p:spPr>
          <a:xfrm>
            <a:off x="576072" y="3867912"/>
            <a:ext cx="144554" cy="73150"/>
          </a:xfrm>
          <a:prstGeom prst="ellipse">
            <a:avLst/>
          </a:prstGeom>
          <a:solidFill>
            <a:srgbClr val="10B981"/>
          </a:solidFill>
          <a:ln w="12700">
            <a:solidFill>
              <a:srgbClr val="10B981"/>
            </a:solidFill>
            <a:prstDash val="solid"/>
          </a:ln>
        </p:spPr>
        <p:txBody>
          <a:bodyPr/>
          <a:lstStyle/>
          <a:p>
            <a:endParaRPr lang="it-IT"/>
          </a:p>
        </p:txBody>
      </p:sp>
      <p:sp>
        <p:nvSpPr>
          <p:cNvPr id="35" name="Text 33"/>
          <p:cNvSpPr/>
          <p:nvPr/>
        </p:nvSpPr>
        <p:spPr>
          <a:xfrm>
            <a:off x="740664" y="3803904"/>
            <a:ext cx="6089344" cy="237739"/>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  Massimo 2 scenari per decisione e 5 run per circuito.</a:t>
            </a:r>
            <a:endParaRPr lang="en-US" sz="1250" dirty="0"/>
          </a:p>
        </p:txBody>
      </p:sp>
      <p:sp>
        <p:nvSpPr>
          <p:cNvPr id="36" name="Shape 34"/>
          <p:cNvSpPr/>
          <p:nvPr/>
        </p:nvSpPr>
        <p:spPr>
          <a:xfrm>
            <a:off x="576072" y="4215384"/>
            <a:ext cx="144554" cy="73150"/>
          </a:xfrm>
          <a:prstGeom prst="ellipse">
            <a:avLst/>
          </a:prstGeom>
          <a:solidFill>
            <a:srgbClr val="10B981"/>
          </a:solidFill>
          <a:ln w="12700">
            <a:solidFill>
              <a:srgbClr val="10B981"/>
            </a:solidFill>
            <a:prstDash val="solid"/>
          </a:ln>
        </p:spPr>
        <p:txBody>
          <a:bodyPr/>
          <a:lstStyle/>
          <a:p>
            <a:endParaRPr lang="it-IT"/>
          </a:p>
        </p:txBody>
      </p:sp>
      <p:sp>
        <p:nvSpPr>
          <p:cNvPr id="37" name="Text 35"/>
          <p:cNvSpPr/>
          <p:nvPr/>
        </p:nvSpPr>
        <p:spPr>
          <a:xfrm>
            <a:off x="740664" y="4151376"/>
            <a:ext cx="6089344" cy="237739"/>
          </a:xfrm>
          <a:prstGeom prst="rect">
            <a:avLst/>
          </a:prstGeom>
          <a:noFill/>
          <a:ln/>
        </p:spPr>
        <p:txBody>
          <a:bodyPr wrap="square" lIns="0" tIns="0" rIns="0" bIns="0" rtlCol="0" anchor="ctr">
            <a:noAutofit/>
          </a:bodyPr>
          <a:lstStyle/>
          <a:p>
            <a:pPr marL="0" indent="0">
              <a:buNone/>
            </a:pPr>
            <a:r>
              <a:rPr lang="en-US" sz="1250" dirty="0">
                <a:solidFill>
                  <a:srgbClr val="1F2937"/>
                </a:solidFill>
                <a:latin typeface="Aptos" pitchFamily="34" charset="0"/>
                <a:ea typeface="Aptos" pitchFamily="34" charset="-122"/>
                <a:cs typeface="Aptos" pitchFamily="34" charset="-120"/>
              </a:rPr>
              <a:t>  Primitive ammesse tramite whitelist rigida.</a:t>
            </a:r>
            <a:endParaRPr lang="en-US" sz="1250" dirty="0"/>
          </a:p>
        </p:txBody>
      </p:sp>
      <p:sp>
        <p:nvSpPr>
          <p:cNvPr id="38" name="Shape 36"/>
          <p:cNvSpPr/>
          <p:nvPr/>
        </p:nvSpPr>
        <p:spPr>
          <a:xfrm>
            <a:off x="576072" y="4562856"/>
            <a:ext cx="144554" cy="73150"/>
          </a:xfrm>
          <a:prstGeom prst="ellipse">
            <a:avLst/>
          </a:prstGeom>
          <a:solidFill>
            <a:srgbClr val="10B981"/>
          </a:solidFill>
          <a:ln w="12700">
            <a:solidFill>
              <a:srgbClr val="10B981"/>
            </a:solidFill>
            <a:prstDash val="solid"/>
          </a:ln>
        </p:spPr>
        <p:txBody>
          <a:bodyPr/>
          <a:lstStyle/>
          <a:p>
            <a:endParaRPr lang="it-IT"/>
          </a:p>
        </p:txBody>
      </p:sp>
      <p:sp>
        <p:nvSpPr>
          <p:cNvPr id="39" name="Text 37"/>
          <p:cNvSpPr/>
          <p:nvPr/>
        </p:nvSpPr>
        <p:spPr>
          <a:xfrm>
            <a:off x="740664" y="4498848"/>
            <a:ext cx="6089344" cy="237739"/>
          </a:xfrm>
          <a:prstGeom prst="rect">
            <a:avLst/>
          </a:prstGeom>
          <a:noFill/>
          <a:ln/>
        </p:spPr>
        <p:txBody>
          <a:bodyPr wrap="square" lIns="0" tIns="0" rIns="0" bIns="0" rtlCol="0" anchor="ctr">
            <a:normAutofit/>
          </a:bodyPr>
          <a:lstStyle/>
          <a:p>
            <a:pPr marL="0" indent="0">
              <a:buNone/>
            </a:pPr>
            <a:r>
              <a:rPr lang="en-US" sz="1250" dirty="0">
                <a:solidFill>
                  <a:srgbClr val="1F2937"/>
                </a:solidFill>
                <a:latin typeface="Aptos" pitchFamily="34" charset="0"/>
                <a:ea typeface="Aptos" pitchFamily="34" charset="-122"/>
                <a:cs typeface="Aptos" pitchFamily="34" charset="-120"/>
              </a:rPr>
              <a:t>  </a:t>
            </a:r>
            <a:r>
              <a:rPr lang="en-US" sz="1250" dirty="0" err="1">
                <a:solidFill>
                  <a:srgbClr val="1F2937"/>
                </a:solidFill>
                <a:latin typeface="Aptos" pitchFamily="34" charset="0"/>
                <a:ea typeface="Aptos" pitchFamily="34" charset="-122"/>
                <a:cs typeface="Aptos" pitchFamily="34" charset="-120"/>
              </a:rPr>
              <a:t>Scenari</a:t>
            </a:r>
            <a:r>
              <a:rPr lang="en-US" sz="1250" dirty="0">
                <a:solidFill>
                  <a:srgbClr val="1F2937"/>
                </a:solidFill>
                <a:latin typeface="Aptos" pitchFamily="34" charset="0"/>
                <a:ea typeface="Aptos" pitchFamily="34" charset="-122"/>
                <a:cs typeface="Aptos" pitchFamily="34" charset="-120"/>
              </a:rPr>
              <a:t> duplicati rifiutati senza consumare budget.</a:t>
            </a:r>
            <a:endParaRPr lang="en-US" sz="1250" dirty="0"/>
          </a:p>
        </p:txBody>
      </p:sp>
      <p:sp>
        <p:nvSpPr>
          <p:cNvPr id="40" name="Shape 38"/>
          <p:cNvSpPr/>
          <p:nvPr/>
        </p:nvSpPr>
        <p:spPr>
          <a:xfrm>
            <a:off x="576072" y="4910328"/>
            <a:ext cx="144554" cy="73150"/>
          </a:xfrm>
          <a:prstGeom prst="ellipse">
            <a:avLst/>
          </a:prstGeom>
          <a:solidFill>
            <a:srgbClr val="10B981"/>
          </a:solidFill>
          <a:ln w="12700">
            <a:solidFill>
              <a:srgbClr val="10B981"/>
            </a:solidFill>
            <a:prstDash val="solid"/>
          </a:ln>
        </p:spPr>
        <p:txBody>
          <a:bodyPr/>
          <a:lstStyle/>
          <a:p>
            <a:endParaRPr lang="it-IT"/>
          </a:p>
        </p:txBody>
      </p:sp>
      <p:sp>
        <p:nvSpPr>
          <p:cNvPr id="41" name="Text 39"/>
          <p:cNvSpPr/>
          <p:nvPr/>
        </p:nvSpPr>
        <p:spPr>
          <a:xfrm>
            <a:off x="740664" y="4846320"/>
            <a:ext cx="6089344" cy="237739"/>
          </a:xfrm>
          <a:prstGeom prst="rect">
            <a:avLst/>
          </a:prstGeom>
          <a:noFill/>
          <a:ln/>
        </p:spPr>
        <p:txBody>
          <a:bodyPr wrap="square" lIns="0" tIns="0" rIns="0" bIns="0" rtlCol="0" anchor="ctr">
            <a:normAutofit/>
          </a:bodyPr>
          <a:lstStyle/>
          <a:p>
            <a:pPr marL="0" indent="0">
              <a:buNone/>
            </a:pPr>
            <a:r>
              <a:rPr lang="en-US" sz="1250" dirty="0">
                <a:solidFill>
                  <a:srgbClr val="1F2937"/>
                </a:solidFill>
                <a:latin typeface="Aptos" pitchFamily="34" charset="0"/>
                <a:ea typeface="Aptos" pitchFamily="34" charset="-122"/>
                <a:cs typeface="Aptos" pitchFamily="34" charset="-120"/>
              </a:rPr>
              <a:t>  expect, gain e temporal_expect per verifiche OP/TRAN.</a:t>
            </a:r>
            <a:endParaRPr lang="en-US" sz="1250" dirty="0"/>
          </a:p>
        </p:txBody>
      </p:sp>
      <p:sp>
        <p:nvSpPr>
          <p:cNvPr id="42" name="Shape 40"/>
          <p:cNvSpPr/>
          <p:nvPr/>
        </p:nvSpPr>
        <p:spPr>
          <a:xfrm>
            <a:off x="576072" y="5257800"/>
            <a:ext cx="144554" cy="73150"/>
          </a:xfrm>
          <a:prstGeom prst="ellipse">
            <a:avLst/>
          </a:prstGeom>
          <a:solidFill>
            <a:srgbClr val="10B981"/>
          </a:solidFill>
          <a:ln w="12700">
            <a:solidFill>
              <a:srgbClr val="10B981"/>
            </a:solidFill>
            <a:prstDash val="solid"/>
          </a:ln>
        </p:spPr>
        <p:txBody>
          <a:bodyPr/>
          <a:lstStyle/>
          <a:p>
            <a:endParaRPr lang="it-IT"/>
          </a:p>
        </p:txBody>
      </p:sp>
      <p:sp>
        <p:nvSpPr>
          <p:cNvPr id="43" name="Text 41"/>
          <p:cNvSpPr/>
          <p:nvPr/>
        </p:nvSpPr>
        <p:spPr>
          <a:xfrm>
            <a:off x="740664" y="5193792"/>
            <a:ext cx="6089344" cy="237739"/>
          </a:xfrm>
          <a:prstGeom prst="rect">
            <a:avLst/>
          </a:prstGeom>
          <a:noFill/>
          <a:ln/>
        </p:spPr>
        <p:txBody>
          <a:bodyPr wrap="square" lIns="0" tIns="0" rIns="0" bIns="0" rtlCol="0" anchor="ctr">
            <a:normAutofit/>
          </a:bodyPr>
          <a:lstStyle/>
          <a:p>
            <a:pPr marL="0" indent="0">
              <a:buNone/>
            </a:pPr>
            <a:r>
              <a:rPr lang="en-US" sz="1250" dirty="0">
                <a:solidFill>
                  <a:srgbClr val="1F2937"/>
                </a:solidFill>
                <a:latin typeface="Aptos" pitchFamily="34" charset="0"/>
                <a:ea typeface="Aptos" pitchFamily="34" charset="-122"/>
                <a:cs typeface="Aptos" pitchFamily="34" charset="-120"/>
              </a:rPr>
              <a:t>  Stati finali distinti: </a:t>
            </a:r>
            <a:r>
              <a:rPr lang="en-US" sz="1250" b="1" dirty="0">
                <a:solidFill>
                  <a:srgbClr val="1F2937"/>
                </a:solidFill>
                <a:latin typeface="Aptos" pitchFamily="34" charset="0"/>
                <a:ea typeface="Aptos" pitchFamily="34" charset="-122"/>
                <a:cs typeface="Aptos" pitchFamily="34" charset="-120"/>
              </a:rPr>
              <a:t>resolved</a:t>
            </a:r>
            <a:r>
              <a:rPr lang="en-US" sz="1250" dirty="0">
                <a:solidFill>
                  <a:srgbClr val="1F2937"/>
                </a:solidFill>
                <a:latin typeface="Aptos" pitchFamily="34" charset="0"/>
                <a:ea typeface="Aptos" pitchFamily="34" charset="-122"/>
                <a:cs typeface="Aptos" pitchFamily="34" charset="-120"/>
              </a:rPr>
              <a:t>, </a:t>
            </a:r>
            <a:r>
              <a:rPr lang="en-US" sz="1250" b="1" dirty="0">
                <a:solidFill>
                  <a:srgbClr val="1F2937"/>
                </a:solidFill>
                <a:latin typeface="Aptos" pitchFamily="34" charset="0"/>
                <a:ea typeface="Aptos" pitchFamily="34" charset="-122"/>
                <a:cs typeface="Aptos" pitchFamily="34" charset="-120"/>
              </a:rPr>
              <a:t>localized</a:t>
            </a:r>
            <a:r>
              <a:rPr lang="en-US" sz="1250" dirty="0">
                <a:solidFill>
                  <a:srgbClr val="1F2937"/>
                </a:solidFill>
                <a:latin typeface="Aptos" pitchFamily="34" charset="0"/>
                <a:ea typeface="Aptos" pitchFamily="34" charset="-122"/>
                <a:cs typeface="Aptos" pitchFamily="34" charset="-120"/>
              </a:rPr>
              <a:t>, </a:t>
            </a:r>
            <a:r>
              <a:rPr lang="en-US" sz="1250" b="1" dirty="0">
                <a:solidFill>
                  <a:srgbClr val="1F2937"/>
                </a:solidFill>
                <a:latin typeface="Aptos" pitchFamily="34" charset="0"/>
                <a:ea typeface="Aptos" pitchFamily="34" charset="-122"/>
                <a:cs typeface="Aptos" pitchFamily="34" charset="-120"/>
              </a:rPr>
              <a:t>topology_issue</a:t>
            </a:r>
            <a:r>
              <a:rPr lang="en-US" sz="1250" dirty="0">
                <a:solidFill>
                  <a:srgbClr val="1F2937"/>
                </a:solidFill>
                <a:latin typeface="Aptos" pitchFamily="34" charset="0"/>
                <a:ea typeface="Aptos" pitchFamily="34" charset="-122"/>
                <a:cs typeface="Aptos" pitchFamily="34" charset="-120"/>
              </a:rPr>
              <a:t>, </a:t>
            </a:r>
            <a:r>
              <a:rPr lang="en-US" sz="1250" b="1" dirty="0">
                <a:solidFill>
                  <a:srgbClr val="1F2937"/>
                </a:solidFill>
                <a:latin typeface="Aptos" pitchFamily="34" charset="0"/>
                <a:ea typeface="Aptos" pitchFamily="34" charset="-122"/>
                <a:cs typeface="Aptos" pitchFamily="34" charset="-120"/>
              </a:rPr>
              <a:t>inconclusive</a:t>
            </a:r>
            <a:r>
              <a:rPr lang="en-US" sz="1250" dirty="0">
                <a:solidFill>
                  <a:srgbClr val="1F2937"/>
                </a:solidFill>
                <a:latin typeface="Aptos" pitchFamily="34" charset="0"/>
                <a:ea typeface="Aptos" pitchFamily="34" charset="-122"/>
                <a:cs typeface="Aptos" pitchFamily="34" charset="-120"/>
              </a:rPr>
              <a:t>.</a:t>
            </a:r>
            <a:endParaRPr lang="en-US" sz="1250" dirty="0"/>
          </a:p>
        </p:txBody>
      </p:sp>
      <p:sp>
        <p:nvSpPr>
          <p:cNvPr id="44" name="Shape 42"/>
          <p:cNvSpPr/>
          <p:nvPr/>
        </p:nvSpPr>
        <p:spPr>
          <a:xfrm>
            <a:off x="7059168" y="3355499"/>
            <a:ext cx="4556760" cy="1280507"/>
          </a:xfrm>
          <a:prstGeom prst="roundRect">
            <a:avLst>
              <a:gd name="adj" fmla="val 6818"/>
            </a:avLst>
          </a:prstGeom>
          <a:solidFill>
            <a:srgbClr val="EEF2FF"/>
          </a:solidFill>
          <a:ln w="12700">
            <a:solidFill>
              <a:srgbClr val="C7D2FE"/>
            </a:solidFill>
            <a:prstDash val="solid"/>
          </a:ln>
        </p:spPr>
        <p:txBody>
          <a:bodyPr/>
          <a:lstStyle/>
          <a:p>
            <a:endParaRPr lang="it-IT"/>
          </a:p>
        </p:txBody>
      </p:sp>
      <p:sp>
        <p:nvSpPr>
          <p:cNvPr id="45" name="Text 43"/>
          <p:cNvSpPr/>
          <p:nvPr/>
        </p:nvSpPr>
        <p:spPr>
          <a:xfrm>
            <a:off x="8550933" y="3462629"/>
            <a:ext cx="1758037" cy="174791"/>
          </a:xfrm>
          <a:prstGeom prst="rect">
            <a:avLst/>
          </a:prstGeom>
          <a:noFill/>
          <a:ln/>
        </p:spPr>
        <p:txBody>
          <a:bodyPr wrap="square" lIns="0" tIns="0" rIns="0" bIns="0" rtlCol="0" anchor="ctr"/>
          <a:lstStyle/>
          <a:p>
            <a:pPr marL="0" indent="0">
              <a:buNone/>
            </a:pPr>
            <a:r>
              <a:rPr lang="en-US" sz="1600" b="1" dirty="0">
                <a:solidFill>
                  <a:srgbClr val="8B5CF6"/>
                </a:solidFill>
              </a:rPr>
              <a:t>Differenza chiave</a:t>
            </a:r>
            <a:endParaRPr lang="en-US" sz="1600" dirty="0"/>
          </a:p>
        </p:txBody>
      </p:sp>
      <p:sp>
        <p:nvSpPr>
          <p:cNvPr id="46" name="Text 44"/>
          <p:cNvSpPr/>
          <p:nvPr/>
        </p:nvSpPr>
        <p:spPr>
          <a:xfrm>
            <a:off x="7243977" y="4068351"/>
            <a:ext cx="4371951" cy="311847"/>
          </a:xfrm>
          <a:prstGeom prst="rect">
            <a:avLst/>
          </a:prstGeom>
          <a:noFill/>
          <a:ln/>
        </p:spPr>
        <p:txBody>
          <a:bodyPr wrap="square" lIns="0" tIns="0" rIns="0" bIns="0" rtlCol="0" anchor="ctr">
            <a:noAutofit/>
          </a:bodyPr>
          <a:lstStyle/>
          <a:p>
            <a:pPr marL="0" indent="0">
              <a:buNone/>
            </a:pPr>
            <a:r>
              <a:rPr lang="en-US" sz="1200" b="1" dirty="0">
                <a:solidFill>
                  <a:srgbClr val="0B1320"/>
                </a:solidFill>
              </a:rPr>
              <a:t>CHAT assiste </a:t>
            </a:r>
            <a:r>
              <a:rPr lang="en-US" sz="1200" b="1" dirty="0" err="1">
                <a:solidFill>
                  <a:srgbClr val="0B1320"/>
                </a:solidFill>
              </a:rPr>
              <a:t>l’utente</a:t>
            </a:r>
            <a:r>
              <a:rPr lang="en-US" sz="1200" b="1" dirty="0">
                <a:solidFill>
                  <a:srgbClr val="0B1320"/>
                </a:solidFill>
              </a:rPr>
              <a:t>.</a:t>
            </a:r>
          </a:p>
          <a:p>
            <a:pPr marL="0" indent="0">
              <a:buNone/>
            </a:pPr>
            <a:endParaRPr lang="en-US" sz="1200" b="1" dirty="0">
              <a:solidFill>
                <a:srgbClr val="0B1320"/>
              </a:solidFill>
            </a:endParaRPr>
          </a:p>
          <a:p>
            <a:pPr marL="0" indent="0">
              <a:buNone/>
            </a:pPr>
            <a:r>
              <a:rPr lang="en-US" sz="1200" b="1" dirty="0">
                <a:solidFill>
                  <a:srgbClr val="0B1320"/>
                </a:solidFill>
              </a:rPr>
              <a:t>AGENT chiude il ciclo diagnostico in autonomia controllata.</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pic>
        <p:nvPicPr>
          <p:cNvPr id="42" name="Picture 41" descr="light_circuit_template_bg.png"/>
          <p:cNvPicPr>
            <a:picLocks noChangeAspect="1"/>
          </p:cNvPicPr>
          <p:nvPr/>
        </p:nvPicPr>
        <p:blipFill>
          <a:blip r:embed="rId3"/>
          <a:stretch>
            <a:fillRect/>
          </a:stretch>
        </p:blipFill>
        <p:spPr>
          <a:xfrm>
            <a:off x="0" y="0"/>
            <a:ext cx="12192000" cy="6858000"/>
          </a:xfrm>
          <a:prstGeom prst="rect">
            <a:avLst/>
          </a:prstGeom>
        </p:spPr>
      </p:pic>
      <p:sp>
        <p:nvSpPr>
          <p:cNvPr id="2" name="Text 0"/>
          <p:cNvSpPr/>
          <p:nvPr/>
        </p:nvSpPr>
        <p:spPr>
          <a:xfrm>
            <a:off x="530352" y="384048"/>
            <a:ext cx="8778240" cy="438912"/>
          </a:xfrm>
          <a:prstGeom prst="rect">
            <a:avLst/>
          </a:prstGeom>
          <a:noFill/>
          <a:ln/>
        </p:spPr>
        <p:txBody>
          <a:bodyPr wrap="square" lIns="0" tIns="0" rIns="0" bIns="0" rtlCol="0" anchor="ctr"/>
          <a:lstStyle/>
          <a:p>
            <a:pPr marL="0" indent="0">
              <a:buNone/>
            </a:pPr>
            <a:r>
              <a:rPr lang="en-US" sz="2800" b="1" dirty="0">
                <a:solidFill>
                  <a:srgbClr val="0B1320"/>
                </a:solidFill>
                <a:latin typeface="Aptos Display" pitchFamily="34" charset="0"/>
                <a:ea typeface="Aptos Display" pitchFamily="34" charset="-122"/>
                <a:cs typeface="Aptos Display" pitchFamily="34" charset="-120"/>
              </a:rPr>
              <a:t>Validazione sperimentale</a:t>
            </a:r>
            <a:endParaRPr lang="en-US" sz="2800" dirty="0"/>
          </a:p>
        </p:txBody>
      </p:sp>
      <p:sp>
        <p:nvSpPr>
          <p:cNvPr id="3" name="Text 1"/>
          <p:cNvSpPr/>
          <p:nvPr/>
        </p:nvSpPr>
        <p:spPr>
          <a:xfrm>
            <a:off x="548640" y="850392"/>
            <a:ext cx="9692640" cy="256032"/>
          </a:xfrm>
          <a:prstGeom prst="rect">
            <a:avLst/>
          </a:prstGeom>
          <a:noFill/>
          <a:ln/>
        </p:spPr>
        <p:txBody>
          <a:bodyPr wrap="square" lIns="0" tIns="0" rIns="0" bIns="0" rtlCol="0" anchor="ctr"/>
          <a:lstStyle/>
          <a:p>
            <a:pPr marL="0" indent="0">
              <a:buNone/>
            </a:pPr>
            <a:r>
              <a:rPr lang="en-US" sz="1250" dirty="0">
                <a:solidFill>
                  <a:srgbClr val="64748B"/>
                </a:solidFill>
                <a:latin typeface="Aptos" pitchFamily="34" charset="0"/>
                <a:ea typeface="Aptos" pitchFamily="34" charset="-122"/>
                <a:cs typeface="Aptos" pitchFamily="34" charset="-120"/>
              </a:rPr>
              <a:t>Batch A e Batch B usati per verificare SPICE, scenari e agente</a:t>
            </a:r>
            <a:endParaRPr lang="en-US" sz="1250" dirty="0"/>
          </a:p>
        </p:txBody>
      </p:sp>
      <p:sp>
        <p:nvSpPr>
          <p:cNvPr id="4" name="Shape 2"/>
          <p:cNvSpPr/>
          <p:nvPr/>
        </p:nvSpPr>
        <p:spPr>
          <a:xfrm>
            <a:off x="530352" y="1152144"/>
            <a:ext cx="594360" cy="50292"/>
          </a:xfrm>
          <a:prstGeom prst="rect">
            <a:avLst/>
          </a:prstGeom>
          <a:solidFill>
            <a:srgbClr val="10B981"/>
          </a:solidFill>
          <a:ln w="12700">
            <a:solidFill>
              <a:srgbClr val="10B981"/>
            </a:solidFill>
            <a:prstDash val="solid"/>
          </a:ln>
        </p:spPr>
        <p:txBody>
          <a:bodyPr/>
          <a:lstStyle/>
          <a:p>
            <a:endParaRPr lang="it-IT"/>
          </a:p>
        </p:txBody>
      </p:sp>
      <p:sp>
        <p:nvSpPr>
          <p:cNvPr id="5" name="Text 3"/>
          <p:cNvSpPr/>
          <p:nvPr/>
        </p:nvSpPr>
        <p:spPr>
          <a:xfrm>
            <a:off x="502920" y="6510528"/>
            <a:ext cx="5394960" cy="164592"/>
          </a:xfrm>
          <a:prstGeom prst="rect">
            <a:avLst/>
          </a:prstGeom>
          <a:noFill/>
          <a:ln/>
        </p:spPr>
        <p:txBody>
          <a:bodyPr wrap="square" lIns="0" tIns="0" rIns="0" bIns="0" rtlCol="0" anchor="ctr"/>
          <a:lstStyle/>
          <a:p>
            <a:pPr marL="0" indent="0">
              <a:buNone/>
            </a:pPr>
            <a:r>
              <a:rPr lang="en-US" sz="750" dirty="0">
                <a:solidFill>
                  <a:srgbClr val="64748B"/>
                </a:solidFill>
                <a:latin typeface="Aptos" pitchFamily="34" charset="0"/>
                <a:ea typeface="Aptos" pitchFamily="34" charset="-122"/>
                <a:cs typeface="Aptos" pitchFamily="34" charset="-120"/>
              </a:rPr>
              <a:t>Panoramica percorso di tesi</a:t>
            </a:r>
            <a:endParaRPr lang="en-US" sz="750" dirty="0"/>
          </a:p>
        </p:txBody>
      </p:sp>
      <p:sp>
        <p:nvSpPr>
          <p:cNvPr id="6" name="Text 4"/>
          <p:cNvSpPr/>
          <p:nvPr/>
        </p:nvSpPr>
        <p:spPr>
          <a:xfrm>
            <a:off x="11320272" y="6419088"/>
            <a:ext cx="384048" cy="201168"/>
          </a:xfrm>
          <a:prstGeom prst="rect">
            <a:avLst/>
          </a:prstGeom>
          <a:noFill/>
          <a:ln/>
        </p:spPr>
        <p:txBody>
          <a:bodyPr wrap="square" lIns="0" tIns="0" rIns="0" bIns="0" rtlCol="0" anchor="ctr"/>
          <a:lstStyle/>
          <a:p>
            <a:pPr marL="0" indent="0" algn="r">
              <a:buNone/>
            </a:pPr>
            <a:r>
              <a:rPr lang="en-US" sz="850" b="1">
                <a:solidFill>
                  <a:srgbClr val="64748B"/>
                </a:solidFill>
                <a:latin typeface="Aptos" panose="020B0004020202020204" pitchFamily="34" charset="0"/>
                <a:ea typeface="Aptos" pitchFamily="34" charset="-122"/>
                <a:cs typeface="Aptos" pitchFamily="34" charset="-120"/>
              </a:rPr>
              <a:t>13</a:t>
            </a:r>
            <a:endParaRPr lang="en-US" sz="850" b="1" dirty="0">
              <a:latin typeface="Aptos" panose="020B0004020202020204" pitchFamily="34" charset="0"/>
            </a:endParaRPr>
          </a:p>
        </p:txBody>
      </p:sp>
      <p:sp>
        <p:nvSpPr>
          <p:cNvPr id="7" name="Shape 5"/>
          <p:cNvSpPr/>
          <p:nvPr/>
        </p:nvSpPr>
        <p:spPr>
          <a:xfrm>
            <a:off x="502920" y="6345936"/>
            <a:ext cx="11173968" cy="0"/>
          </a:xfrm>
          <a:prstGeom prst="line">
            <a:avLst/>
          </a:prstGeom>
          <a:noFill/>
          <a:ln w="9525">
            <a:solidFill>
              <a:srgbClr val="E5E7EB"/>
            </a:solidFill>
            <a:prstDash val="solid"/>
          </a:ln>
        </p:spPr>
        <p:txBody>
          <a:bodyPr/>
          <a:lstStyle/>
          <a:p>
            <a:endParaRPr lang="it-IT"/>
          </a:p>
        </p:txBody>
      </p:sp>
      <p:sp>
        <p:nvSpPr>
          <p:cNvPr id="8" name="Text 6"/>
          <p:cNvSpPr/>
          <p:nvPr/>
        </p:nvSpPr>
        <p:spPr>
          <a:xfrm>
            <a:off x="713232" y="1508760"/>
            <a:ext cx="1828800" cy="384048"/>
          </a:xfrm>
          <a:prstGeom prst="rect">
            <a:avLst/>
          </a:prstGeom>
          <a:noFill/>
          <a:ln/>
        </p:spPr>
        <p:txBody>
          <a:bodyPr wrap="square" lIns="0" tIns="0" rIns="0" bIns="0" rtlCol="0" anchor="ctr"/>
          <a:lstStyle/>
          <a:p>
            <a:pPr marL="0" indent="0" algn="ctr">
              <a:buNone/>
            </a:pPr>
            <a:r>
              <a:rPr lang="en-US" sz="2800" b="1" dirty="0">
                <a:solidFill>
                  <a:srgbClr val="10B981"/>
                </a:solidFill>
                <a:latin typeface="Aptos Display" pitchFamily="34" charset="0"/>
                <a:ea typeface="Aptos Display" pitchFamily="34" charset="-122"/>
                <a:cs typeface="Aptos Display" pitchFamily="34" charset="-120"/>
              </a:rPr>
              <a:t>15</a:t>
            </a:r>
            <a:endParaRPr lang="en-US" sz="2800" dirty="0"/>
          </a:p>
        </p:txBody>
      </p:sp>
      <p:sp>
        <p:nvSpPr>
          <p:cNvPr id="9" name="Text 7"/>
          <p:cNvSpPr/>
          <p:nvPr/>
        </p:nvSpPr>
        <p:spPr>
          <a:xfrm>
            <a:off x="713232" y="189280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circuiti documentati</a:t>
            </a:r>
            <a:endParaRPr lang="en-US" sz="1200" dirty="0"/>
          </a:p>
        </p:txBody>
      </p:sp>
      <p:sp>
        <p:nvSpPr>
          <p:cNvPr id="10" name="Text 8"/>
          <p:cNvSpPr/>
          <p:nvPr/>
        </p:nvSpPr>
        <p:spPr>
          <a:xfrm>
            <a:off x="2788920" y="1508760"/>
            <a:ext cx="1828800" cy="384048"/>
          </a:xfrm>
          <a:prstGeom prst="rect">
            <a:avLst/>
          </a:prstGeom>
          <a:noFill/>
          <a:ln/>
        </p:spPr>
        <p:txBody>
          <a:bodyPr wrap="square" lIns="0" tIns="0" rIns="0" bIns="0" rtlCol="0" anchor="ctr"/>
          <a:lstStyle/>
          <a:p>
            <a:pPr marL="0" indent="0" algn="ctr">
              <a:buNone/>
            </a:pPr>
            <a:r>
              <a:rPr lang="en-US" sz="2800" b="1" dirty="0">
                <a:solidFill>
                  <a:srgbClr val="2563EB"/>
                </a:solidFill>
                <a:latin typeface="Aptos Display" pitchFamily="34" charset="0"/>
                <a:ea typeface="Aptos Display" pitchFamily="34" charset="-122"/>
                <a:cs typeface="Aptos Display" pitchFamily="34" charset="-120"/>
              </a:rPr>
              <a:t>2</a:t>
            </a:r>
            <a:endParaRPr lang="en-US" sz="2800" dirty="0"/>
          </a:p>
        </p:txBody>
      </p:sp>
      <p:sp>
        <p:nvSpPr>
          <p:cNvPr id="11" name="Text 9"/>
          <p:cNvSpPr/>
          <p:nvPr/>
        </p:nvSpPr>
        <p:spPr>
          <a:xfrm>
            <a:off x="2788920" y="189280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modalità: CHAT + AGENT</a:t>
            </a:r>
            <a:endParaRPr lang="en-US" sz="1200" dirty="0"/>
          </a:p>
        </p:txBody>
      </p:sp>
      <p:sp>
        <p:nvSpPr>
          <p:cNvPr id="12" name="Text 10"/>
          <p:cNvSpPr/>
          <p:nvPr/>
        </p:nvSpPr>
        <p:spPr>
          <a:xfrm>
            <a:off x="4864608" y="1508760"/>
            <a:ext cx="1828800" cy="384048"/>
          </a:xfrm>
          <a:prstGeom prst="rect">
            <a:avLst/>
          </a:prstGeom>
          <a:noFill/>
          <a:ln/>
        </p:spPr>
        <p:txBody>
          <a:bodyPr wrap="square" lIns="0" tIns="0" rIns="0" bIns="0" rtlCol="0" anchor="ctr"/>
          <a:lstStyle/>
          <a:p>
            <a:pPr marL="0" indent="0" algn="ctr">
              <a:buNone/>
            </a:pPr>
            <a:r>
              <a:rPr lang="en-US" sz="2800" b="1" dirty="0">
                <a:solidFill>
                  <a:srgbClr val="8B5CF6"/>
                </a:solidFill>
                <a:latin typeface="Aptos Display" pitchFamily="34" charset="0"/>
                <a:ea typeface="Aptos Display" pitchFamily="34" charset="-122"/>
                <a:cs typeface="Aptos Display" pitchFamily="34" charset="-120"/>
              </a:rPr>
              <a:t>5</a:t>
            </a:r>
            <a:endParaRPr lang="en-US" sz="2800" dirty="0"/>
          </a:p>
        </p:txBody>
      </p:sp>
      <p:sp>
        <p:nvSpPr>
          <p:cNvPr id="13" name="Text 11"/>
          <p:cNvSpPr/>
          <p:nvPr/>
        </p:nvSpPr>
        <p:spPr>
          <a:xfrm>
            <a:off x="4864608" y="1892808"/>
            <a:ext cx="1828800" cy="274320"/>
          </a:xfrm>
          <a:prstGeom prst="rect">
            <a:avLst/>
          </a:prstGeom>
          <a:noFill/>
          <a:ln/>
        </p:spPr>
        <p:txBody>
          <a:bodyPr wrap="square" lIns="0" tIns="0" rIns="0" bIns="0" rtlCol="0" anchor="ctr"/>
          <a:lstStyle/>
          <a:p>
            <a:pPr marL="0" indent="0" algn="ctr">
              <a:buNone/>
            </a:pPr>
            <a:r>
              <a:rPr lang="en-US" sz="1200" dirty="0">
                <a:solidFill>
                  <a:srgbClr val="334155"/>
                </a:solidFill>
                <a:latin typeface="Aptos" pitchFamily="34" charset="0"/>
                <a:ea typeface="Aptos" pitchFamily="34" charset="-122"/>
                <a:cs typeface="Aptos" pitchFamily="34" charset="-120"/>
              </a:rPr>
              <a:t>max run scenario/</a:t>
            </a:r>
            <a:r>
              <a:rPr lang="en-US" sz="1200" dirty="0" err="1">
                <a:solidFill>
                  <a:srgbClr val="334155"/>
                </a:solidFill>
                <a:latin typeface="Aptos" pitchFamily="34" charset="0"/>
                <a:ea typeface="Aptos" pitchFamily="34" charset="-122"/>
                <a:cs typeface="Aptos" pitchFamily="34" charset="-120"/>
              </a:rPr>
              <a:t>circuito</a:t>
            </a:r>
            <a:endParaRPr lang="en-US" sz="1200" dirty="0"/>
          </a:p>
        </p:txBody>
      </p:sp>
      <p:sp>
        <p:nvSpPr>
          <p:cNvPr id="14" name="Text 12"/>
          <p:cNvSpPr/>
          <p:nvPr/>
        </p:nvSpPr>
        <p:spPr>
          <a:xfrm>
            <a:off x="804672" y="2743200"/>
            <a:ext cx="3657600" cy="201168"/>
          </a:xfrm>
          <a:prstGeom prst="rect">
            <a:avLst/>
          </a:prstGeom>
          <a:noFill/>
          <a:ln/>
        </p:spPr>
        <p:txBody>
          <a:bodyPr wrap="square" lIns="0" tIns="0" rIns="0" bIns="0" rtlCol="0" anchor="ctr"/>
          <a:lstStyle/>
          <a:p>
            <a:pPr marL="0" indent="0">
              <a:buNone/>
            </a:pPr>
            <a:r>
              <a:rPr lang="en-US" sz="1400" b="1" dirty="0">
                <a:solidFill>
                  <a:srgbClr val="059669"/>
                </a:solidFill>
                <a:latin typeface="Aptos" pitchFamily="34" charset="0"/>
                <a:ea typeface="Aptos" pitchFamily="34" charset="-122"/>
                <a:cs typeface="Aptos" pitchFamily="34" charset="-120"/>
              </a:rPr>
              <a:t>BATCH A — CIRCUITI SEMPLICI / DISCRETI</a:t>
            </a:r>
            <a:endParaRPr lang="en-US" sz="1400" dirty="0"/>
          </a:p>
        </p:txBody>
      </p:sp>
      <p:sp>
        <p:nvSpPr>
          <p:cNvPr id="15" name="Text 13"/>
          <p:cNvSpPr/>
          <p:nvPr/>
        </p:nvSpPr>
        <p:spPr>
          <a:xfrm>
            <a:off x="868680" y="310896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a01/a02</a:t>
            </a:r>
            <a:endParaRPr lang="en-US" sz="1200" dirty="0"/>
          </a:p>
        </p:txBody>
      </p:sp>
      <p:sp>
        <p:nvSpPr>
          <p:cNvPr id="16" name="Text 14"/>
          <p:cNvSpPr/>
          <p:nvPr/>
        </p:nvSpPr>
        <p:spPr>
          <a:xfrm>
            <a:off x="1737360" y="309981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continuità e alimentazione mancante</a:t>
            </a:r>
            <a:endParaRPr lang="en-US" sz="1200" dirty="0"/>
          </a:p>
        </p:txBody>
      </p:sp>
      <p:sp>
        <p:nvSpPr>
          <p:cNvPr id="17" name="Text 15"/>
          <p:cNvSpPr/>
          <p:nvPr/>
        </p:nvSpPr>
        <p:spPr>
          <a:xfrm>
            <a:off x="868680" y="347472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a04/a06</a:t>
            </a:r>
            <a:endParaRPr lang="en-US" sz="1200" dirty="0"/>
          </a:p>
        </p:txBody>
      </p:sp>
      <p:sp>
        <p:nvSpPr>
          <p:cNvPr id="18" name="Text 16"/>
          <p:cNvSpPr/>
          <p:nvPr/>
        </p:nvSpPr>
        <p:spPr>
          <a:xfrm>
            <a:off x="1737360" y="346557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amplificazione, gain e distorsione</a:t>
            </a:r>
            <a:endParaRPr lang="en-US" sz="1200" dirty="0"/>
          </a:p>
        </p:txBody>
      </p:sp>
      <p:sp>
        <p:nvSpPr>
          <p:cNvPr id="19" name="Text 17"/>
          <p:cNvSpPr/>
          <p:nvPr/>
        </p:nvSpPr>
        <p:spPr>
          <a:xfrm>
            <a:off x="868680" y="384048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a08</a:t>
            </a:r>
            <a:endParaRPr lang="en-US" sz="1200" dirty="0"/>
          </a:p>
        </p:txBody>
      </p:sp>
      <p:sp>
        <p:nvSpPr>
          <p:cNvPr id="20" name="Text 18"/>
          <p:cNvSpPr/>
          <p:nvPr/>
        </p:nvSpPr>
        <p:spPr>
          <a:xfrm>
            <a:off x="1737360" y="383133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lampeggio con duty cycle e temporal_expect</a:t>
            </a:r>
            <a:endParaRPr lang="en-US" sz="1200" dirty="0"/>
          </a:p>
        </p:txBody>
      </p:sp>
      <p:sp>
        <p:nvSpPr>
          <p:cNvPr id="21" name="Text 19"/>
          <p:cNvSpPr/>
          <p:nvPr/>
        </p:nvSpPr>
        <p:spPr>
          <a:xfrm>
            <a:off x="868680" y="4206240"/>
            <a:ext cx="777240" cy="146304"/>
          </a:xfrm>
          <a:prstGeom prst="rect">
            <a:avLst/>
          </a:prstGeom>
          <a:noFill/>
          <a:ln/>
        </p:spPr>
        <p:txBody>
          <a:bodyPr wrap="square" lIns="0" tIns="0" rIns="0" bIns="0" rtlCol="0" anchor="ctr"/>
          <a:lstStyle/>
          <a:p>
            <a:pPr marL="0" indent="0">
              <a:buNone/>
            </a:pPr>
            <a:r>
              <a:rPr lang="en-US" sz="1200" b="1" dirty="0">
                <a:solidFill>
                  <a:srgbClr val="059669"/>
                </a:solidFill>
              </a:rPr>
              <a:t>a09/a10</a:t>
            </a:r>
            <a:endParaRPr lang="en-US" sz="1200" dirty="0"/>
          </a:p>
        </p:txBody>
      </p:sp>
      <p:sp>
        <p:nvSpPr>
          <p:cNvPr id="22" name="Text 20"/>
          <p:cNvSpPr/>
          <p:nvPr/>
        </p:nvSpPr>
        <p:spPr>
          <a:xfrm>
            <a:off x="1737360" y="4197096"/>
            <a:ext cx="4389120" cy="146304"/>
          </a:xfrm>
          <a:prstGeom prst="rect">
            <a:avLst/>
          </a:prstGeom>
          <a:noFill/>
          <a:ln/>
        </p:spPr>
        <p:txBody>
          <a:bodyPr wrap="square" lIns="0" tIns="0" rIns="0" bIns="0" rtlCol="0" anchor="ctr">
            <a:noAutofit/>
          </a:bodyPr>
          <a:lstStyle/>
          <a:p>
            <a:pPr marL="0" indent="0">
              <a:buNone/>
            </a:pPr>
            <a:r>
              <a:rPr lang="en-US" sz="1200" dirty="0">
                <a:solidFill>
                  <a:srgbClr val="334155"/>
                </a:solidFill>
              </a:rPr>
              <a:t>carichi multipli: lampada + LED</a:t>
            </a:r>
            <a:endParaRPr lang="en-US" sz="1200" dirty="0"/>
          </a:p>
        </p:txBody>
      </p:sp>
      <p:sp>
        <p:nvSpPr>
          <p:cNvPr id="23" name="Text 21"/>
          <p:cNvSpPr/>
          <p:nvPr/>
        </p:nvSpPr>
        <p:spPr>
          <a:xfrm>
            <a:off x="6446520" y="2743200"/>
            <a:ext cx="3657600" cy="201168"/>
          </a:xfrm>
          <a:prstGeom prst="rect">
            <a:avLst/>
          </a:prstGeom>
          <a:noFill/>
          <a:ln/>
        </p:spPr>
        <p:txBody>
          <a:bodyPr wrap="square" lIns="0" tIns="0" rIns="0" bIns="0" rtlCol="0" anchor="ctr"/>
          <a:lstStyle/>
          <a:p>
            <a:pPr marL="0" indent="0">
              <a:buNone/>
            </a:pPr>
            <a:r>
              <a:rPr lang="en-US" sz="1400" b="1" dirty="0">
                <a:solidFill>
                  <a:srgbClr val="059669"/>
                </a:solidFill>
                <a:latin typeface="Aptos" pitchFamily="34" charset="0"/>
                <a:ea typeface="Aptos" pitchFamily="34" charset="-122"/>
                <a:cs typeface="Aptos" pitchFamily="34" charset="-120"/>
              </a:rPr>
              <a:t>BATCH B — CIRCUITI PIÙ COMPLESSI</a:t>
            </a:r>
            <a:endParaRPr lang="en-US" sz="1400" dirty="0"/>
          </a:p>
        </p:txBody>
      </p:sp>
      <p:sp>
        <p:nvSpPr>
          <p:cNvPr id="24" name="Text 22"/>
          <p:cNvSpPr/>
          <p:nvPr/>
        </p:nvSpPr>
        <p:spPr>
          <a:xfrm>
            <a:off x="6510528" y="3108960"/>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b02</a:t>
            </a:r>
            <a:endParaRPr lang="en-US" sz="1200" dirty="0"/>
          </a:p>
        </p:txBody>
      </p:sp>
      <p:sp>
        <p:nvSpPr>
          <p:cNvPr id="25" name="Text 23"/>
          <p:cNvSpPr/>
          <p:nvPr/>
        </p:nvSpPr>
        <p:spPr>
          <a:xfrm>
            <a:off x="7406640" y="3099816"/>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multivibratore</a:t>
            </a:r>
            <a:r>
              <a:rPr lang="en-US" sz="1200" dirty="0">
                <a:solidFill>
                  <a:srgbClr val="334155"/>
                </a:solidFill>
              </a:rPr>
              <a:t> </a:t>
            </a:r>
            <a:r>
              <a:rPr lang="en-US" sz="1200" b="1" dirty="0">
                <a:solidFill>
                  <a:srgbClr val="334155"/>
                </a:solidFill>
              </a:rPr>
              <a:t>simmetrico</a:t>
            </a:r>
            <a:r>
              <a:rPr lang="en-US" sz="1200" dirty="0">
                <a:solidFill>
                  <a:srgbClr val="334155"/>
                </a:solidFill>
              </a:rPr>
              <a:t>: </a:t>
            </a:r>
            <a:r>
              <a:rPr lang="en-US" sz="1200" i="1" dirty="0">
                <a:solidFill>
                  <a:srgbClr val="334155"/>
                </a:solidFill>
              </a:rPr>
              <a:t>.ic iniziale</a:t>
            </a:r>
            <a:endParaRPr lang="en-US" sz="1200" i="1" dirty="0"/>
          </a:p>
        </p:txBody>
      </p:sp>
      <p:sp>
        <p:nvSpPr>
          <p:cNvPr id="26" name="Text 24"/>
          <p:cNvSpPr/>
          <p:nvPr/>
        </p:nvSpPr>
        <p:spPr>
          <a:xfrm>
            <a:off x="6510528" y="3438144"/>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b03</a:t>
            </a:r>
            <a:endParaRPr lang="en-US" sz="1200" dirty="0"/>
          </a:p>
        </p:txBody>
      </p:sp>
      <p:sp>
        <p:nvSpPr>
          <p:cNvPr id="27" name="Text 25"/>
          <p:cNvSpPr/>
          <p:nvPr/>
        </p:nvSpPr>
        <p:spPr>
          <a:xfrm>
            <a:off x="7406640" y="3429000"/>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monitor batteria</a:t>
            </a:r>
            <a:r>
              <a:rPr lang="en-US" sz="1200" dirty="0">
                <a:solidFill>
                  <a:srgbClr val="334155"/>
                </a:solidFill>
              </a:rPr>
              <a:t>: sequenza rosso/giallo/verde</a:t>
            </a:r>
            <a:endParaRPr lang="en-US" sz="1200" dirty="0"/>
          </a:p>
        </p:txBody>
      </p:sp>
      <p:sp>
        <p:nvSpPr>
          <p:cNvPr id="28" name="Text 26"/>
          <p:cNvSpPr/>
          <p:nvPr/>
        </p:nvSpPr>
        <p:spPr>
          <a:xfrm>
            <a:off x="6510528" y="3767328"/>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b04</a:t>
            </a:r>
            <a:endParaRPr lang="en-US" sz="1200" dirty="0"/>
          </a:p>
        </p:txBody>
      </p:sp>
      <p:sp>
        <p:nvSpPr>
          <p:cNvPr id="29" name="Text 27"/>
          <p:cNvSpPr/>
          <p:nvPr/>
        </p:nvSpPr>
        <p:spPr>
          <a:xfrm>
            <a:off x="7406640" y="3758184"/>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caricabatteria</a:t>
            </a:r>
            <a:r>
              <a:rPr lang="en-US" sz="1200" dirty="0">
                <a:solidFill>
                  <a:srgbClr val="334155"/>
                </a:solidFill>
              </a:rPr>
              <a:t>: corrente D4 transitoria</a:t>
            </a:r>
            <a:endParaRPr lang="en-US" sz="1200" dirty="0"/>
          </a:p>
        </p:txBody>
      </p:sp>
      <p:sp>
        <p:nvSpPr>
          <p:cNvPr id="30" name="Text 28"/>
          <p:cNvSpPr/>
          <p:nvPr/>
        </p:nvSpPr>
        <p:spPr>
          <a:xfrm>
            <a:off x="6510528" y="4096512"/>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b05/b06</a:t>
            </a:r>
            <a:endParaRPr lang="en-US" sz="1200" dirty="0"/>
          </a:p>
        </p:txBody>
      </p:sp>
      <p:sp>
        <p:nvSpPr>
          <p:cNvPr id="31" name="Text 29"/>
          <p:cNvSpPr/>
          <p:nvPr/>
        </p:nvSpPr>
        <p:spPr>
          <a:xfrm>
            <a:off x="7406640" y="4087368"/>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radio/audio</a:t>
            </a:r>
            <a:r>
              <a:rPr lang="en-US" sz="1200" dirty="0">
                <a:solidFill>
                  <a:srgbClr val="334155"/>
                </a:solidFill>
              </a:rPr>
              <a:t>: iniezione controllata del segnale</a:t>
            </a:r>
            <a:endParaRPr lang="en-US" sz="1200" dirty="0"/>
          </a:p>
        </p:txBody>
      </p:sp>
      <p:sp>
        <p:nvSpPr>
          <p:cNvPr id="32" name="Text 30"/>
          <p:cNvSpPr/>
          <p:nvPr/>
        </p:nvSpPr>
        <p:spPr>
          <a:xfrm>
            <a:off x="6510528" y="4425696"/>
            <a:ext cx="804672" cy="146304"/>
          </a:xfrm>
          <a:prstGeom prst="rect">
            <a:avLst/>
          </a:prstGeom>
          <a:noFill/>
          <a:ln/>
        </p:spPr>
        <p:txBody>
          <a:bodyPr wrap="square" lIns="0" tIns="0" rIns="0" bIns="0" rtlCol="0" anchor="ctr"/>
          <a:lstStyle/>
          <a:p>
            <a:pPr marL="0" indent="0">
              <a:buNone/>
            </a:pPr>
            <a:r>
              <a:rPr lang="en-US" sz="1200" b="1" dirty="0">
                <a:solidFill>
                  <a:srgbClr val="2563EB"/>
                </a:solidFill>
              </a:rPr>
              <a:t>b10</a:t>
            </a:r>
            <a:endParaRPr lang="en-US" sz="1200" dirty="0"/>
          </a:p>
        </p:txBody>
      </p:sp>
      <p:sp>
        <p:nvSpPr>
          <p:cNvPr id="33" name="Text 31"/>
          <p:cNvSpPr/>
          <p:nvPr/>
        </p:nvSpPr>
        <p:spPr>
          <a:xfrm>
            <a:off x="7406640" y="4416552"/>
            <a:ext cx="3794760" cy="146304"/>
          </a:xfrm>
          <a:prstGeom prst="rect">
            <a:avLst/>
          </a:prstGeom>
          <a:noFill/>
          <a:ln/>
        </p:spPr>
        <p:txBody>
          <a:bodyPr wrap="square" lIns="0" tIns="0" rIns="0" bIns="0" rtlCol="0" anchor="ctr">
            <a:noAutofit/>
          </a:bodyPr>
          <a:lstStyle/>
          <a:p>
            <a:pPr marL="0" indent="0">
              <a:buNone/>
            </a:pPr>
            <a:r>
              <a:rPr lang="en-US" sz="1200" b="1" dirty="0">
                <a:solidFill>
                  <a:srgbClr val="334155"/>
                </a:solidFill>
              </a:rPr>
              <a:t>switch simbolico</a:t>
            </a:r>
            <a:r>
              <a:rPr lang="en-US" sz="1200" dirty="0">
                <a:solidFill>
                  <a:srgbClr val="334155"/>
                </a:solidFill>
              </a:rPr>
              <a:t>: stato ON/OFF</a:t>
            </a:r>
            <a:endParaRPr lang="en-US" sz="1200" dirty="0"/>
          </a:p>
        </p:txBody>
      </p:sp>
      <p:sp>
        <p:nvSpPr>
          <p:cNvPr id="34" name="Shape 32"/>
          <p:cNvSpPr/>
          <p:nvPr/>
        </p:nvSpPr>
        <p:spPr>
          <a:xfrm>
            <a:off x="795528" y="4956048"/>
            <a:ext cx="10824376" cy="674204"/>
          </a:xfrm>
          <a:prstGeom prst="roundRect">
            <a:avLst>
              <a:gd name="adj" fmla="val 9091"/>
            </a:avLst>
          </a:prstGeom>
          <a:solidFill>
            <a:srgbClr val="0B1320"/>
          </a:solidFill>
          <a:ln w="12700">
            <a:solidFill>
              <a:srgbClr val="0B1320"/>
            </a:solidFill>
            <a:prstDash val="solid"/>
          </a:ln>
        </p:spPr>
        <p:txBody>
          <a:bodyPr/>
          <a:lstStyle/>
          <a:p>
            <a:endParaRPr lang="it-IT"/>
          </a:p>
        </p:txBody>
      </p:sp>
      <p:sp>
        <p:nvSpPr>
          <p:cNvPr id="35" name="Text 33"/>
          <p:cNvSpPr/>
          <p:nvPr/>
        </p:nvSpPr>
        <p:spPr>
          <a:xfrm>
            <a:off x="960120" y="5120639"/>
            <a:ext cx="10355788" cy="220649"/>
          </a:xfrm>
          <a:prstGeom prst="rect">
            <a:avLst/>
          </a:prstGeom>
          <a:noFill/>
          <a:ln/>
        </p:spPr>
        <p:txBody>
          <a:bodyPr wrap="square" lIns="0" tIns="0" rIns="0" bIns="0" rtlCol="0" anchor="ctr">
            <a:normAutofit/>
          </a:bodyPr>
          <a:lstStyle/>
          <a:p>
            <a:pPr marL="0" indent="0">
              <a:buNone/>
            </a:pPr>
            <a:r>
              <a:rPr lang="en-US" sz="1180" b="1" dirty="0">
                <a:solidFill>
                  <a:srgbClr val="FFFFFF"/>
                </a:solidFill>
              </a:rPr>
              <a:t>Risultato: la pipeline è stata validata come flusso di diagnosi tecnico-riproducibile; l’aggregazione quantitativa CHAT–AGENT è il prossimo step naturale.</a:t>
            </a:r>
            <a:endParaRPr lang="en-US" sz="1180" dirty="0"/>
          </a:p>
        </p:txBody>
      </p:sp>
      <p:sp>
        <p:nvSpPr>
          <p:cNvPr id="36" name="Rectangle 35"/>
          <p:cNvSpPr/>
          <p:nvPr/>
        </p:nvSpPr>
        <p:spPr>
          <a:xfrm>
            <a:off x="612648" y="5020055"/>
            <a:ext cx="11199246" cy="1287117"/>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0664" y="4983480"/>
            <a:ext cx="2530374" cy="246221"/>
          </a:xfrm>
          <a:prstGeom prst="rect">
            <a:avLst/>
          </a:prstGeom>
          <a:noFill/>
        </p:spPr>
        <p:txBody>
          <a:bodyPr wrap="square">
            <a:spAutoFit/>
          </a:bodyPr>
          <a:lstStyle/>
          <a:p>
            <a:pPr algn="l"/>
            <a:r>
              <a:rPr sz="1000" b="1">
                <a:solidFill>
                  <a:srgbClr val="009966"/>
                </a:solidFill>
                <a:latin typeface="Aptos"/>
              </a:rPr>
              <a:t>Sintesi delle validazioni</a:t>
            </a:r>
          </a:p>
        </p:txBody>
      </p:sp>
      <p:graphicFrame>
        <p:nvGraphicFramePr>
          <p:cNvPr id="38" name="Table 37"/>
          <p:cNvGraphicFramePr>
            <a:graphicFrameLocks noGrp="1"/>
          </p:cNvGraphicFramePr>
          <p:nvPr>
            <p:extLst>
              <p:ext uri="{D42A27DB-BD31-4B8C-83A1-F6EECF244321}">
                <p14:modId xmlns:p14="http://schemas.microsoft.com/office/powerpoint/2010/main" val="3367065584"/>
              </p:ext>
            </p:extLst>
          </p:nvPr>
        </p:nvGraphicFramePr>
        <p:xfrm>
          <a:off x="740664" y="5202936"/>
          <a:ext cx="10889978" cy="984746"/>
        </p:xfrm>
        <a:graphic>
          <a:graphicData uri="http://schemas.openxmlformats.org/drawingml/2006/table">
            <a:tbl>
              <a:tblPr firstRow="1" bandRow="1">
                <a:tableStyleId>{5C22544A-7EE6-4342-B048-85BDC9FD1C3A}</a:tableStyleId>
              </a:tblPr>
              <a:tblGrid>
                <a:gridCol w="2155503">
                  <a:extLst>
                    <a:ext uri="{9D8B030D-6E8A-4147-A177-3AD203B41FA5}">
                      <a16:colId xmlns:a16="http://schemas.microsoft.com/office/drawing/2014/main" val="20000"/>
                    </a:ext>
                  </a:extLst>
                </a:gridCol>
                <a:gridCol w="3936137">
                  <a:extLst>
                    <a:ext uri="{9D8B030D-6E8A-4147-A177-3AD203B41FA5}">
                      <a16:colId xmlns:a16="http://schemas.microsoft.com/office/drawing/2014/main" val="20001"/>
                    </a:ext>
                  </a:extLst>
                </a:gridCol>
                <a:gridCol w="4798338">
                  <a:extLst>
                    <a:ext uri="{9D8B030D-6E8A-4147-A177-3AD203B41FA5}">
                      <a16:colId xmlns:a16="http://schemas.microsoft.com/office/drawing/2014/main" val="20002"/>
                    </a:ext>
                  </a:extLst>
                </a:gridCol>
              </a:tblGrid>
              <a:tr h="208390">
                <a:tc>
                  <a:txBody>
                    <a:bodyPr/>
                    <a:lstStyle/>
                    <a:p>
                      <a:pPr algn="ctr"/>
                      <a:r>
                        <a:rPr sz="780" b="1">
                          <a:solidFill>
                            <a:srgbClr val="FFFFFF"/>
                          </a:solidFill>
                          <a:latin typeface="Aptos"/>
                        </a:rPr>
                        <a:t>Area</a:t>
                      </a:r>
                    </a:p>
                  </a:txBody>
                  <a:tcPr marL="36576" marR="36576" marT="18288" marB="18288">
                    <a:solidFill>
                      <a:srgbClr val="0A1220"/>
                    </a:solidFill>
                  </a:tcPr>
                </a:tc>
                <a:tc>
                  <a:txBody>
                    <a:bodyPr/>
                    <a:lstStyle/>
                    <a:p>
                      <a:pPr algn="l"/>
                      <a:r>
                        <a:rPr sz="780" b="1">
                          <a:solidFill>
                            <a:srgbClr val="FFFFFF"/>
                          </a:solidFill>
                          <a:latin typeface="Aptos"/>
                        </a:rPr>
                        <a:t>Cosa è stato verificato</a:t>
                      </a:r>
                    </a:p>
                  </a:txBody>
                  <a:tcPr marL="36576" marR="36576" marT="18288" marB="18288">
                    <a:solidFill>
                      <a:srgbClr val="0A1220"/>
                    </a:solidFill>
                  </a:tcPr>
                </a:tc>
                <a:tc>
                  <a:txBody>
                    <a:bodyPr/>
                    <a:lstStyle/>
                    <a:p>
                      <a:pPr algn="l"/>
                      <a:r>
                        <a:rPr sz="780" b="1">
                          <a:solidFill>
                            <a:srgbClr val="FFFFFF"/>
                          </a:solidFill>
                          <a:latin typeface="Aptos"/>
                        </a:rPr>
                        <a:t>Risultato operativo</a:t>
                      </a:r>
                    </a:p>
                  </a:txBody>
                  <a:tcPr marL="36576" marR="36576" marT="18288" marB="18288">
                    <a:solidFill>
                      <a:srgbClr val="0A1220"/>
                    </a:solidFill>
                  </a:tcPr>
                </a:tc>
                <a:extLst>
                  <a:ext uri="{0D108BD9-81ED-4DB2-BD59-A6C34878D82A}">
                    <a16:rowId xmlns:a16="http://schemas.microsoft.com/office/drawing/2014/main" val="10000"/>
                  </a:ext>
                </a:extLst>
              </a:tr>
              <a:tr h="194089">
                <a:tc>
                  <a:txBody>
                    <a:bodyPr/>
                    <a:lstStyle/>
                    <a:p>
                      <a:pPr algn="ctr"/>
                      <a:r>
                        <a:rPr sz="710" b="1">
                          <a:solidFill>
                            <a:srgbClr val="009966"/>
                          </a:solidFill>
                          <a:latin typeface="Aptos"/>
                        </a:rPr>
                        <a:t>Graph JSON</a:t>
                      </a:r>
                    </a:p>
                  </a:txBody>
                  <a:tcPr marL="36576" marR="36576" marT="18288" marB="18288">
                    <a:solidFill>
                      <a:srgbClr val="FFFFFF"/>
                    </a:solidFill>
                  </a:tcPr>
                </a:tc>
                <a:tc>
                  <a:txBody>
                    <a:bodyPr/>
                    <a:lstStyle/>
                    <a:p>
                      <a:pPr algn="l"/>
                      <a:r>
                        <a:rPr sz="710" b="0">
                          <a:solidFill>
                            <a:srgbClr val="2D394A"/>
                          </a:solidFill>
                          <a:latin typeface="Aptos"/>
                        </a:rPr>
                        <a:t>judge immagine ↔ graph</a:t>
                      </a:r>
                    </a:p>
                  </a:txBody>
                  <a:tcPr marL="36576" marR="36576" marT="18288" marB="18288">
                    <a:solidFill>
                      <a:srgbClr val="FFFFFF"/>
                    </a:solidFill>
                  </a:tcPr>
                </a:tc>
                <a:tc>
                  <a:txBody>
                    <a:bodyPr/>
                    <a:lstStyle/>
                    <a:p>
                      <a:pPr algn="l"/>
                      <a:r>
                        <a:rPr sz="710" b="0">
                          <a:solidFill>
                            <a:srgbClr val="2D394A"/>
                          </a:solidFill>
                          <a:latin typeface="Aptos"/>
                        </a:rPr>
                        <a:t>grafi utilizzabili; casi critici isolati</a:t>
                      </a:r>
                    </a:p>
                  </a:txBody>
                  <a:tcPr marL="36576" marR="36576" marT="18288" marB="18288">
                    <a:solidFill>
                      <a:srgbClr val="FFFFFF"/>
                    </a:solidFill>
                  </a:tcPr>
                </a:tc>
                <a:extLst>
                  <a:ext uri="{0D108BD9-81ED-4DB2-BD59-A6C34878D82A}">
                    <a16:rowId xmlns:a16="http://schemas.microsoft.com/office/drawing/2014/main" val="10001"/>
                  </a:ext>
                </a:extLst>
              </a:tr>
              <a:tr h="194089">
                <a:tc>
                  <a:txBody>
                    <a:bodyPr/>
                    <a:lstStyle/>
                    <a:p>
                      <a:pPr algn="ctr"/>
                      <a:r>
                        <a:rPr sz="710" b="1">
                          <a:solidFill>
                            <a:srgbClr val="009966"/>
                          </a:solidFill>
                          <a:latin typeface="Aptos"/>
                        </a:rPr>
                        <a:t>Diagnosi GPT</a:t>
                      </a:r>
                    </a:p>
                  </a:txBody>
                  <a:tcPr marL="36576" marR="36576" marT="18288" marB="18288">
                    <a:solidFill>
                      <a:srgbClr val="EFF5F9"/>
                    </a:solidFill>
                  </a:tcPr>
                </a:tc>
                <a:tc>
                  <a:txBody>
                    <a:bodyPr/>
                    <a:lstStyle/>
                    <a:p>
                      <a:pPr algn="l"/>
                      <a:r>
                        <a:rPr sz="710" b="0">
                          <a:solidFill>
                            <a:srgbClr val="2D394A"/>
                          </a:solidFill>
                          <a:latin typeface="Aptos"/>
                        </a:rPr>
                        <a:t>score, Top‑1/Top‑3, errori gravi, costo</a:t>
                      </a:r>
                    </a:p>
                  </a:txBody>
                  <a:tcPr marL="36576" marR="36576" marT="18288" marB="18288">
                    <a:solidFill>
                      <a:srgbClr val="EFF5F9"/>
                    </a:solidFill>
                  </a:tcPr>
                </a:tc>
                <a:tc>
                  <a:txBody>
                    <a:bodyPr/>
                    <a:lstStyle/>
                    <a:p>
                      <a:pPr algn="l"/>
                      <a:r>
                        <a:rPr sz="710" b="0">
                          <a:solidFill>
                            <a:srgbClr val="2D394A"/>
                          </a:solidFill>
                          <a:latin typeface="Aptos"/>
                        </a:rPr>
                        <a:t>benchmark modelli e compromesso score‑costo</a:t>
                      </a:r>
                    </a:p>
                  </a:txBody>
                  <a:tcPr marL="36576" marR="36576" marT="18288" marB="18288">
                    <a:solidFill>
                      <a:srgbClr val="EFF5F9"/>
                    </a:solidFill>
                  </a:tcPr>
                </a:tc>
                <a:extLst>
                  <a:ext uri="{0D108BD9-81ED-4DB2-BD59-A6C34878D82A}">
                    <a16:rowId xmlns:a16="http://schemas.microsoft.com/office/drawing/2014/main" val="10002"/>
                  </a:ext>
                </a:extLst>
              </a:tr>
              <a:tr h="194089">
                <a:tc>
                  <a:txBody>
                    <a:bodyPr/>
                    <a:lstStyle/>
                    <a:p>
                      <a:pPr algn="ctr"/>
                      <a:r>
                        <a:rPr sz="710" b="1">
                          <a:solidFill>
                            <a:srgbClr val="009966"/>
                          </a:solidFill>
                          <a:latin typeface="Aptos"/>
                        </a:rPr>
                        <a:t>Pipeline 2.0</a:t>
                      </a:r>
                    </a:p>
                  </a:txBody>
                  <a:tcPr marL="36576" marR="36576" marT="18288" marB="18288">
                    <a:solidFill>
                      <a:srgbClr val="FFFFFF"/>
                    </a:solidFill>
                  </a:tcPr>
                </a:tc>
                <a:tc>
                  <a:txBody>
                    <a:bodyPr/>
                    <a:lstStyle/>
                    <a:p>
                      <a:pPr algn="l"/>
                      <a:r>
                        <a:rPr sz="710" b="0">
                          <a:solidFill>
                            <a:srgbClr val="2D394A"/>
                          </a:solidFill>
                          <a:latin typeface="Aptos"/>
                        </a:rPr>
                        <a:t>OP/TRAN, scenari e viewer su Batch A/B</a:t>
                      </a:r>
                    </a:p>
                  </a:txBody>
                  <a:tcPr marL="36576" marR="36576" marT="18288" marB="18288">
                    <a:solidFill>
                      <a:srgbClr val="FFFFFF"/>
                    </a:solidFill>
                  </a:tcPr>
                </a:tc>
                <a:tc>
                  <a:txBody>
                    <a:bodyPr/>
                    <a:lstStyle/>
                    <a:p>
                      <a:pPr algn="l"/>
                      <a:r>
                        <a:rPr sz="710" b="0">
                          <a:solidFill>
                            <a:srgbClr val="2D394A"/>
                          </a:solidFill>
                          <a:latin typeface="Aptos"/>
                        </a:rPr>
                        <a:t>flusso SPICE riproducibile su 15 circuiti</a:t>
                      </a:r>
                    </a:p>
                  </a:txBody>
                  <a:tcPr marL="36576" marR="36576" marT="18288" marB="18288">
                    <a:solidFill>
                      <a:srgbClr val="FFFFFF"/>
                    </a:solidFill>
                  </a:tcPr>
                </a:tc>
                <a:extLst>
                  <a:ext uri="{0D108BD9-81ED-4DB2-BD59-A6C34878D82A}">
                    <a16:rowId xmlns:a16="http://schemas.microsoft.com/office/drawing/2014/main" val="10003"/>
                  </a:ext>
                </a:extLst>
              </a:tr>
              <a:tr h="194089">
                <a:tc>
                  <a:txBody>
                    <a:bodyPr/>
                    <a:lstStyle/>
                    <a:p>
                      <a:pPr algn="ctr"/>
                      <a:r>
                        <a:rPr sz="710" b="1">
                          <a:solidFill>
                            <a:srgbClr val="009966"/>
                          </a:solidFill>
                          <a:latin typeface="Aptos"/>
                        </a:rPr>
                        <a:t>CHAT + AGENT</a:t>
                      </a:r>
                    </a:p>
                  </a:txBody>
                  <a:tcPr marL="36576" marR="36576" marT="18288" marB="18288">
                    <a:solidFill>
                      <a:srgbClr val="EFF5F9"/>
                    </a:solidFill>
                  </a:tcPr>
                </a:tc>
                <a:tc>
                  <a:txBody>
                    <a:bodyPr/>
                    <a:lstStyle/>
                    <a:p>
                      <a:pPr algn="l"/>
                      <a:r>
                        <a:rPr sz="710" b="0">
                          <a:solidFill>
                            <a:srgbClr val="2D394A"/>
                          </a:solidFill>
                          <a:latin typeface="Aptos"/>
                        </a:rPr>
                        <a:t>modalità guidata e ciclo autonomo controllato</a:t>
                      </a:r>
                    </a:p>
                  </a:txBody>
                  <a:tcPr marL="36576" marR="36576" marT="18288" marB="18288">
                    <a:solidFill>
                      <a:srgbClr val="EFF5F9"/>
                    </a:solidFill>
                  </a:tcPr>
                </a:tc>
                <a:tc>
                  <a:txBody>
                    <a:bodyPr/>
                    <a:lstStyle/>
                    <a:p>
                      <a:pPr algn="l"/>
                      <a:r>
                        <a:rPr sz="710" b="0">
                          <a:solidFill>
                            <a:srgbClr val="2D394A"/>
                          </a:solidFill>
                          <a:latin typeface="Aptos"/>
                        </a:rPr>
                        <a:t>validati; aggregazione quantitativa CHAT‑AGENT come next step</a:t>
                      </a:r>
                    </a:p>
                  </a:txBody>
                  <a:tcPr marL="36576" marR="36576" marT="18288" marB="18288">
                    <a:solidFill>
                      <a:srgbClr val="EFF5F9"/>
                    </a:solidFill>
                  </a:tcPr>
                </a:tc>
                <a:extLst>
                  <a:ext uri="{0D108BD9-81ED-4DB2-BD59-A6C34878D82A}">
                    <a16:rowId xmlns:a16="http://schemas.microsoft.com/office/drawing/2014/main" val="10004"/>
                  </a:ext>
                </a:extLst>
              </a:tr>
            </a:tbl>
          </a:graphicData>
        </a:graphic>
      </p:graphicFrame>
      <p:sp>
        <p:nvSpPr>
          <p:cNvPr id="39" name="Rectangle 38"/>
          <p:cNvSpPr/>
          <p:nvPr/>
        </p:nvSpPr>
        <p:spPr>
          <a:xfrm>
            <a:off x="594360" y="4782311"/>
            <a:ext cx="11264848" cy="1691639"/>
          </a:xfrm>
          <a:prstGeom prst="rect">
            <a:avLst/>
          </a:prstGeom>
          <a:solidFill>
            <a:srgbClr val="F6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40663" y="4837176"/>
            <a:ext cx="1880629" cy="276999"/>
          </a:xfrm>
          <a:prstGeom prst="rect">
            <a:avLst/>
          </a:prstGeom>
          <a:noFill/>
        </p:spPr>
        <p:txBody>
          <a:bodyPr wrap="square">
            <a:spAutoFit/>
          </a:bodyPr>
          <a:lstStyle/>
          <a:p>
            <a:pPr algn="l"/>
            <a:r>
              <a:rPr sz="1200" b="1" dirty="0" err="1">
                <a:solidFill>
                  <a:srgbClr val="009966"/>
                </a:solidFill>
                <a:latin typeface="Aptos"/>
              </a:rPr>
              <a:t>Sintesi</a:t>
            </a:r>
            <a:r>
              <a:rPr sz="1200" b="1" dirty="0">
                <a:solidFill>
                  <a:srgbClr val="009966"/>
                </a:solidFill>
                <a:latin typeface="Aptos"/>
              </a:rPr>
              <a:t> delle </a:t>
            </a:r>
            <a:r>
              <a:rPr sz="1200" b="1" dirty="0" err="1">
                <a:solidFill>
                  <a:srgbClr val="009966"/>
                </a:solidFill>
                <a:latin typeface="Aptos"/>
              </a:rPr>
              <a:t>validazioni</a:t>
            </a:r>
            <a:endParaRPr sz="1200" b="1" dirty="0">
              <a:solidFill>
                <a:srgbClr val="009966"/>
              </a:solidFill>
              <a:latin typeface="Aptos"/>
            </a:endParaRPr>
          </a:p>
        </p:txBody>
      </p:sp>
      <p:graphicFrame>
        <p:nvGraphicFramePr>
          <p:cNvPr id="41" name="Table 40"/>
          <p:cNvGraphicFramePr>
            <a:graphicFrameLocks noGrp="1"/>
          </p:cNvGraphicFramePr>
          <p:nvPr>
            <p:extLst>
              <p:ext uri="{D42A27DB-BD31-4B8C-83A1-F6EECF244321}">
                <p14:modId xmlns:p14="http://schemas.microsoft.com/office/powerpoint/2010/main" val="180749916"/>
              </p:ext>
            </p:extLst>
          </p:nvPr>
        </p:nvGraphicFramePr>
        <p:xfrm>
          <a:off x="740664" y="5084064"/>
          <a:ext cx="10889977" cy="1124407"/>
        </p:xfrm>
        <a:graphic>
          <a:graphicData uri="http://schemas.openxmlformats.org/drawingml/2006/table">
            <a:tbl>
              <a:tblPr firstRow="1" bandRow="1">
                <a:tableStyleId>{5C22544A-7EE6-4342-B048-85BDC9FD1C3A}</a:tableStyleId>
              </a:tblPr>
              <a:tblGrid>
                <a:gridCol w="2202362">
                  <a:extLst>
                    <a:ext uri="{9D8B030D-6E8A-4147-A177-3AD203B41FA5}">
                      <a16:colId xmlns:a16="http://schemas.microsoft.com/office/drawing/2014/main" val="20000"/>
                    </a:ext>
                  </a:extLst>
                </a:gridCol>
                <a:gridCol w="3982995">
                  <a:extLst>
                    <a:ext uri="{9D8B030D-6E8A-4147-A177-3AD203B41FA5}">
                      <a16:colId xmlns:a16="http://schemas.microsoft.com/office/drawing/2014/main" val="20001"/>
                    </a:ext>
                  </a:extLst>
                </a:gridCol>
                <a:gridCol w="4704620">
                  <a:extLst>
                    <a:ext uri="{9D8B030D-6E8A-4147-A177-3AD203B41FA5}">
                      <a16:colId xmlns:a16="http://schemas.microsoft.com/office/drawing/2014/main" val="20002"/>
                    </a:ext>
                  </a:extLst>
                </a:gridCol>
              </a:tblGrid>
              <a:tr h="281038">
                <a:tc>
                  <a:txBody>
                    <a:bodyPr/>
                    <a:lstStyle/>
                    <a:p>
                      <a:pPr algn="ctr"/>
                      <a:r>
                        <a:rPr sz="1200" b="1" dirty="0">
                          <a:solidFill>
                            <a:srgbClr val="FFFFFF"/>
                          </a:solidFill>
                          <a:latin typeface="Aptos"/>
                        </a:rPr>
                        <a:t>Area</a:t>
                      </a:r>
                    </a:p>
                  </a:txBody>
                  <a:tcPr marL="36576" marR="36576" marT="13716" marB="13716">
                    <a:solidFill>
                      <a:srgbClr val="0A1220"/>
                    </a:solidFill>
                  </a:tcPr>
                </a:tc>
                <a:tc>
                  <a:txBody>
                    <a:bodyPr/>
                    <a:lstStyle/>
                    <a:p>
                      <a:pPr algn="l"/>
                      <a:r>
                        <a:rPr sz="1200" b="1" dirty="0">
                          <a:solidFill>
                            <a:srgbClr val="FFFFFF"/>
                          </a:solidFill>
                          <a:latin typeface="Aptos"/>
                        </a:rPr>
                        <a:t>Cosa è </a:t>
                      </a:r>
                      <a:r>
                        <a:rPr sz="1200" b="1" dirty="0" err="1">
                          <a:solidFill>
                            <a:srgbClr val="FFFFFF"/>
                          </a:solidFill>
                          <a:latin typeface="Aptos"/>
                        </a:rPr>
                        <a:t>stato</a:t>
                      </a:r>
                      <a:r>
                        <a:rPr sz="1200" b="1" dirty="0">
                          <a:solidFill>
                            <a:srgbClr val="FFFFFF"/>
                          </a:solidFill>
                          <a:latin typeface="Aptos"/>
                        </a:rPr>
                        <a:t> </a:t>
                      </a:r>
                      <a:r>
                        <a:rPr sz="1200" b="1" dirty="0" err="1">
                          <a:solidFill>
                            <a:srgbClr val="FFFFFF"/>
                          </a:solidFill>
                          <a:latin typeface="Aptos"/>
                        </a:rPr>
                        <a:t>verificato</a:t>
                      </a:r>
                      <a:endParaRPr sz="1200" b="1" dirty="0">
                        <a:solidFill>
                          <a:srgbClr val="FFFFFF"/>
                        </a:solidFill>
                        <a:latin typeface="Aptos"/>
                      </a:endParaRPr>
                    </a:p>
                  </a:txBody>
                  <a:tcPr marL="36576" marR="36576" marT="13716" marB="13716">
                    <a:solidFill>
                      <a:srgbClr val="0A1220"/>
                    </a:solidFill>
                  </a:tcPr>
                </a:tc>
                <a:tc>
                  <a:txBody>
                    <a:bodyPr/>
                    <a:lstStyle/>
                    <a:p>
                      <a:pPr algn="l"/>
                      <a:r>
                        <a:rPr sz="1200" b="1" dirty="0" err="1">
                          <a:solidFill>
                            <a:srgbClr val="FFFFFF"/>
                          </a:solidFill>
                          <a:latin typeface="Aptos"/>
                        </a:rPr>
                        <a:t>Risultato</a:t>
                      </a:r>
                      <a:r>
                        <a:rPr sz="1200" b="1" dirty="0">
                          <a:solidFill>
                            <a:srgbClr val="FFFFFF"/>
                          </a:solidFill>
                          <a:latin typeface="Aptos"/>
                        </a:rPr>
                        <a:t> </a:t>
                      </a:r>
                      <a:r>
                        <a:rPr sz="1200" b="1" dirty="0" err="1">
                          <a:solidFill>
                            <a:srgbClr val="FFFFFF"/>
                          </a:solidFill>
                          <a:latin typeface="Aptos"/>
                        </a:rPr>
                        <a:t>operativo</a:t>
                      </a:r>
                      <a:endParaRPr sz="1200" b="1" dirty="0">
                        <a:solidFill>
                          <a:srgbClr val="FFFFFF"/>
                        </a:solidFill>
                        <a:latin typeface="Aptos"/>
                      </a:endParaRPr>
                    </a:p>
                  </a:txBody>
                  <a:tcPr marL="36576" marR="36576" marT="13716" marB="13716">
                    <a:solidFill>
                      <a:srgbClr val="0A1220"/>
                    </a:solidFill>
                  </a:tcPr>
                </a:tc>
                <a:extLst>
                  <a:ext uri="{0D108BD9-81ED-4DB2-BD59-A6C34878D82A}">
                    <a16:rowId xmlns:a16="http://schemas.microsoft.com/office/drawing/2014/main" val="10000"/>
                  </a:ext>
                </a:extLst>
              </a:tr>
              <a:tr h="210841">
                <a:tc>
                  <a:txBody>
                    <a:bodyPr/>
                    <a:lstStyle/>
                    <a:p>
                      <a:pPr algn="ctr"/>
                      <a:r>
                        <a:rPr sz="1100" b="1" dirty="0">
                          <a:solidFill>
                            <a:srgbClr val="009966"/>
                          </a:solidFill>
                          <a:latin typeface="Aptos"/>
                        </a:rPr>
                        <a:t>Graph JSON</a:t>
                      </a:r>
                    </a:p>
                  </a:txBody>
                  <a:tcPr marL="36576" marR="36576" marT="13716" marB="13716">
                    <a:solidFill>
                      <a:srgbClr val="FFFFFF"/>
                    </a:solidFill>
                  </a:tcPr>
                </a:tc>
                <a:tc>
                  <a:txBody>
                    <a:bodyPr/>
                    <a:lstStyle/>
                    <a:p>
                      <a:pPr algn="l"/>
                      <a:r>
                        <a:rPr sz="1100" b="0" dirty="0">
                          <a:solidFill>
                            <a:srgbClr val="2D394A"/>
                          </a:solidFill>
                          <a:latin typeface="Aptos"/>
                        </a:rPr>
                        <a:t>judge </a:t>
                      </a:r>
                      <a:r>
                        <a:rPr sz="1100" b="0" dirty="0" err="1">
                          <a:solidFill>
                            <a:srgbClr val="2D394A"/>
                          </a:solidFill>
                          <a:latin typeface="Aptos"/>
                        </a:rPr>
                        <a:t>immagine</a:t>
                      </a:r>
                      <a:r>
                        <a:rPr sz="1100" b="0" dirty="0">
                          <a:solidFill>
                            <a:srgbClr val="2D394A"/>
                          </a:solidFill>
                          <a:latin typeface="Aptos"/>
                        </a:rPr>
                        <a:t> ↔ graph</a:t>
                      </a:r>
                    </a:p>
                  </a:txBody>
                  <a:tcPr marL="36576" marR="36576" marT="13716" marB="13716">
                    <a:solidFill>
                      <a:srgbClr val="FFFFFF"/>
                    </a:solidFill>
                  </a:tcPr>
                </a:tc>
                <a:tc>
                  <a:txBody>
                    <a:bodyPr/>
                    <a:lstStyle/>
                    <a:p>
                      <a:pPr algn="l"/>
                      <a:r>
                        <a:rPr sz="1100" b="0">
                          <a:solidFill>
                            <a:srgbClr val="2D394A"/>
                          </a:solidFill>
                          <a:latin typeface="Aptos"/>
                        </a:rPr>
                        <a:t>grafi utilizzabili; casi critici isolati</a:t>
                      </a:r>
                    </a:p>
                  </a:txBody>
                  <a:tcPr marL="36576" marR="36576" marT="13716" marB="13716">
                    <a:solidFill>
                      <a:srgbClr val="FFFFFF"/>
                    </a:solidFill>
                  </a:tcPr>
                </a:tc>
                <a:extLst>
                  <a:ext uri="{0D108BD9-81ED-4DB2-BD59-A6C34878D82A}">
                    <a16:rowId xmlns:a16="http://schemas.microsoft.com/office/drawing/2014/main" val="10001"/>
                  </a:ext>
                </a:extLst>
              </a:tr>
              <a:tr h="210841">
                <a:tc>
                  <a:txBody>
                    <a:bodyPr/>
                    <a:lstStyle/>
                    <a:p>
                      <a:pPr algn="ctr"/>
                      <a:r>
                        <a:rPr sz="1100" b="1">
                          <a:solidFill>
                            <a:srgbClr val="009966"/>
                          </a:solidFill>
                          <a:latin typeface="Aptos"/>
                        </a:rPr>
                        <a:t>Diagnosi GPT</a:t>
                      </a:r>
                    </a:p>
                  </a:txBody>
                  <a:tcPr marL="36576" marR="36576" marT="13716" marB="13716">
                    <a:solidFill>
                      <a:srgbClr val="EFF5F9"/>
                    </a:solidFill>
                  </a:tcPr>
                </a:tc>
                <a:tc>
                  <a:txBody>
                    <a:bodyPr/>
                    <a:lstStyle/>
                    <a:p>
                      <a:pPr algn="l"/>
                      <a:r>
                        <a:rPr sz="1100" b="0" dirty="0">
                          <a:solidFill>
                            <a:srgbClr val="2D394A"/>
                          </a:solidFill>
                          <a:latin typeface="Aptos"/>
                        </a:rPr>
                        <a:t>score, Top‑1/Top‑3, </a:t>
                      </a:r>
                      <a:r>
                        <a:rPr sz="1100" b="0" dirty="0" err="1">
                          <a:solidFill>
                            <a:srgbClr val="2D394A"/>
                          </a:solidFill>
                          <a:latin typeface="Aptos"/>
                        </a:rPr>
                        <a:t>errori</a:t>
                      </a:r>
                      <a:r>
                        <a:rPr sz="1100" b="0" dirty="0">
                          <a:solidFill>
                            <a:srgbClr val="2D394A"/>
                          </a:solidFill>
                          <a:latin typeface="Aptos"/>
                        </a:rPr>
                        <a:t> </a:t>
                      </a:r>
                      <a:r>
                        <a:rPr sz="1100" b="0" dirty="0" err="1">
                          <a:solidFill>
                            <a:srgbClr val="2D394A"/>
                          </a:solidFill>
                          <a:latin typeface="Aptos"/>
                        </a:rPr>
                        <a:t>gravi</a:t>
                      </a:r>
                      <a:r>
                        <a:rPr sz="1100" b="0" dirty="0">
                          <a:solidFill>
                            <a:srgbClr val="2D394A"/>
                          </a:solidFill>
                          <a:latin typeface="Aptos"/>
                        </a:rPr>
                        <a:t>, </a:t>
                      </a:r>
                      <a:r>
                        <a:rPr sz="1100" b="0" dirty="0" err="1">
                          <a:solidFill>
                            <a:srgbClr val="2D394A"/>
                          </a:solidFill>
                          <a:latin typeface="Aptos"/>
                        </a:rPr>
                        <a:t>costo</a:t>
                      </a:r>
                      <a:endParaRPr sz="1100" b="0" dirty="0">
                        <a:solidFill>
                          <a:srgbClr val="2D394A"/>
                        </a:solidFill>
                        <a:latin typeface="Aptos"/>
                      </a:endParaRPr>
                    </a:p>
                  </a:txBody>
                  <a:tcPr marL="36576" marR="36576" marT="13716" marB="13716">
                    <a:solidFill>
                      <a:srgbClr val="EFF5F9"/>
                    </a:solidFill>
                  </a:tcPr>
                </a:tc>
                <a:tc>
                  <a:txBody>
                    <a:bodyPr/>
                    <a:lstStyle/>
                    <a:p>
                      <a:pPr algn="l"/>
                      <a:r>
                        <a:rPr sz="1100" b="0" dirty="0">
                          <a:solidFill>
                            <a:srgbClr val="2D394A"/>
                          </a:solidFill>
                          <a:latin typeface="Aptos"/>
                        </a:rPr>
                        <a:t>benchmark </a:t>
                      </a:r>
                      <a:r>
                        <a:rPr sz="1100" b="0" dirty="0" err="1">
                          <a:solidFill>
                            <a:srgbClr val="2D394A"/>
                          </a:solidFill>
                          <a:latin typeface="Aptos"/>
                        </a:rPr>
                        <a:t>modelli</a:t>
                      </a:r>
                      <a:r>
                        <a:rPr sz="1100" b="0" dirty="0">
                          <a:solidFill>
                            <a:srgbClr val="2D394A"/>
                          </a:solidFill>
                          <a:latin typeface="Aptos"/>
                        </a:rPr>
                        <a:t> e </a:t>
                      </a:r>
                      <a:r>
                        <a:rPr sz="1100" b="0" dirty="0" err="1">
                          <a:solidFill>
                            <a:srgbClr val="2D394A"/>
                          </a:solidFill>
                          <a:latin typeface="Aptos"/>
                        </a:rPr>
                        <a:t>compromesso</a:t>
                      </a:r>
                      <a:r>
                        <a:rPr sz="1100" b="0" dirty="0">
                          <a:solidFill>
                            <a:srgbClr val="2D394A"/>
                          </a:solidFill>
                          <a:latin typeface="Aptos"/>
                        </a:rPr>
                        <a:t> score‑</a:t>
                      </a:r>
                      <a:r>
                        <a:rPr sz="1100" b="0" dirty="0" err="1">
                          <a:solidFill>
                            <a:srgbClr val="2D394A"/>
                          </a:solidFill>
                          <a:latin typeface="Aptos"/>
                        </a:rPr>
                        <a:t>costo</a:t>
                      </a:r>
                      <a:endParaRPr sz="1100" b="0" dirty="0">
                        <a:solidFill>
                          <a:srgbClr val="2D394A"/>
                        </a:solidFill>
                        <a:latin typeface="Aptos"/>
                      </a:endParaRPr>
                    </a:p>
                  </a:txBody>
                  <a:tcPr marL="36576" marR="36576" marT="13716" marB="13716">
                    <a:solidFill>
                      <a:srgbClr val="EFF5F9"/>
                    </a:solidFill>
                  </a:tcPr>
                </a:tc>
                <a:extLst>
                  <a:ext uri="{0D108BD9-81ED-4DB2-BD59-A6C34878D82A}">
                    <a16:rowId xmlns:a16="http://schemas.microsoft.com/office/drawing/2014/main" val="10002"/>
                  </a:ext>
                </a:extLst>
              </a:tr>
              <a:tr h="210841">
                <a:tc>
                  <a:txBody>
                    <a:bodyPr/>
                    <a:lstStyle/>
                    <a:p>
                      <a:pPr algn="ctr"/>
                      <a:r>
                        <a:rPr sz="1100" b="1">
                          <a:solidFill>
                            <a:srgbClr val="009966"/>
                          </a:solidFill>
                          <a:latin typeface="Aptos"/>
                        </a:rPr>
                        <a:t>Pipeline 2.0</a:t>
                      </a:r>
                    </a:p>
                  </a:txBody>
                  <a:tcPr marL="36576" marR="36576" marT="13716" marB="13716">
                    <a:solidFill>
                      <a:srgbClr val="FFFFFF"/>
                    </a:solidFill>
                  </a:tcPr>
                </a:tc>
                <a:tc>
                  <a:txBody>
                    <a:bodyPr/>
                    <a:lstStyle/>
                    <a:p>
                      <a:pPr algn="l"/>
                      <a:r>
                        <a:rPr sz="1100" b="0" dirty="0">
                          <a:solidFill>
                            <a:srgbClr val="2D394A"/>
                          </a:solidFill>
                          <a:latin typeface="Aptos"/>
                        </a:rPr>
                        <a:t>OP/TRAN, </a:t>
                      </a:r>
                      <a:r>
                        <a:rPr sz="1100" b="0" dirty="0" err="1">
                          <a:solidFill>
                            <a:srgbClr val="2D394A"/>
                          </a:solidFill>
                          <a:latin typeface="Aptos"/>
                        </a:rPr>
                        <a:t>scenari</a:t>
                      </a:r>
                      <a:r>
                        <a:rPr sz="1100" b="0" dirty="0">
                          <a:solidFill>
                            <a:srgbClr val="2D394A"/>
                          </a:solidFill>
                          <a:latin typeface="Aptos"/>
                        </a:rPr>
                        <a:t> e viewer </a:t>
                      </a:r>
                      <a:r>
                        <a:rPr sz="1100" b="0" dirty="0" err="1">
                          <a:solidFill>
                            <a:srgbClr val="2D394A"/>
                          </a:solidFill>
                          <a:latin typeface="Aptos"/>
                        </a:rPr>
                        <a:t>su</a:t>
                      </a:r>
                      <a:r>
                        <a:rPr sz="1100" b="0" dirty="0">
                          <a:solidFill>
                            <a:srgbClr val="2D394A"/>
                          </a:solidFill>
                          <a:latin typeface="Aptos"/>
                        </a:rPr>
                        <a:t> Batch A/B</a:t>
                      </a:r>
                    </a:p>
                  </a:txBody>
                  <a:tcPr marL="36576" marR="36576" marT="13716" marB="13716">
                    <a:solidFill>
                      <a:srgbClr val="FFFFFF"/>
                    </a:solidFill>
                  </a:tcPr>
                </a:tc>
                <a:tc>
                  <a:txBody>
                    <a:bodyPr/>
                    <a:lstStyle/>
                    <a:p>
                      <a:pPr algn="l"/>
                      <a:r>
                        <a:rPr sz="1100" b="0" dirty="0" err="1">
                          <a:solidFill>
                            <a:srgbClr val="2D394A"/>
                          </a:solidFill>
                          <a:latin typeface="Aptos"/>
                        </a:rPr>
                        <a:t>flusso</a:t>
                      </a:r>
                      <a:r>
                        <a:rPr sz="1100" b="0" dirty="0">
                          <a:solidFill>
                            <a:srgbClr val="2D394A"/>
                          </a:solidFill>
                          <a:latin typeface="Aptos"/>
                        </a:rPr>
                        <a:t> SPICE </a:t>
                      </a:r>
                      <a:r>
                        <a:rPr sz="1100" b="0" dirty="0" err="1">
                          <a:solidFill>
                            <a:srgbClr val="2D394A"/>
                          </a:solidFill>
                          <a:latin typeface="Aptos"/>
                        </a:rPr>
                        <a:t>riproducibile</a:t>
                      </a:r>
                      <a:r>
                        <a:rPr sz="1100" b="0" dirty="0">
                          <a:solidFill>
                            <a:srgbClr val="2D394A"/>
                          </a:solidFill>
                          <a:latin typeface="Aptos"/>
                        </a:rPr>
                        <a:t> </a:t>
                      </a:r>
                      <a:r>
                        <a:rPr sz="1100" b="0" dirty="0" err="1">
                          <a:solidFill>
                            <a:srgbClr val="2D394A"/>
                          </a:solidFill>
                          <a:latin typeface="Aptos"/>
                        </a:rPr>
                        <a:t>su</a:t>
                      </a:r>
                      <a:r>
                        <a:rPr sz="1100" b="0" dirty="0">
                          <a:solidFill>
                            <a:srgbClr val="2D394A"/>
                          </a:solidFill>
                          <a:latin typeface="Aptos"/>
                        </a:rPr>
                        <a:t> 15 </a:t>
                      </a:r>
                      <a:r>
                        <a:rPr sz="1100" b="0" dirty="0" err="1">
                          <a:solidFill>
                            <a:srgbClr val="2D394A"/>
                          </a:solidFill>
                          <a:latin typeface="Aptos"/>
                        </a:rPr>
                        <a:t>circuiti</a:t>
                      </a:r>
                      <a:endParaRPr sz="1100" b="0" dirty="0">
                        <a:solidFill>
                          <a:srgbClr val="2D394A"/>
                        </a:solidFill>
                        <a:latin typeface="Aptos"/>
                      </a:endParaRPr>
                    </a:p>
                  </a:txBody>
                  <a:tcPr marL="36576" marR="36576" marT="13716" marB="13716">
                    <a:solidFill>
                      <a:srgbClr val="FFFFFF"/>
                    </a:solidFill>
                  </a:tcPr>
                </a:tc>
                <a:extLst>
                  <a:ext uri="{0D108BD9-81ED-4DB2-BD59-A6C34878D82A}">
                    <a16:rowId xmlns:a16="http://schemas.microsoft.com/office/drawing/2014/main" val="10003"/>
                  </a:ext>
                </a:extLst>
              </a:tr>
              <a:tr h="210846">
                <a:tc>
                  <a:txBody>
                    <a:bodyPr/>
                    <a:lstStyle/>
                    <a:p>
                      <a:pPr algn="ctr"/>
                      <a:r>
                        <a:rPr sz="1100" b="1" dirty="0">
                          <a:solidFill>
                            <a:srgbClr val="009966"/>
                          </a:solidFill>
                          <a:latin typeface="Aptos"/>
                        </a:rPr>
                        <a:t>CHAT + AGENT</a:t>
                      </a:r>
                    </a:p>
                  </a:txBody>
                  <a:tcPr marL="36576" marR="36576" marT="13716" marB="13716">
                    <a:solidFill>
                      <a:srgbClr val="EFF5F9"/>
                    </a:solidFill>
                  </a:tcPr>
                </a:tc>
                <a:tc>
                  <a:txBody>
                    <a:bodyPr/>
                    <a:lstStyle/>
                    <a:p>
                      <a:pPr algn="l"/>
                      <a:r>
                        <a:rPr sz="1100" b="0" dirty="0" err="1">
                          <a:solidFill>
                            <a:srgbClr val="2D394A"/>
                          </a:solidFill>
                          <a:latin typeface="Aptos"/>
                        </a:rPr>
                        <a:t>modalità</a:t>
                      </a:r>
                      <a:r>
                        <a:rPr sz="1100" b="0" dirty="0">
                          <a:solidFill>
                            <a:srgbClr val="2D394A"/>
                          </a:solidFill>
                          <a:latin typeface="Aptos"/>
                        </a:rPr>
                        <a:t> </a:t>
                      </a:r>
                      <a:r>
                        <a:rPr sz="1100" b="0" dirty="0" err="1">
                          <a:solidFill>
                            <a:srgbClr val="2D394A"/>
                          </a:solidFill>
                          <a:latin typeface="Aptos"/>
                        </a:rPr>
                        <a:t>guidata</a:t>
                      </a:r>
                      <a:r>
                        <a:rPr sz="1100" b="0" dirty="0">
                          <a:solidFill>
                            <a:srgbClr val="2D394A"/>
                          </a:solidFill>
                          <a:latin typeface="Aptos"/>
                        </a:rPr>
                        <a:t> e </a:t>
                      </a:r>
                      <a:r>
                        <a:rPr sz="1100" b="0" dirty="0" err="1">
                          <a:solidFill>
                            <a:srgbClr val="2D394A"/>
                          </a:solidFill>
                          <a:latin typeface="Aptos"/>
                        </a:rPr>
                        <a:t>ciclo</a:t>
                      </a:r>
                      <a:r>
                        <a:rPr sz="1100" b="0" dirty="0">
                          <a:solidFill>
                            <a:srgbClr val="2D394A"/>
                          </a:solidFill>
                          <a:latin typeface="Aptos"/>
                        </a:rPr>
                        <a:t> </a:t>
                      </a:r>
                      <a:r>
                        <a:rPr sz="1100" b="0" dirty="0" err="1">
                          <a:solidFill>
                            <a:srgbClr val="2D394A"/>
                          </a:solidFill>
                          <a:latin typeface="Aptos"/>
                        </a:rPr>
                        <a:t>autonomo</a:t>
                      </a:r>
                      <a:r>
                        <a:rPr sz="1100" b="0" dirty="0">
                          <a:solidFill>
                            <a:srgbClr val="2D394A"/>
                          </a:solidFill>
                          <a:latin typeface="Aptos"/>
                        </a:rPr>
                        <a:t> </a:t>
                      </a:r>
                      <a:r>
                        <a:rPr sz="1100" b="0" dirty="0" err="1">
                          <a:solidFill>
                            <a:srgbClr val="2D394A"/>
                          </a:solidFill>
                          <a:latin typeface="Aptos"/>
                        </a:rPr>
                        <a:t>controllato</a:t>
                      </a:r>
                      <a:endParaRPr sz="1100" b="0" dirty="0">
                        <a:solidFill>
                          <a:srgbClr val="2D394A"/>
                        </a:solidFill>
                        <a:latin typeface="Aptos"/>
                      </a:endParaRPr>
                    </a:p>
                  </a:txBody>
                  <a:tcPr marL="36576" marR="36576" marT="13716" marB="13716">
                    <a:solidFill>
                      <a:srgbClr val="EFF5F9"/>
                    </a:solidFill>
                  </a:tcPr>
                </a:tc>
                <a:tc>
                  <a:txBody>
                    <a:bodyPr/>
                    <a:lstStyle/>
                    <a:p>
                      <a:pPr algn="l"/>
                      <a:r>
                        <a:rPr sz="1100" b="0" dirty="0" err="1">
                          <a:solidFill>
                            <a:srgbClr val="2D394A"/>
                          </a:solidFill>
                          <a:latin typeface="Aptos"/>
                        </a:rPr>
                        <a:t>validati</a:t>
                      </a:r>
                      <a:r>
                        <a:rPr sz="1100" b="0" dirty="0">
                          <a:solidFill>
                            <a:srgbClr val="2D394A"/>
                          </a:solidFill>
                          <a:latin typeface="Aptos"/>
                        </a:rPr>
                        <a:t>; </a:t>
                      </a:r>
                      <a:r>
                        <a:rPr sz="1100" b="0" dirty="0" err="1">
                          <a:solidFill>
                            <a:srgbClr val="2D394A"/>
                          </a:solidFill>
                          <a:latin typeface="Aptos"/>
                        </a:rPr>
                        <a:t>aggregazione</a:t>
                      </a:r>
                      <a:r>
                        <a:rPr sz="1100" b="0" dirty="0">
                          <a:solidFill>
                            <a:srgbClr val="2D394A"/>
                          </a:solidFill>
                          <a:latin typeface="Aptos"/>
                        </a:rPr>
                        <a:t> </a:t>
                      </a:r>
                      <a:r>
                        <a:rPr sz="1100" b="0" dirty="0" err="1">
                          <a:solidFill>
                            <a:srgbClr val="2D394A"/>
                          </a:solidFill>
                          <a:latin typeface="Aptos"/>
                        </a:rPr>
                        <a:t>quantitativa</a:t>
                      </a:r>
                      <a:r>
                        <a:rPr sz="1100" b="0" dirty="0">
                          <a:solidFill>
                            <a:srgbClr val="2D394A"/>
                          </a:solidFill>
                          <a:latin typeface="Aptos"/>
                        </a:rPr>
                        <a:t> CHAT‑AGENT come next step</a:t>
                      </a:r>
                    </a:p>
                  </a:txBody>
                  <a:tcPr marL="36576" marR="36576" marT="13716" marB="13716">
                    <a:solidFill>
                      <a:srgbClr val="EFF5F9"/>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081220"/>
        </a:solidFill>
        <a:effectLst/>
      </p:bgPr>
    </p:bg>
    <p:spTree>
      <p:nvGrpSpPr>
        <p:cNvPr id="1" name=""/>
        <p:cNvGrpSpPr/>
        <p:nvPr/>
      </p:nvGrpSpPr>
      <p:grpSpPr>
        <a:xfrm>
          <a:off x="0" y="0"/>
          <a:ext cx="0" cy="0"/>
          <a:chOff x="0" y="0"/>
          <a:chExt cx="0" cy="0"/>
        </a:xfrm>
      </p:grpSpPr>
      <p:sp>
        <p:nvSpPr>
          <p:cNvPr id="23" name="Rectangle 22"/>
          <p:cNvSpPr/>
          <p:nvPr/>
        </p:nvSpPr>
        <p:spPr>
          <a:xfrm>
            <a:off x="10992000" y="0"/>
            <a:ext cx="1200000" cy="6858000"/>
          </a:xfrm>
          <a:prstGeom prst="rect">
            <a:avLst/>
          </a:prstGeom>
          <a:solidFill>
            <a:srgbClr val="0A1E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768000"/>
            <a:ext cx="12192000" cy="90000"/>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 0"/>
          <p:cNvSpPr/>
          <p:nvPr/>
        </p:nvSpPr>
        <p:spPr>
          <a:xfrm>
            <a:off x="713232" y="566928"/>
            <a:ext cx="5486400" cy="438912"/>
          </a:xfrm>
          <a:prstGeom prst="rect">
            <a:avLst/>
          </a:prstGeom>
          <a:noFill/>
          <a:ln/>
        </p:spPr>
        <p:txBody>
          <a:bodyPr wrap="square" lIns="0" tIns="0" rIns="0" bIns="0" rtlCol="0" anchor="ctr"/>
          <a:lstStyle/>
          <a:p>
            <a:pPr marL="0" indent="0">
              <a:buNone/>
              <a:defRPr b="1">
                <a:solidFill>
                  <a:srgbClr val="0F172A"/>
                </a:solidFill>
              </a:defRPr>
            </a:pPr>
            <a:r>
              <a:rPr lang="en-US" sz="3300" b="1" dirty="0">
                <a:solidFill>
                  <a:srgbClr val="F8FAFC"/>
                </a:solidFill>
                <a:latin typeface="Aptos Display" pitchFamily="34" charset="0"/>
                <a:ea typeface="Aptos Display" pitchFamily="34" charset="-122"/>
                <a:cs typeface="Aptos Display" pitchFamily="34" charset="-120"/>
              </a:rPr>
              <a:t>Risultato del percorso</a:t>
            </a:r>
            <a:endParaRPr lang="en-US" sz="3100" dirty="0"/>
          </a:p>
        </p:txBody>
      </p:sp>
      <p:sp>
        <p:nvSpPr>
          <p:cNvPr id="3" name="Text 1"/>
          <p:cNvSpPr/>
          <p:nvPr/>
        </p:nvSpPr>
        <p:spPr>
          <a:xfrm>
            <a:off x="731520" y="1115568"/>
            <a:ext cx="10399900" cy="329184"/>
          </a:xfrm>
          <a:prstGeom prst="rect">
            <a:avLst/>
          </a:prstGeom>
          <a:noFill/>
          <a:ln/>
        </p:spPr>
        <p:txBody>
          <a:bodyPr wrap="square" lIns="0" tIns="0" rIns="0" bIns="0" rtlCol="0" anchor="ctr">
            <a:normAutofit fontScale="92500"/>
          </a:bodyPr>
          <a:lstStyle/>
          <a:p>
            <a:pPr marL="0" indent="0">
              <a:buNone/>
              <a:defRPr>
                <a:solidFill>
                  <a:srgbClr val="1E293B"/>
                </a:solidFill>
              </a:defRPr>
            </a:pPr>
            <a:r>
              <a:rPr lang="en-US" sz="1600" dirty="0">
                <a:solidFill>
                  <a:srgbClr val="CBD5E1"/>
                </a:solidFill>
                <a:latin typeface="Aptos" pitchFamily="34" charset="0"/>
                <a:ea typeface="Aptos" pitchFamily="34" charset="-122"/>
                <a:cs typeface="Aptos" pitchFamily="34" charset="-120"/>
              </a:rPr>
              <a:t>Una pipeline completa che unisce computer vision, rappresentazione strutturata, simulazione elettrica e diagnosi agentica.</a:t>
            </a:r>
            <a:endParaRPr lang="en-US" sz="1500" dirty="0"/>
          </a:p>
        </p:txBody>
      </p:sp>
      <p:sp>
        <p:nvSpPr>
          <p:cNvPr id="4" name="Text 2"/>
          <p:cNvSpPr/>
          <p:nvPr/>
        </p:nvSpPr>
        <p:spPr>
          <a:xfrm>
            <a:off x="841248" y="192024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01</a:t>
            </a:r>
            <a:endParaRPr lang="en-US" sz="1200" dirty="0"/>
          </a:p>
        </p:txBody>
      </p:sp>
      <p:sp>
        <p:nvSpPr>
          <p:cNvPr id="5" name="Text 3"/>
          <p:cNvSpPr/>
          <p:nvPr/>
        </p:nvSpPr>
        <p:spPr>
          <a:xfrm>
            <a:off x="1298448" y="184708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Dataset + benchmark YOLO</a:t>
            </a:r>
            <a:endParaRPr lang="en-US" sz="1520" dirty="0"/>
          </a:p>
        </p:txBody>
      </p:sp>
      <p:sp>
        <p:nvSpPr>
          <p:cNvPr id="6" name="Text 4"/>
          <p:cNvSpPr/>
          <p:nvPr/>
        </p:nvSpPr>
        <p:spPr>
          <a:xfrm>
            <a:off x="4572000" y="187452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627 immagini, augmentation e scelta YOLOv11 strong v3</a:t>
            </a:r>
            <a:endParaRPr lang="en-US" sz="1200" dirty="0"/>
          </a:p>
        </p:txBody>
      </p:sp>
      <p:sp>
        <p:nvSpPr>
          <p:cNvPr id="7" name="Text 5"/>
          <p:cNvSpPr/>
          <p:nvPr/>
        </p:nvSpPr>
        <p:spPr>
          <a:xfrm>
            <a:off x="841248" y="256032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02</a:t>
            </a:r>
            <a:endParaRPr lang="en-US" sz="1200" dirty="0"/>
          </a:p>
        </p:txBody>
      </p:sp>
      <p:sp>
        <p:nvSpPr>
          <p:cNvPr id="8" name="Text 6"/>
          <p:cNvSpPr/>
          <p:nvPr/>
        </p:nvSpPr>
        <p:spPr>
          <a:xfrm>
            <a:off x="1298448" y="248716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Pipeline 1.0</a:t>
            </a:r>
            <a:endParaRPr lang="en-US" sz="1520" dirty="0"/>
          </a:p>
        </p:txBody>
      </p:sp>
      <p:sp>
        <p:nvSpPr>
          <p:cNvPr id="9" name="Text 7"/>
          <p:cNvSpPr/>
          <p:nvPr/>
        </p:nvSpPr>
        <p:spPr>
          <a:xfrm>
            <a:off x="4572000" y="251460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da detection a Graph JSON con terminali, OCR e warning</a:t>
            </a:r>
            <a:endParaRPr lang="en-US" sz="1200" dirty="0"/>
          </a:p>
        </p:txBody>
      </p:sp>
      <p:sp>
        <p:nvSpPr>
          <p:cNvPr id="10" name="Text 8"/>
          <p:cNvSpPr/>
          <p:nvPr/>
        </p:nvSpPr>
        <p:spPr>
          <a:xfrm>
            <a:off x="841248" y="320040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03</a:t>
            </a:r>
            <a:endParaRPr lang="en-US" sz="1200" dirty="0"/>
          </a:p>
        </p:txBody>
      </p:sp>
      <p:sp>
        <p:nvSpPr>
          <p:cNvPr id="11" name="Text 9"/>
          <p:cNvSpPr/>
          <p:nvPr/>
        </p:nvSpPr>
        <p:spPr>
          <a:xfrm>
            <a:off x="1298448" y="312724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Judge GPT</a:t>
            </a:r>
            <a:endParaRPr lang="en-US" sz="1520" dirty="0"/>
          </a:p>
        </p:txBody>
      </p:sp>
      <p:sp>
        <p:nvSpPr>
          <p:cNvPr id="12" name="Text 10"/>
          <p:cNvSpPr/>
          <p:nvPr/>
        </p:nvSpPr>
        <p:spPr>
          <a:xfrm>
            <a:off x="4572000" y="315468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verifica Graph JSON e diagnosi su sintomi con datasheet</a:t>
            </a:r>
            <a:endParaRPr lang="en-US" sz="1200" dirty="0"/>
          </a:p>
        </p:txBody>
      </p:sp>
      <p:sp>
        <p:nvSpPr>
          <p:cNvPr id="13" name="Text 11"/>
          <p:cNvSpPr/>
          <p:nvPr/>
        </p:nvSpPr>
        <p:spPr>
          <a:xfrm>
            <a:off x="841248" y="384048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04</a:t>
            </a:r>
            <a:endParaRPr lang="en-US" sz="1200" dirty="0"/>
          </a:p>
        </p:txBody>
      </p:sp>
      <p:sp>
        <p:nvSpPr>
          <p:cNvPr id="14" name="Text 12"/>
          <p:cNvSpPr/>
          <p:nvPr/>
        </p:nvSpPr>
        <p:spPr>
          <a:xfrm>
            <a:off x="1298448" y="376732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Pipeline 2.0</a:t>
            </a:r>
            <a:endParaRPr lang="en-US" sz="1520" dirty="0"/>
          </a:p>
        </p:txBody>
      </p:sp>
      <p:sp>
        <p:nvSpPr>
          <p:cNvPr id="15" name="Text 13"/>
          <p:cNvSpPr/>
          <p:nvPr/>
        </p:nvSpPr>
        <p:spPr>
          <a:xfrm>
            <a:off x="4572000" y="379476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Graph JSON → netlist SPICE → ngspice OP/TRAN</a:t>
            </a:r>
            <a:endParaRPr lang="en-US" sz="1200" dirty="0"/>
          </a:p>
        </p:txBody>
      </p:sp>
      <p:sp>
        <p:nvSpPr>
          <p:cNvPr id="16" name="Text 14"/>
          <p:cNvSpPr/>
          <p:nvPr/>
        </p:nvSpPr>
        <p:spPr>
          <a:xfrm>
            <a:off x="841248" y="4480560"/>
            <a:ext cx="384048" cy="146304"/>
          </a:xfrm>
          <a:prstGeom prst="rect">
            <a:avLst/>
          </a:prstGeom>
          <a:noFill/>
          <a:ln/>
        </p:spPr>
        <p:txBody>
          <a:bodyPr wrap="square" lIns="0" tIns="0" rIns="0" bIns="0" rtlCol="0" anchor="ctr"/>
          <a:lstStyle/>
          <a:p>
            <a:pPr marL="0" indent="0">
              <a:buNone/>
              <a:defRPr>
                <a:solidFill>
                  <a:srgbClr val="1E293B"/>
                </a:solidFill>
              </a:defRPr>
            </a:pPr>
            <a:r>
              <a:rPr lang="en-US" sz="1200" b="1" dirty="0">
                <a:solidFill>
                  <a:srgbClr val="2DD4BF"/>
                </a:solidFill>
                <a:latin typeface="Aptos" pitchFamily="34" charset="0"/>
                <a:ea typeface="Aptos" pitchFamily="34" charset="-122"/>
                <a:cs typeface="Aptos" pitchFamily="34" charset="-120"/>
              </a:rPr>
              <a:t>05</a:t>
            </a:r>
            <a:endParaRPr lang="en-US" sz="1200" dirty="0"/>
          </a:p>
        </p:txBody>
      </p:sp>
      <p:sp>
        <p:nvSpPr>
          <p:cNvPr id="17" name="Text 15"/>
          <p:cNvSpPr/>
          <p:nvPr/>
        </p:nvSpPr>
        <p:spPr>
          <a:xfrm>
            <a:off x="1298448" y="4407408"/>
            <a:ext cx="2926080" cy="201168"/>
          </a:xfrm>
          <a:prstGeom prst="rect">
            <a:avLst/>
          </a:prstGeom>
          <a:noFill/>
          <a:ln/>
        </p:spPr>
        <p:txBody>
          <a:bodyPr wrap="square" lIns="0" tIns="0" rIns="0" bIns="0" rtlCol="0" anchor="ctr"/>
          <a:lstStyle/>
          <a:p>
            <a:pPr marL="0" indent="0">
              <a:buNone/>
              <a:defRPr>
                <a:solidFill>
                  <a:srgbClr val="1E293B"/>
                </a:solidFill>
              </a:defRPr>
            </a:pPr>
            <a:r>
              <a:rPr lang="en-US" sz="1600" b="1" dirty="0">
                <a:solidFill>
                  <a:srgbClr val="F8FAFC"/>
                </a:solidFill>
                <a:latin typeface="Aptos Display" pitchFamily="34" charset="0"/>
                <a:ea typeface="Aptos Display" pitchFamily="34" charset="-122"/>
                <a:cs typeface="Aptos Display" pitchFamily="34" charset="-120"/>
              </a:rPr>
              <a:t>Agente diagnostico</a:t>
            </a:r>
            <a:endParaRPr lang="en-US" sz="1520" dirty="0"/>
          </a:p>
        </p:txBody>
      </p:sp>
      <p:sp>
        <p:nvSpPr>
          <p:cNvPr id="18" name="Text 16"/>
          <p:cNvSpPr/>
          <p:nvPr/>
        </p:nvSpPr>
        <p:spPr>
          <a:xfrm>
            <a:off x="4572000" y="4434840"/>
            <a:ext cx="5897880" cy="182880"/>
          </a:xfrm>
          <a:prstGeom prst="rect">
            <a:avLst/>
          </a:prstGeom>
          <a:noFill/>
          <a:ln/>
        </p:spPr>
        <p:txBody>
          <a:bodyPr wrap="square" lIns="0" tIns="0" rIns="0" bIns="0" rtlCol="0" anchor="ctr">
            <a:normAutofit fontScale="92500" lnSpcReduction="10000"/>
          </a:bodyPr>
          <a:lstStyle/>
          <a:p>
            <a:pPr marL="0" indent="0">
              <a:buNone/>
              <a:defRPr>
                <a:solidFill>
                  <a:srgbClr val="1E293B"/>
                </a:solidFill>
              </a:defRPr>
            </a:pPr>
            <a:r>
              <a:rPr lang="en-US" sz="1400" dirty="0">
                <a:solidFill>
                  <a:srgbClr val="CBD5E1"/>
                </a:solidFill>
                <a:latin typeface="Aptos" pitchFamily="34" charset="0"/>
                <a:ea typeface="Aptos" pitchFamily="34" charset="-122"/>
                <a:cs typeface="Aptos" pitchFamily="34" charset="-120"/>
              </a:rPr>
              <a:t>CHAT guidata, AGENT autonomo, scenari e viewer</a:t>
            </a:r>
            <a:endParaRPr lang="en-US" sz="1200" dirty="0"/>
          </a:p>
        </p:txBody>
      </p:sp>
      <p:sp>
        <p:nvSpPr>
          <p:cNvPr id="20" name="Text 18"/>
          <p:cNvSpPr/>
          <p:nvPr/>
        </p:nvSpPr>
        <p:spPr>
          <a:xfrm>
            <a:off x="868680" y="5806440"/>
            <a:ext cx="9784080" cy="274320"/>
          </a:xfrm>
          <a:prstGeom prst="rect">
            <a:avLst/>
          </a:prstGeom>
          <a:noFill/>
          <a:ln/>
        </p:spPr>
        <p:txBody>
          <a:bodyPr wrap="square" lIns="0" tIns="0" rIns="0" bIns="0" rtlCol="0" anchor="ctr">
            <a:normAutofit/>
          </a:bodyPr>
          <a:lstStyle/>
          <a:p>
            <a:pPr marL="0" indent="0">
              <a:buNone/>
              <a:defRPr>
                <a:solidFill>
                  <a:srgbClr val="1E293B"/>
                </a:solidFill>
              </a:defRPr>
            </a:pPr>
            <a:endParaRPr lang="en-US" sz="1320" dirty="0"/>
          </a:p>
        </p:txBody>
      </p:sp>
      <p:sp>
        <p:nvSpPr>
          <p:cNvPr id="21" name="Text 19"/>
          <p:cNvSpPr/>
          <p:nvPr/>
        </p:nvSpPr>
        <p:spPr>
          <a:xfrm>
            <a:off x="11356848" y="6254496"/>
            <a:ext cx="320040" cy="219456"/>
          </a:xfrm>
          <a:prstGeom prst="rect">
            <a:avLst/>
          </a:prstGeom>
          <a:noFill/>
          <a:ln/>
        </p:spPr>
        <p:txBody>
          <a:bodyPr wrap="square" lIns="0" tIns="0" rIns="0" bIns="0" rtlCol="0" anchor="ctr"/>
          <a:lstStyle/>
          <a:p>
            <a:pPr marL="0" indent="0" algn="r">
              <a:buNone/>
              <a:defRPr>
                <a:solidFill>
                  <a:srgbClr val="1E293B"/>
                </a:solidFill>
              </a:defRPr>
            </a:pPr>
            <a:r>
              <a:rPr lang="en-US" sz="1100" b="1" dirty="0">
                <a:solidFill>
                  <a:srgbClr val="94A3B8"/>
                </a:solidFill>
                <a:latin typeface="Aptos" pitchFamily="34" charset="0"/>
                <a:ea typeface="Aptos" pitchFamily="34" charset="-122"/>
                <a:cs typeface="Aptos" pitchFamily="34" charset="-120"/>
              </a:rPr>
              <a:t>14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145</TotalTime>
  <Words>2203</Words>
  <Application>Microsoft Office PowerPoint</Application>
  <PresentationFormat>Widescreen</PresentationFormat>
  <Paragraphs>440</Paragraphs>
  <Slides>14</Slides>
  <Notes>14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14</vt:i4>
      </vt:variant>
    </vt:vector>
  </HeadingPairs>
  <TitlesOfParts>
    <vt:vector size="19" baseType="lpstr">
      <vt:lpstr>Aptos</vt:lpstr>
      <vt:lpstr>Aptos Display</vt:lpstr>
      <vt:lpstr>Arial</vt:lpstr>
      <vt:lpstr>Courier New</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Politecnico di Torino / Data Reply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detection e diagnosi AI di circuiti elettrici</dc:title>
  <dc:subject>Panoramica percorso di tesi</dc:subject>
  <dc:creator>Marco Profilo</dc:creator>
  <cp:lastModifiedBy>Marco Profilo</cp:lastModifiedBy>
  <cp:revision>5</cp:revision>
  <dcterms:created xsi:type="dcterms:W3CDTF">2026-07-21T08:30:22Z</dcterms:created>
  <dcterms:modified xsi:type="dcterms:W3CDTF">2026-07-22T11:34:51Z</dcterms:modified>
</cp:coreProperties>
</file>