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8272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9326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 Detection e Diagnosi AI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 circuiti elettrici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13232" y="1905591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2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del percorso di tesi: dataset → YOLO → Graph JSON → SPICE → agente diagnostico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6384" y="417881"/>
            <a:ext cx="1271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179576" y="3247612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252728" y="3320764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Roboflow + bbox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16352" y="3576796"/>
            <a:ext cx="22860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3099816" y="3247612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172968" y="3320764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YOLOv11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detection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36592" y="3576796"/>
            <a:ext cx="22860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5020056" y="3247612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093208" y="3320764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1.0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JSON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56832" y="3576796"/>
            <a:ext cx="22860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6940296" y="3247612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7013448" y="3320764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2.0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SPICE/ngspice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77072" y="3576796"/>
            <a:ext cx="22860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8860536" y="3247612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8933688" y="3320764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+ AGENT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" y="5074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Obiettivo: trasformare immagini di schemi elettrici in evidenze strutturate, simulabili e interrogabili da un agente AI.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31520" y="62727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Marco Profilo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356848" y="625449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Visione del progetto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pipeline end-to-end, modulare e verificabile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1124712" y="2029968"/>
            <a:ext cx="1389888" cy="530352"/>
          </a:xfrm>
          <a:prstGeom prst="roundRect">
            <a:avLst>
              <a:gd name="adj" fmla="val 1379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197864" y="21031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Immagine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elettrico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42032" y="2295144"/>
            <a:ext cx="18288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2770632" y="2029968"/>
            <a:ext cx="1389888" cy="530352"/>
          </a:xfrm>
          <a:prstGeom prst="roundRect">
            <a:avLst>
              <a:gd name="adj" fmla="val 1379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2843784" y="21031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87952" y="2295144"/>
            <a:ext cx="18288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4416552" y="2029968"/>
            <a:ext cx="1389888" cy="530352"/>
          </a:xfrm>
          <a:prstGeom prst="roundRect">
            <a:avLst>
              <a:gd name="adj" fmla="val 1379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489704" y="21031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OCR + pin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33872" y="2295144"/>
            <a:ext cx="18288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6062472" y="2029968"/>
            <a:ext cx="1389888" cy="530352"/>
          </a:xfrm>
          <a:prstGeom prst="roundRect">
            <a:avLst>
              <a:gd name="adj" fmla="val 1379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135624" y="21031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JSON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nodi + fili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79792" y="2295144"/>
            <a:ext cx="18288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7708392" y="2029968"/>
            <a:ext cx="1389888" cy="530352"/>
          </a:xfrm>
          <a:prstGeom prst="roundRect">
            <a:avLst>
              <a:gd name="adj" fmla="val 1379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7781544" y="21031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netlist + run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25712" y="2295144"/>
            <a:ext cx="18288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9354312" y="2029968"/>
            <a:ext cx="1389888" cy="530352"/>
          </a:xfrm>
          <a:prstGeom prst="roundRect">
            <a:avLst>
              <a:gd name="adj" fmla="val 1379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9427464" y="21031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 + risposta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9808" y="32735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PRINCIPIO GUIDA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9808" y="35661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 ricostruzione perfetta dello schema, ma rappresentazione tecnica controllabile.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804672" y="443484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969264" y="4370832"/>
            <a:ext cx="5093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Ogni step produce artefatti leggibili e versionabili.</a:t>
            </a:r>
            <a:endParaRPr lang="en-US" sz="1260" dirty="0"/>
          </a:p>
        </p:txBody>
      </p:sp>
      <p:sp>
        <p:nvSpPr>
          <p:cNvPr id="29" name="Shape 27"/>
          <p:cNvSpPr/>
          <p:nvPr/>
        </p:nvSpPr>
        <p:spPr>
          <a:xfrm>
            <a:off x="804672" y="4773168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969264" y="4709160"/>
            <a:ext cx="5093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assunzioni sono dichiarate nei file YAML, non nascoste nel codice.</a:t>
            </a:r>
            <a:endParaRPr lang="en-US" sz="1260" dirty="0"/>
          </a:p>
        </p:txBody>
      </p:sp>
      <p:sp>
        <p:nvSpPr>
          <p:cNvPr id="31" name="Shape 29"/>
          <p:cNvSpPr/>
          <p:nvPr/>
        </p:nvSpPr>
        <p:spPr>
          <a:xfrm>
            <a:off x="804672" y="5111496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969264" y="5047488"/>
            <a:ext cx="5093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base run non viene mai modificata: ogni test è una copia scenario.</a:t>
            </a:r>
            <a:endParaRPr lang="en-US" sz="1260" dirty="0"/>
          </a:p>
        </p:txBody>
      </p:sp>
      <p:sp>
        <p:nvSpPr>
          <p:cNvPr id="33" name="Shape 31"/>
          <p:cNvSpPr/>
          <p:nvPr/>
        </p:nvSpPr>
        <p:spPr>
          <a:xfrm>
            <a:off x="804672" y="5449824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969264" y="5385816"/>
            <a:ext cx="5093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modello AI ragiona su evidenze, non su ipotesi libere.</a:t>
            </a:r>
            <a:endParaRPr lang="en-US" sz="1260" dirty="0"/>
          </a:p>
        </p:txBody>
      </p:sp>
      <p:sp>
        <p:nvSpPr>
          <p:cNvPr id="35" name="Text 33"/>
          <p:cNvSpPr/>
          <p:nvPr/>
        </p:nvSpPr>
        <p:spPr>
          <a:xfrm>
            <a:off x="6537960" y="32735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TECNICI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37960" y="3611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6647688" y="372160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22008" y="3712464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bbox + istanze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549640" y="3611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8659368" y="372160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933688" y="3712464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Graph JSON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537960" y="4233672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6647688" y="434340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03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22008" y="433425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netlist SPICE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549640" y="4233672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8659368" y="434340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04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933688" y="433425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ngspice OP/TRAN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537960" y="4855464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47"/>
          <p:cNvSpPr/>
          <p:nvPr/>
        </p:nvSpPr>
        <p:spPr>
          <a:xfrm>
            <a:off x="6647688" y="496519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05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922008" y="495604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scenario_comparison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549640" y="4855464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50"/>
          <p:cNvSpPr/>
          <p:nvPr/>
        </p:nvSpPr>
        <p:spPr>
          <a:xfrm>
            <a:off x="8659368" y="496519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06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933688" y="495604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viewer SVG + diagnosi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565392" y="562356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Stesso schema logico per circuiti semplici e complessi: cambia il livello di simulabilità, non il metodo.</a:t>
            </a:r>
            <a:endParaRPr lang="en-US" sz="13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e augmentation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Costruzione della base dati per object detection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58368" y="1600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58368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immagini</a:t>
            </a: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annotate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1600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YOLO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88920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formato bbox + classi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19472" y="1600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1024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919472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risoluzione input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" y="2606040"/>
            <a:ext cx="5806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786384" y="29077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ROBOFLOW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841248" y="3355848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1005840" y="3291840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Annotazione manuale dei componenti con bounding box.</a:t>
            </a:r>
            <a:endParaRPr lang="en-US" sz="1270" dirty="0"/>
          </a:p>
        </p:txBody>
      </p:sp>
      <p:sp>
        <p:nvSpPr>
          <p:cNvPr id="18" name="Shape 16"/>
          <p:cNvSpPr/>
          <p:nvPr/>
        </p:nvSpPr>
        <p:spPr>
          <a:xfrm>
            <a:off x="841248" y="3739896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1005840" y="3675888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Esportazione in formato YOLO per train/validation/test.</a:t>
            </a:r>
            <a:endParaRPr lang="en-US" sz="1270" dirty="0"/>
          </a:p>
        </p:txBody>
      </p:sp>
      <p:sp>
        <p:nvSpPr>
          <p:cNvPr id="20" name="Shape 18"/>
          <p:cNvSpPr/>
          <p:nvPr/>
        </p:nvSpPr>
        <p:spPr>
          <a:xfrm>
            <a:off x="841248" y="4123944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1005840" y="4059936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e split mantenuti tracciabili tra esperimenti.</a:t>
            </a:r>
            <a:endParaRPr lang="en-US" sz="1270" dirty="0"/>
          </a:p>
        </p:txBody>
      </p:sp>
      <p:sp>
        <p:nvSpPr>
          <p:cNvPr id="22" name="Text 20"/>
          <p:cNvSpPr/>
          <p:nvPr/>
        </p:nvSpPr>
        <p:spPr>
          <a:xfrm>
            <a:off x="6812280" y="1463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VARIANTI GENERATE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12280" y="1874520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885432" y="194767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 baseline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58200" y="19293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originale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52944" y="2203704"/>
            <a:ext cx="0" cy="27432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 dirty="0"/>
          </a:p>
        </p:txBody>
      </p:sp>
      <p:sp>
        <p:nvSpPr>
          <p:cNvPr id="27" name="Shape 25"/>
          <p:cNvSpPr/>
          <p:nvPr/>
        </p:nvSpPr>
        <p:spPr>
          <a:xfrm>
            <a:off x="6812280" y="2478024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6885432" y="2551176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Grayscale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58200" y="253288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conversione immagini, label identiche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52944" y="2807208"/>
            <a:ext cx="0" cy="27432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6812280" y="3081528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6885432" y="315468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 v1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58200" y="31363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rotazioni leggere + rumore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552944" y="3410712"/>
            <a:ext cx="0" cy="27432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5" name="Shape 33"/>
          <p:cNvSpPr/>
          <p:nvPr/>
        </p:nvSpPr>
        <p:spPr>
          <a:xfrm>
            <a:off x="6812280" y="3685032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6885432" y="3758184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 v2 compose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458200" y="373989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schemi affiancati + padding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552944" y="4014216"/>
            <a:ext cx="0" cy="27432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37"/>
          <p:cNvSpPr/>
          <p:nvPr/>
        </p:nvSpPr>
        <p:spPr>
          <a:xfrm>
            <a:off x="6812280" y="4288536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6885432" y="436168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v3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458200" y="43434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rotazioni</a:t>
            </a: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25–45°, </a:t>
            </a:r>
            <a:r>
              <a:rPr lang="en-US" sz="12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traslazioni</a:t>
            </a: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8–15%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39712" y="51755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versione finale scelta per il training YOLO è la variante RGB con augmentation strong v3.</a:t>
            </a:r>
            <a:endParaRPr lang="en-US" sz="1750" dirty="0"/>
          </a:p>
        </p:txBody>
      </p:sp>
      <p:sp>
        <p:nvSpPr>
          <p:cNvPr id="43" name="Shape 41"/>
          <p:cNvSpPr/>
          <p:nvPr/>
        </p:nvSpPr>
        <p:spPr>
          <a:xfrm>
            <a:off x="6839712" y="5806440"/>
            <a:ext cx="3246120" cy="256032"/>
          </a:xfrm>
          <a:prstGeom prst="roundRect">
            <a:avLst>
              <a:gd name="adj" fmla="val 28571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6912864" y="5858561"/>
            <a:ext cx="30998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exp11b1_yolo11_rgb_aug_strong_v3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light_circuit_template_b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Benchmark YOLO e scelta del modello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YOLOv7, YOLOv8 e YOLOv11 confrontati su varianti di dataset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8" name="Image 0" descr="/mnt/data/bar_chart_map50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9" y="1435608"/>
            <a:ext cx="5700757" cy="4059936"/>
          </a:xfrm>
          <a:prstGeom prst="rect">
            <a:avLst/>
          </a:prstGeom>
        </p:spPr>
      </p:pic>
      <p:pic>
        <p:nvPicPr>
          <p:cNvPr id="9" name="Image 1" descr="/mnt/data/bar_chart_f1_sc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675" y="1362455"/>
            <a:ext cx="5955587" cy="405993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04672" y="5687568"/>
            <a:ext cx="10652760" cy="438912"/>
          </a:xfrm>
          <a:prstGeom prst="roundRect">
            <a:avLst>
              <a:gd name="adj" fmla="val 10417"/>
            </a:avLst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960120" y="5815584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Scelta finale: </a:t>
            </a:r>
            <a:r>
              <a:rPr lang="en-US" sz="1200" b="1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YOLOv11 RGB + strong augmentation v3 </a:t>
            </a: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miglior mAP@0.5:0.95 (0,6687) e F1 molto vicino al massimo (0,9168).</a:t>
            </a:r>
            <a:endParaRPr lang="en-US" sz="1200" dirty="0"/>
          </a:p>
        </p:txBody>
      </p:sp>
      <p:sp>
        <p:nvSpPr>
          <p:cNvPr id="12" name="Rectangle 11"/>
          <p:cNvSpPr/>
          <p:nvPr/>
        </p:nvSpPr>
        <p:spPr>
          <a:xfrm>
            <a:off x="713232" y="5650992"/>
            <a:ext cx="10844784" cy="713232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715000"/>
            <a:ext cx="1463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09966"/>
                </a:solidFill>
                <a:latin typeface="Aptos"/>
              </a:rPr>
              <a:t>Risultati chiave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563687"/>
              </p:ext>
            </p:extLst>
          </p:nvPr>
        </p:nvGraphicFramePr>
        <p:xfrm>
          <a:off x="2148840" y="5720785"/>
          <a:ext cx="8366760" cy="41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Configurazione</a:t>
                      </a:r>
                      <a:endParaRPr sz="11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ptos"/>
                        </a:rPr>
                        <a:t>Precision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ptos"/>
                        </a:rPr>
                        <a:t>Recall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ptos"/>
                        </a:rPr>
                        <a:t>F1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ptos"/>
                        </a:rPr>
                        <a:t>mAP@0.5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ptos"/>
                        </a:rPr>
                        <a:t>mAP@0.5:0.95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Aptos"/>
                        </a:rPr>
                        <a:t>YOLOv11 RGB + strong v3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FFFFFF"/>
                          </a:solidFill>
                          <a:latin typeface="Aptos"/>
                        </a:rPr>
                        <a:t>0,9379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FFFFFF"/>
                          </a:solidFill>
                          <a:latin typeface="Aptos"/>
                        </a:rPr>
                        <a:t>0,8967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FFFFFF"/>
                          </a:solidFill>
                          <a:latin typeface="Aptos"/>
                        </a:rPr>
                        <a:t>0,9168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FFFFFF"/>
                          </a:solidFill>
                          <a:latin typeface="Aptos"/>
                        </a:rPr>
                        <a:t>0,9559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Aptos"/>
                        </a:rPr>
                        <a:t>0,6687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392284" y="6153912"/>
            <a:ext cx="45656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dirty="0">
                <a:solidFill>
                  <a:srgbClr val="FFFFFF"/>
                </a:solidFill>
                <a:latin typeface="Aptos"/>
              </a:rPr>
              <a:t>F1 </a:t>
            </a:r>
            <a:r>
              <a:rPr sz="800" dirty="0" err="1">
                <a:solidFill>
                  <a:srgbClr val="FFFFFF"/>
                </a:solidFill>
                <a:latin typeface="Aptos"/>
              </a:rPr>
              <a:t>massimo</a:t>
            </a:r>
            <a:r>
              <a:rPr sz="800" dirty="0">
                <a:solidFill>
                  <a:srgbClr val="FFFFFF"/>
                </a:solidFill>
                <a:latin typeface="Aptos"/>
              </a:rPr>
              <a:t>: exp11 </a:t>
            </a:r>
            <a:r>
              <a:rPr sz="800" dirty="0" err="1">
                <a:solidFill>
                  <a:srgbClr val="FFFFFF"/>
                </a:solidFill>
                <a:latin typeface="Aptos"/>
              </a:rPr>
              <a:t>aug</a:t>
            </a:r>
            <a:r>
              <a:rPr sz="800" dirty="0">
                <a:solidFill>
                  <a:srgbClr val="FFFFFF"/>
                </a:solidFill>
                <a:latin typeface="Aptos"/>
              </a:rPr>
              <a:t> v1 = 0,9215; </a:t>
            </a:r>
            <a:r>
              <a:rPr sz="800" dirty="0" err="1">
                <a:solidFill>
                  <a:srgbClr val="FFFFFF"/>
                </a:solidFill>
                <a:latin typeface="Aptos"/>
              </a:rPr>
              <a:t>scelta</a:t>
            </a:r>
            <a:r>
              <a:rPr sz="800" dirty="0">
                <a:solidFill>
                  <a:srgbClr val="FFFFFF"/>
                </a:solidFill>
                <a:latin typeface="Aptos"/>
              </a:rPr>
              <a:t> finale = </a:t>
            </a:r>
            <a:r>
              <a:rPr sz="800" dirty="0" err="1">
                <a:solidFill>
                  <a:srgbClr val="FFFFFF"/>
                </a:solidFill>
                <a:latin typeface="Aptos"/>
              </a:rPr>
              <a:t>miglior</a:t>
            </a:r>
            <a:r>
              <a:rPr sz="800" dirty="0">
                <a:solidFill>
                  <a:srgbClr val="FFFFFF"/>
                </a:solidFill>
                <a:latin typeface="Aptos"/>
              </a:rPr>
              <a:t> mAP@0.5:0.95 con F1 quasi </a:t>
            </a:r>
            <a:r>
              <a:rPr sz="800" dirty="0" err="1">
                <a:solidFill>
                  <a:srgbClr val="FFFFFF"/>
                </a:solidFill>
                <a:latin typeface="Aptos"/>
              </a:rPr>
              <a:t>equivalente</a:t>
            </a:r>
            <a:r>
              <a:rPr sz="800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1.0: dall’immagine al Graph JSON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detection, terminali e collegamenti elettrici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13232" y="13716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CATENA TECNICA 01–06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1764792"/>
            <a:ext cx="1609344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58952" y="186537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848" y="184708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detect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9848" y="2039112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01_detect_components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331720" y="2020824"/>
            <a:ext cx="15544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2560320" y="1764792"/>
            <a:ext cx="1609344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2633472" y="186537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944368" y="184708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instances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44368" y="2039112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02_assign_instances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206240" y="2020824"/>
            <a:ext cx="15544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4434840" y="1764792"/>
            <a:ext cx="1609344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507992" y="186537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</a:rPr>
              <a:t>03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18888" y="184708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terminals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18888" y="2039112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03_estimate_terminals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85800" y="2551176"/>
            <a:ext cx="1609344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758952" y="26517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</a:rPr>
              <a:t>04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69848" y="263347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wires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69848" y="2825496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04_extract_wires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331720" y="2807208"/>
            <a:ext cx="15544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2560320" y="2551176"/>
            <a:ext cx="1609344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2633472" y="26517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</a:rPr>
              <a:t>05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944368" y="263347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graph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44368" y="2825496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05_build_terminal_graph</a:t>
            </a:r>
            <a:endParaRPr lang="en-US" sz="630" dirty="0"/>
          </a:p>
        </p:txBody>
      </p:sp>
      <p:sp>
        <p:nvSpPr>
          <p:cNvPr id="32" name="Shape 30"/>
          <p:cNvSpPr/>
          <p:nvPr/>
        </p:nvSpPr>
        <p:spPr>
          <a:xfrm>
            <a:off x="4206240" y="2807208"/>
            <a:ext cx="15544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4434840" y="2551176"/>
            <a:ext cx="1609344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4507992" y="26517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</a:rPr>
              <a:t>06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18888" y="263347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report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18888" y="2825496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06_render_graph_report</a:t>
            </a:r>
            <a:endParaRPr lang="en-US" sz="630" dirty="0"/>
          </a:p>
        </p:txBody>
      </p:sp>
      <p:sp>
        <p:nvSpPr>
          <p:cNvPr id="37" name="Text 35"/>
          <p:cNvSpPr/>
          <p:nvPr/>
        </p:nvSpPr>
        <p:spPr>
          <a:xfrm>
            <a:off x="749808" y="37947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RAPPRESENTAZIONE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49808" y="411480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Il Graph JSON diventa il contratto tra computer vision, giudizio automatico, SPICE e agente.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804672" y="4818888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969264" y="4754880"/>
            <a:ext cx="5413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Componenti</a:t>
            </a: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 istanza stabile: resistor22.1, led12.1, ecc.</a:t>
            </a:r>
            <a:endParaRPr lang="en-US" sz="1180" dirty="0"/>
          </a:p>
        </p:txBody>
      </p:sp>
      <p:sp>
        <p:nvSpPr>
          <p:cNvPr id="41" name="Shape 39"/>
          <p:cNvSpPr/>
          <p:nvPr/>
        </p:nvSpPr>
        <p:spPr>
          <a:xfrm>
            <a:off x="804672" y="5129784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969264" y="5065776"/>
            <a:ext cx="5413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Terminali stimati </a:t>
            </a: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</a:t>
            </a:r>
            <a:r>
              <a:rPr lang="en-US" sz="11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orientamento</a:t>
            </a: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OCR e regole per componenti IC.</a:t>
            </a:r>
            <a:endParaRPr lang="en-US" sz="1180" dirty="0"/>
          </a:p>
        </p:txBody>
      </p:sp>
      <p:sp>
        <p:nvSpPr>
          <p:cNvPr id="43" name="Shape 41"/>
          <p:cNvSpPr/>
          <p:nvPr/>
        </p:nvSpPr>
        <p:spPr>
          <a:xfrm>
            <a:off x="804672" y="544068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969264" y="5376672"/>
            <a:ext cx="5413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</a:t>
            </a: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 giunzioni trasformati in </a:t>
            </a:r>
            <a:r>
              <a:rPr lang="en-US" sz="11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connessioni</a:t>
            </a: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terminale-terminale.</a:t>
            </a:r>
            <a:endParaRPr lang="en-US" sz="1180" dirty="0"/>
          </a:p>
        </p:txBody>
      </p:sp>
      <p:sp>
        <p:nvSpPr>
          <p:cNvPr id="45" name="Shape 43"/>
          <p:cNvSpPr/>
          <p:nvPr/>
        </p:nvSpPr>
        <p:spPr>
          <a:xfrm>
            <a:off x="804672" y="5751576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969264" y="5687568"/>
            <a:ext cx="5413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Warning conservati</a:t>
            </a: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nodi incerti, terminali scollegati, stati switch.</a:t>
            </a:r>
            <a:endParaRPr lang="en-US" sz="1180" dirty="0"/>
          </a:p>
        </p:txBody>
      </p:sp>
      <p:sp>
        <p:nvSpPr>
          <p:cNvPr id="47" name="Shape 45"/>
          <p:cNvSpPr/>
          <p:nvPr/>
        </p:nvSpPr>
        <p:spPr>
          <a:xfrm>
            <a:off x="6629400" y="1554480"/>
            <a:ext cx="4434840" cy="3931920"/>
          </a:xfrm>
          <a:prstGeom prst="roundRect">
            <a:avLst>
              <a:gd name="adj" fmla="val 1628"/>
            </a:avLst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6903720" y="1874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 JSON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967728" y="2377440"/>
            <a:ext cx="3749040" cy="2331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"components": [...],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"terminals": [...],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"connections": [...],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"visible_semantics":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"switch_state": "open",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"polarity": "known"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"warnings": [...]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8869680" y="5029200"/>
            <a:ext cx="1600200" cy="256032"/>
          </a:xfrm>
          <a:prstGeom prst="roundRect">
            <a:avLst>
              <a:gd name="adj" fmla="val 28571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49"/>
          <p:cNvSpPr/>
          <p:nvPr/>
        </p:nvSpPr>
        <p:spPr>
          <a:xfrm>
            <a:off x="8942832" y="5081321"/>
            <a:ext cx="1453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riusabile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light_circuit_template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Validazione: Graph JSON e diagnosi GPT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Dopo la visione, il progetto verifica la qualità dei grafi e la diagnosi sui sintomi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13232" y="13533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 IMMAGINE ↔ GRAPH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6642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Coerenza topologica controllata con GPT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786384" y="2203704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950976" y="2139696"/>
            <a:ext cx="4727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Confronto tra schema originale e Graph JSON prodotto dalla Pipeline 1.0.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786384" y="2587752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950976" y="2523744"/>
            <a:ext cx="4727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Classificazione della fedeltà: </a:t>
            </a:r>
            <a:r>
              <a:rPr lang="en-US" sz="122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VERY_HIGH / HIGH / MEDIUM / LOW</a:t>
            </a: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786384" y="297180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950976" y="2907792"/>
            <a:ext cx="4727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casi problematici diventano input per correzioni o esclusioni metodologiche.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786384" y="3794760"/>
            <a:ext cx="4800600" cy="1005840"/>
          </a:xfrm>
          <a:prstGeom prst="roundRect">
            <a:avLst>
              <a:gd name="adj" fmla="val 5455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960120" y="40050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Risultato operativo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431596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Quasi tutti i grafi sono </a:t>
            </a:r>
            <a:r>
              <a:rPr lang="en-US" sz="1200" b="1" dirty="0">
                <a:solidFill>
                  <a:srgbClr val="334155"/>
                </a:solidFill>
              </a:rPr>
              <a:t>HIGH/VERY_HIGH</a:t>
            </a:r>
            <a:r>
              <a:rPr lang="en-US" sz="1200" dirty="0">
                <a:solidFill>
                  <a:srgbClr val="334155"/>
                </a:solidFill>
              </a:rPr>
              <a:t>; nessun caso finale LOW. Il Graph JSON è utilizzabile come base tecnica.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13533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 DIAGNOSTICO GPT</a:t>
            </a:r>
            <a:endParaRPr lang="en-US" sz="1200" dirty="0"/>
          </a:p>
        </p:txBody>
      </p:sp>
      <p:pic>
        <p:nvPicPr>
          <p:cNvPr id="20" name="Image 0" descr="/mnt/data/fig08_score_vs_costo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051107"/>
            <a:ext cx="5704818" cy="302380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455664" y="5440680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Oltre allo score medio sono stati analizzati effetto dell’immagine, Top‑1/Top‑3, errori gravi e costo medio per diagnosi.</a:t>
            </a:r>
            <a:endParaRPr lang="en-US" sz="1200" dirty="0"/>
          </a:p>
        </p:txBody>
      </p:sp>
      <p:sp>
        <p:nvSpPr>
          <p:cNvPr id="22" name="Rectangle 21"/>
          <p:cNvSpPr/>
          <p:nvPr/>
        </p:nvSpPr>
        <p:spPr>
          <a:xfrm>
            <a:off x="5989320" y="5230368"/>
            <a:ext cx="5532120" cy="109728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80760" y="5193792"/>
            <a:ext cx="329904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dirty="0" err="1">
                <a:solidFill>
                  <a:srgbClr val="009966"/>
                </a:solidFill>
                <a:latin typeface="Aptos"/>
              </a:rPr>
              <a:t>Sintesi</a:t>
            </a:r>
            <a:r>
              <a:rPr sz="1200" b="1" dirty="0">
                <a:solidFill>
                  <a:srgbClr val="009966"/>
                </a:solidFill>
                <a:latin typeface="Aptos"/>
              </a:rPr>
              <a:t> benchmark </a:t>
            </a:r>
            <a:r>
              <a:rPr sz="1200" b="1" dirty="0" err="1">
                <a:solidFill>
                  <a:srgbClr val="009966"/>
                </a:solidFill>
                <a:latin typeface="Aptos"/>
              </a:rPr>
              <a:t>diagnostico</a:t>
            </a:r>
            <a:r>
              <a:rPr sz="1200" b="1" dirty="0">
                <a:solidFill>
                  <a:srgbClr val="009966"/>
                </a:solidFill>
                <a:latin typeface="Aptos"/>
              </a:rPr>
              <a:t> GPT (128 run)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740875"/>
              </p:ext>
            </p:extLst>
          </p:nvPr>
        </p:nvGraphicFramePr>
        <p:xfrm>
          <a:off x="6080760" y="5431536"/>
          <a:ext cx="5440679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2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7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7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24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Modello</a:t>
                      </a:r>
                      <a:endParaRPr sz="9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Aptos"/>
                        </a:rPr>
                        <a:t>Score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Aptos"/>
                        </a:rPr>
                        <a:t>Top‑1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Aptos"/>
                        </a:rPr>
                        <a:t>Top‑3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Aptos"/>
                        </a:rPr>
                        <a:t>Costo/diag.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009966"/>
                          </a:solidFill>
                          <a:latin typeface="Aptos"/>
                        </a:rPr>
                        <a:t>gpt‑5.4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D394A"/>
                          </a:solidFill>
                          <a:latin typeface="Aptos"/>
                        </a:rPr>
                        <a:t>18,94/21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D394A"/>
                          </a:solidFill>
                          <a:latin typeface="Aptos"/>
                        </a:rPr>
                        <a:t>81,2%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2D394A"/>
                          </a:solidFill>
                          <a:latin typeface="Aptos"/>
                        </a:rPr>
                        <a:t>93,8%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D394A"/>
                          </a:solidFill>
                          <a:latin typeface="Aptos"/>
                        </a:rPr>
                        <a:t>$0,0689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563EB"/>
                          </a:solidFill>
                          <a:latin typeface="Aptos"/>
                        </a:rPr>
                        <a:t>gpt‑5‑mini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2D394A"/>
                          </a:solidFill>
                          <a:latin typeface="Aptos"/>
                        </a:rPr>
                        <a:t>17,44/21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2D394A"/>
                          </a:solidFill>
                          <a:latin typeface="Aptos"/>
                        </a:rPr>
                        <a:t>68,8%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D394A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D394A"/>
                          </a:solidFill>
                          <a:latin typeface="Aptos"/>
                        </a:rPr>
                        <a:t>$0,0077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2563EB"/>
                          </a:solidFill>
                          <a:latin typeface="Aptos"/>
                        </a:rPr>
                        <a:t>gpt‑5.4‑mini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D394A"/>
                          </a:solidFill>
                          <a:latin typeface="Aptos"/>
                        </a:rPr>
                        <a:t>17,38/21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D394A"/>
                          </a:solidFill>
                          <a:latin typeface="Aptos"/>
                        </a:rPr>
                        <a:t>75,0%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2D394A"/>
                          </a:solidFill>
                          <a:latin typeface="Aptos"/>
                        </a:rPr>
                        <a:t>81,2%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2D394A"/>
                          </a:solidFill>
                          <a:latin typeface="Aptos"/>
                        </a:rPr>
                        <a:t>$0,0161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080760" y="6163056"/>
            <a:ext cx="5257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30">
                <a:solidFill>
                  <a:srgbClr val="2D394A"/>
                </a:solidFill>
                <a:latin typeface="Aptos"/>
              </a:rPr>
              <a:t>Lettura: gpt‑5.4 massimizza lo score; i modelli mini riducono molto il costo mantenendo prestazioni utili.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2.0: Graph JSON → SPICE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Trasformare il grafo in netlist simulabile e contesto diagnostico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268590" y="1689681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68590" y="2073729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41742" y="2146881"/>
            <a:ext cx="20025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JSON</a:t>
            </a:r>
            <a:endParaRPr lang="en-US" sz="120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componenti + terminali + wire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1268590" y="2823537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341742" y="2896689"/>
            <a:ext cx="20025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values.yaml</a:t>
            </a:r>
            <a:endParaRPr lang="en-US" sz="120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valori e assunzioni dichiarate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1268590" y="3573345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1341742" y="3646497"/>
            <a:ext cx="20025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 YAML</a:t>
            </a:r>
            <a:endParaRPr lang="en-US" sz="120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classi, modelli, override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591166" y="2832681"/>
            <a:ext cx="65836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350118" y="1689681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TECNICI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50118" y="2055441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423270" y="2142309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io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76582" y="2055441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5849734" y="2142309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normalize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50118" y="2585793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2" name="Text 20"/>
          <p:cNvSpPr/>
          <p:nvPr/>
        </p:nvSpPr>
        <p:spPr>
          <a:xfrm>
            <a:off x="4423270" y="2672661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node map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76582" y="2585793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5849734" y="2672661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values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50118" y="3116145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4423270" y="3203013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rules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76582" y="3116145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5849734" y="3203013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spice emit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350118" y="3646497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423270" y="3733365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 ngspice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776582" y="3646497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5849734" y="3733365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context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03630" y="2832681"/>
            <a:ext cx="585216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8007718" y="1689681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07718" y="2037153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8080870" y="2110305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07_netlist.cir</a:t>
            </a:r>
            <a:endParaRPr lang="en-US" sz="120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netlist SPICE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8007718" y="2649801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8080870" y="2722953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08_tran.csv</a:t>
            </a:r>
            <a:endParaRPr lang="en-US" sz="120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forme d’onda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8007718" y="3262449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8080870" y="3335601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10_context.json</a:t>
            </a:r>
            <a:endParaRPr lang="en-US" sz="120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pacchetto per agente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8007718" y="3875097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8080870" y="3948249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viewer 13–15</a:t>
            </a:r>
            <a:endParaRPr lang="en-US" sz="120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equivalente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822960" y="5166360"/>
            <a:ext cx="10287000" cy="676656"/>
          </a:xfrm>
          <a:prstGeom prst="roundRect">
            <a:avLst>
              <a:gd name="adj" fmla="val 8108"/>
            </a:avLst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1024128" y="5385816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Regola ingegneristica: la pipeline non inventa collegamenti o modelli. Se qualcosa manca, viene dichiarato come warning o assunzione.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Scenari controllati e viewer visuale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Ogni ipotesi diagnostica produce una run separata e confrontabile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13232" y="13533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SCENARIO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18745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50392" y="1947672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scenario.json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azione proposta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68296" y="2157984"/>
            <a:ext cx="420624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2907792" y="18745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2980944" y="1947672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snapshot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copia immutabile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98848" y="2157984"/>
            <a:ext cx="420624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5038344" y="18745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111496" y="1947672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SPICE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netlist alternativa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29400" y="2157984"/>
            <a:ext cx="420624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7168896" y="18745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7242048" y="1947672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vs scenario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59952" y="2157984"/>
            <a:ext cx="420624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9299448" y="18745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9372600" y="1947672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 interattivo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" y="36301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PRIMITIVE VALIDATE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9808" y="39776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</a:rPr>
              <a:t>Stato / valori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9808" y="4315968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822960" y="4368089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close_switch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9808" y="4700016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822960" y="4752137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change_source_value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9808" y="5084064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822960" y="5136185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change_component_value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53128" y="39776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</a:rPr>
              <a:t>Topologia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453128" y="4315968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4526280" y="4368089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connect_nodes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453128" y="4700016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4526280" y="4752137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feed_nodes_from_source_node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453128" y="5084064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4526280" y="5136185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add_resistor_between_nodes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156448" y="39776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</a:rPr>
              <a:t>Stimoli / </a:t>
            </a:r>
            <a:r>
              <a:rPr lang="en-US" sz="1400" b="1" dirty="0" err="1">
                <a:solidFill>
                  <a:srgbClr val="0B1320"/>
                </a:solidFill>
              </a:rPr>
              <a:t>transitori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156448" y="4315968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8229600" y="4368089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add_voltage_source_between_nodes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156448" y="4700016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8229600" y="4752137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drive_node_voltage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156448" y="5084064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8229600" y="5136185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set_initial_node_voltage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60704" y="5715000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endParaRPr lang="en-US" sz="109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Modalità CHAT: diagnosi guidata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L’utente sceglie quali scenari eseguire, la pipeline conserva ogni decisione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49808" y="13533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FLUSSO OPERATIVO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18745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31520" y="1947672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Sintomo utente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domanda naturale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12264" y="2157984"/>
            <a:ext cx="310896" cy="0"/>
          </a:xfrm>
          <a:prstGeom prst="line">
            <a:avLst/>
          </a:prstGeom>
          <a:noFill/>
          <a:ln w="1333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2523744" y="18745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2596896" y="1947672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 read‑only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analisi artefatti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77640" y="2157984"/>
            <a:ext cx="310896" cy="0"/>
          </a:xfrm>
          <a:prstGeom prst="line">
            <a:avLst/>
          </a:prstGeom>
          <a:noFill/>
          <a:ln w="1333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4389120" y="18745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462272" y="1947672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 candidati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43016" y="2157984"/>
            <a:ext cx="310896" cy="0"/>
          </a:xfrm>
          <a:prstGeom prst="line">
            <a:avLst/>
          </a:prstGeom>
          <a:noFill/>
          <a:ln w="1333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6254496" y="18745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327648" y="1947672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Conferma utente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esegui scenario 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08392" y="2157984"/>
            <a:ext cx="310896" cy="0"/>
          </a:xfrm>
          <a:prstGeom prst="line">
            <a:avLst/>
          </a:prstGeom>
          <a:noFill/>
          <a:ln w="1333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8119872" y="18745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8193024" y="1947672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ngspice + viewer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573768" y="2157984"/>
            <a:ext cx="310896" cy="0"/>
          </a:xfrm>
          <a:prstGeom prst="line">
            <a:avLst/>
          </a:prstGeom>
          <a:noFill/>
          <a:ln w="1333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9985248" y="18745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10058400" y="1947672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Risposta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interpretazione</a:t>
            </a: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confronto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" y="3383280"/>
            <a:ext cx="4132618" cy="317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COSA DIMOSTRA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87663" y="3880234"/>
            <a:ext cx="143743" cy="1153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1024128" y="3767327"/>
            <a:ext cx="10097962" cy="374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sistema sa trasformare domande come “</a:t>
            </a:r>
            <a:r>
              <a:rPr lang="en-US" sz="1250" i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lampada non si accende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” in ipotesi elettriche eseguibili.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87662" y="4270248"/>
            <a:ext cx="143743" cy="1153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1024128" y="4151375"/>
            <a:ext cx="10097962" cy="374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</a:t>
            </a:r>
            <a:r>
              <a:rPr lang="en-US" sz="12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 </a:t>
            </a:r>
            <a:r>
              <a:rPr lang="en-US" sz="123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registry </a:t>
            </a:r>
            <a:r>
              <a:rPr lang="en-US" sz="12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rendono ripetibile la conversazione.</a:t>
            </a:r>
            <a:endParaRPr lang="en-US" sz="1230" dirty="0"/>
          </a:p>
        </p:txBody>
      </p:sp>
      <p:sp>
        <p:nvSpPr>
          <p:cNvPr id="31" name="Shape 29"/>
          <p:cNvSpPr/>
          <p:nvPr/>
        </p:nvSpPr>
        <p:spPr>
          <a:xfrm>
            <a:off x="787663" y="4660262"/>
            <a:ext cx="143743" cy="1153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1024128" y="4535423"/>
            <a:ext cx="10097962" cy="374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Gli scenari sono s</a:t>
            </a:r>
            <a:r>
              <a:rPr lang="en-US" sz="12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elf-contained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ogni run riparte dalla base e non sporca gli output originali.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87127" y="5047162"/>
            <a:ext cx="143743" cy="1153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1024128" y="4919471"/>
            <a:ext cx="10097962" cy="374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Utile per debug, validazione manuale e raccolta di casi studio per la tesi.</a:t>
            </a:r>
            <a:endParaRPr lang="en-US" sz="12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Modalità AGENT: automazione controllata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L’agente propone, esegue e confronta scenari fino a una conclusione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49808" y="1417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 AUTONOMO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713232" y="2029968"/>
            <a:ext cx="329184" cy="3710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 sz="2000" dirty="0"/>
          </a:p>
        </p:txBody>
      </p:sp>
      <p:sp>
        <p:nvSpPr>
          <p:cNvPr id="10" name="Text 8"/>
          <p:cNvSpPr/>
          <p:nvPr/>
        </p:nvSpPr>
        <p:spPr>
          <a:xfrm>
            <a:off x="713232" y="2112264"/>
            <a:ext cx="329184" cy="103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33856" y="1965959"/>
            <a:ext cx="941832" cy="566897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207008" y="2039112"/>
            <a:ext cx="795528" cy="401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/ stop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12264" y="2221992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2194560" y="2029968"/>
            <a:ext cx="329184" cy="3710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2194560" y="2112264"/>
            <a:ext cx="329184" cy="103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15184" y="1965959"/>
            <a:ext cx="941832" cy="566897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2688336" y="2039112"/>
            <a:ext cx="795528" cy="401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whitelist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93592" y="2221992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3675888" y="2029968"/>
            <a:ext cx="329184" cy="3710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3675888" y="2112264"/>
            <a:ext cx="329184" cy="103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96512" y="1965959"/>
            <a:ext cx="941832" cy="566897"/>
          </a:xfrm>
          <a:prstGeom prst="roundRect">
            <a:avLst>
              <a:gd name="adj" fmla="val 1454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169664" y="2039112"/>
            <a:ext cx="795528" cy="401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esegue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 + viewer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0" y="2221992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5157216" y="2029968"/>
            <a:ext cx="329184" cy="3710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5157216" y="2112264"/>
            <a:ext cx="329184" cy="103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577840" y="1965959"/>
            <a:ext cx="941832" cy="566897"/>
          </a:xfrm>
          <a:prstGeom prst="roundRect">
            <a:avLst>
              <a:gd name="adj" fmla="val 1454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5650992" y="2039112"/>
            <a:ext cx="795528" cy="401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confronta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 + metriche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56248" y="2221992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6638544" y="2029968"/>
            <a:ext cx="329184" cy="3710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6638544" y="2112264"/>
            <a:ext cx="329184" cy="103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059168" y="1965959"/>
            <a:ext cx="941832" cy="566897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7132320" y="2039112"/>
            <a:ext cx="795528" cy="401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resolved / localized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" y="3410712"/>
            <a:ext cx="5059396" cy="201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IMPLEMENTATI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76072" y="3867912"/>
            <a:ext cx="144554" cy="731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740664" y="3803904"/>
            <a:ext cx="6089344" cy="23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Massimo 2 scenari per decisione e 5 run per circuito.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76072" y="4215384"/>
            <a:ext cx="144554" cy="731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740664" y="4151376"/>
            <a:ext cx="6089344" cy="23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Primitive ammesse tramite whitelist rigida.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76072" y="4562856"/>
            <a:ext cx="144554" cy="731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740664" y="4498848"/>
            <a:ext cx="6089344" cy="23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</a:t>
            </a:r>
            <a:r>
              <a:rPr lang="en-US" sz="125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duplicati rifiutati senza consumare budget.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76072" y="4910328"/>
            <a:ext cx="144554" cy="731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740664" y="4846320"/>
            <a:ext cx="6089344" cy="23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expect, gain e temporal_expect per verifiche OP/TRAN.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76072" y="5257800"/>
            <a:ext cx="144554" cy="731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740664" y="5193792"/>
            <a:ext cx="6089344" cy="23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Stati finali distinti: </a:t>
            </a:r>
            <a:r>
              <a:rPr lang="en-US" sz="12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resolved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2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localized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2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topology_issue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2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inconclusive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7059168" y="3355499"/>
            <a:ext cx="4556760" cy="1280507"/>
          </a:xfrm>
          <a:prstGeom prst="roundRect">
            <a:avLst>
              <a:gd name="adj" fmla="val 6818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8550933" y="3462629"/>
            <a:ext cx="1758037" cy="174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</a:rPr>
              <a:t>Differenza chiave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243977" y="4068351"/>
            <a:ext cx="437195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CHAT assiste </a:t>
            </a:r>
            <a:r>
              <a:rPr lang="en-US" sz="1200" b="1" dirty="0" err="1">
                <a:solidFill>
                  <a:srgbClr val="0B1320"/>
                </a:solidFill>
              </a:rPr>
              <a:t>l’utente</a:t>
            </a:r>
            <a:r>
              <a:rPr lang="en-US" sz="1200" b="1" dirty="0">
                <a:solidFill>
                  <a:srgbClr val="0B1320"/>
                </a:solidFill>
              </a:rPr>
              <a:t>.</a:t>
            </a:r>
          </a:p>
          <a:p>
            <a:pPr marL="0" indent="0">
              <a:buNone/>
            </a:pPr>
            <a:endParaRPr lang="en-US" sz="1200" b="1" dirty="0">
              <a:solidFill>
                <a:srgbClr val="0B1320"/>
              </a:solidFill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AGENT chiude il ciclo diagnostico in autonomia controllata.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Validazione sperimentale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A e Batch B usati per verificare SPICE, scenari e agente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13232" y="1508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13232" y="1892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circuiti documentati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1508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88920" y="1892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modalità: CHAT + AGENT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64608" y="1508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864608" y="1892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run scenario/</a:t>
            </a:r>
            <a:r>
              <a:rPr lang="en-US" sz="12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circuito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2743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A — CIRCUITI SEMPLICI / DISCRETI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310896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a01/a02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37360" y="309981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continuità e alimentazione mancante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47472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a04/a06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37360" y="346557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amplificazione, gain e distorsione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84048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a08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37360" y="383133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lampeggio con duty cycle e temporal_expect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420624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a09/a10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37360" y="41970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carichi multipli: lampada + LED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2743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B — CIRCUITI PIÙ COMPLESSI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10528" y="3108960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b02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0" y="3099816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multivibratore</a:t>
            </a:r>
            <a:r>
              <a:rPr lang="en-US" sz="1200" dirty="0">
                <a:solidFill>
                  <a:srgbClr val="334155"/>
                </a:solidFill>
              </a:rPr>
              <a:t> </a:t>
            </a:r>
            <a:r>
              <a:rPr lang="en-US" sz="1200" b="1" dirty="0">
                <a:solidFill>
                  <a:srgbClr val="334155"/>
                </a:solidFill>
              </a:rPr>
              <a:t>simmetrico</a:t>
            </a:r>
            <a:r>
              <a:rPr lang="en-US" sz="1200" dirty="0">
                <a:solidFill>
                  <a:srgbClr val="334155"/>
                </a:solidFill>
              </a:rPr>
              <a:t>: </a:t>
            </a:r>
            <a:r>
              <a:rPr lang="en-US" sz="1200" i="1" dirty="0">
                <a:solidFill>
                  <a:srgbClr val="334155"/>
                </a:solidFill>
              </a:rPr>
              <a:t>.ic iniziale</a:t>
            </a:r>
            <a:endParaRPr lang="en-US" sz="1200" i="1" dirty="0"/>
          </a:p>
        </p:txBody>
      </p:sp>
      <p:sp>
        <p:nvSpPr>
          <p:cNvPr id="26" name="Text 24"/>
          <p:cNvSpPr/>
          <p:nvPr/>
        </p:nvSpPr>
        <p:spPr>
          <a:xfrm>
            <a:off x="6510528" y="343814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b03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06640" y="3429000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monitor batteria</a:t>
            </a:r>
            <a:r>
              <a:rPr lang="en-US" sz="1200" dirty="0">
                <a:solidFill>
                  <a:srgbClr val="334155"/>
                </a:solidFill>
              </a:rPr>
              <a:t>: sequenza rosso/giallo/verde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10528" y="3767328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b04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06640" y="3758184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caricabatteria</a:t>
            </a:r>
            <a:r>
              <a:rPr lang="en-US" sz="1200" dirty="0">
                <a:solidFill>
                  <a:srgbClr val="334155"/>
                </a:solidFill>
              </a:rPr>
              <a:t>: corrente D4 transitoria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10528" y="409651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b05/b06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06640" y="4087368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radio/audio</a:t>
            </a:r>
            <a:r>
              <a:rPr lang="en-US" sz="1200" dirty="0">
                <a:solidFill>
                  <a:srgbClr val="334155"/>
                </a:solidFill>
              </a:rPr>
              <a:t>: iniezione controllata del segnale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10528" y="4425696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b10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06640" y="4416552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switch simbolico</a:t>
            </a:r>
            <a:r>
              <a:rPr lang="en-US" sz="1200" dirty="0">
                <a:solidFill>
                  <a:srgbClr val="334155"/>
                </a:solidFill>
              </a:rPr>
              <a:t>: stato ON/OFF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95528" y="4956048"/>
            <a:ext cx="10824376" cy="674204"/>
          </a:xfrm>
          <a:prstGeom prst="roundRect">
            <a:avLst>
              <a:gd name="adj" fmla="val 9091"/>
            </a:avLst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960120" y="5120639"/>
            <a:ext cx="10355788" cy="2206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FFFFFF"/>
                </a:solidFill>
              </a:rPr>
              <a:t>Risultato: la pipeline è stata validata come flusso di diagnosi tecnico-riproducibile; l’aggregazione quantitativa CHAT–AGENT è il prossimo step naturale.</a:t>
            </a:r>
            <a:endParaRPr lang="en-US" sz="1180" dirty="0"/>
          </a:p>
        </p:txBody>
      </p:sp>
      <p:sp>
        <p:nvSpPr>
          <p:cNvPr id="36" name="Rectangle 35"/>
          <p:cNvSpPr/>
          <p:nvPr/>
        </p:nvSpPr>
        <p:spPr>
          <a:xfrm>
            <a:off x="612648" y="5020055"/>
            <a:ext cx="11199246" cy="1287117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0664" y="4983480"/>
            <a:ext cx="25303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966"/>
                </a:solidFill>
                <a:latin typeface="Aptos"/>
              </a:rPr>
              <a:t>Sintesi delle validazioni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065584"/>
              </p:ext>
            </p:extLst>
          </p:nvPr>
        </p:nvGraphicFramePr>
        <p:xfrm>
          <a:off x="740664" y="5202936"/>
          <a:ext cx="10889978" cy="9847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5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6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8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8390"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Area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Cosa è stato verificato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Risultato operativo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089">
                <a:tc>
                  <a:txBody>
                    <a:bodyPr/>
                    <a:lstStyle/>
                    <a:p>
                      <a:pPr algn="ctr"/>
                      <a:r>
                        <a:rPr sz="710" b="1">
                          <a:solidFill>
                            <a:srgbClr val="009966"/>
                          </a:solidFill>
                          <a:latin typeface="Aptos"/>
                        </a:rPr>
                        <a:t>Graph JSON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judge immagine ↔ graph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grafi utilizzabili; casi critici isolati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089">
                <a:tc>
                  <a:txBody>
                    <a:bodyPr/>
                    <a:lstStyle/>
                    <a:p>
                      <a:pPr algn="ctr"/>
                      <a:r>
                        <a:rPr sz="710" b="1">
                          <a:solidFill>
                            <a:srgbClr val="009966"/>
                          </a:solidFill>
                          <a:latin typeface="Aptos"/>
                        </a:rPr>
                        <a:t>Diagnosi GPT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score, Top‑1/Top‑3, errori gravi, costo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benchmark modelli e compromesso score‑costo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089">
                <a:tc>
                  <a:txBody>
                    <a:bodyPr/>
                    <a:lstStyle/>
                    <a:p>
                      <a:pPr algn="ctr"/>
                      <a:r>
                        <a:rPr sz="710" b="1">
                          <a:solidFill>
                            <a:srgbClr val="009966"/>
                          </a:solidFill>
                          <a:latin typeface="Aptos"/>
                        </a:rPr>
                        <a:t>Pipeline 2.0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OP/TRAN, scenari e viewer su Batch A/B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flusso SPICE riproducibile su 15 circuiti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089">
                <a:tc>
                  <a:txBody>
                    <a:bodyPr/>
                    <a:lstStyle/>
                    <a:p>
                      <a:pPr algn="ctr"/>
                      <a:r>
                        <a:rPr sz="710" b="1">
                          <a:solidFill>
                            <a:srgbClr val="009966"/>
                          </a:solidFill>
                          <a:latin typeface="Aptos"/>
                        </a:rPr>
                        <a:t>CHAT + AGENT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modalità guidata e ciclo autonomo controllato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validati; aggregazione quantitativa CHAT‑AGENT come next step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Rectangle 38"/>
          <p:cNvSpPr/>
          <p:nvPr/>
        </p:nvSpPr>
        <p:spPr>
          <a:xfrm>
            <a:off x="594360" y="4782311"/>
            <a:ext cx="11264848" cy="1691639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0663" y="4837176"/>
            <a:ext cx="18806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009966"/>
                </a:solidFill>
                <a:latin typeface="Aptos"/>
              </a:rPr>
              <a:t>Sintesi</a:t>
            </a:r>
            <a:r>
              <a:rPr sz="1200" b="1" dirty="0">
                <a:solidFill>
                  <a:srgbClr val="009966"/>
                </a:solidFill>
                <a:latin typeface="Aptos"/>
              </a:rPr>
              <a:t> delle </a:t>
            </a:r>
            <a:r>
              <a:rPr sz="1200" b="1" dirty="0" err="1">
                <a:solidFill>
                  <a:srgbClr val="009966"/>
                </a:solidFill>
                <a:latin typeface="Aptos"/>
              </a:rPr>
              <a:t>validazioni</a:t>
            </a:r>
            <a:endParaRPr sz="1200" b="1" dirty="0">
              <a:solidFill>
                <a:srgbClr val="009966"/>
              </a:solidFill>
              <a:latin typeface="Aptos"/>
            </a:endParaRP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49916"/>
              </p:ext>
            </p:extLst>
          </p:nvPr>
        </p:nvGraphicFramePr>
        <p:xfrm>
          <a:off x="740664" y="5084064"/>
          <a:ext cx="10889977" cy="1124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2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038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>Area</a:t>
                      </a:r>
                    </a:p>
                  </a:txBody>
                  <a:tcPr marL="36576" marR="36576" marT="13716" marB="13716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>Cosa è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stato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verificato</a:t>
                      </a:r>
                      <a:endParaRPr sz="12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36576" marR="36576" marT="13716" marB="13716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Risultato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operativo</a:t>
                      </a:r>
                      <a:endParaRPr sz="12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36576" marR="36576" marT="13716" marB="13716">
                    <a:solidFill>
                      <a:srgbClr val="0A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841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09966"/>
                          </a:solidFill>
                          <a:latin typeface="Aptos"/>
                        </a:rPr>
                        <a:t>Graph JSON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judge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immagine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↔ graph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D394A"/>
                          </a:solidFill>
                          <a:latin typeface="Aptos"/>
                        </a:rPr>
                        <a:t>grafi utilizzabili; casi critici isolati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84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9966"/>
                          </a:solidFill>
                          <a:latin typeface="Aptos"/>
                        </a:rPr>
                        <a:t>Diagnosi GPT</a:t>
                      </a:r>
                    </a:p>
                  </a:txBody>
                  <a:tcPr marL="36576" marR="36576" marT="13716" marB="13716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score, Top‑1/Top‑3,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errori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gravi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costo</a:t>
                      </a:r>
                      <a:endParaRPr sz="1100" b="0" dirty="0">
                        <a:solidFill>
                          <a:srgbClr val="2D394A"/>
                        </a:solidFill>
                        <a:latin typeface="Aptos"/>
                      </a:endParaRPr>
                    </a:p>
                  </a:txBody>
                  <a:tcPr marL="36576" marR="36576" marT="13716" marB="13716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benchmark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modelli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e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compromesso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score‑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costo</a:t>
                      </a:r>
                      <a:endParaRPr sz="1100" b="0" dirty="0">
                        <a:solidFill>
                          <a:srgbClr val="2D394A"/>
                        </a:solidFill>
                        <a:latin typeface="Aptos"/>
                      </a:endParaRPr>
                    </a:p>
                  </a:txBody>
                  <a:tcPr marL="36576" marR="36576" marT="13716" marB="13716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84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9966"/>
                          </a:solidFill>
                          <a:latin typeface="Aptos"/>
                        </a:rPr>
                        <a:t>Pipeline 2.0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OP/TRAN,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scenari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e viewer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su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Batch A/B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flusso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SPICE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riproducibile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su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15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circuiti</a:t>
                      </a:r>
                      <a:endParaRPr sz="1100" b="0" dirty="0">
                        <a:solidFill>
                          <a:srgbClr val="2D394A"/>
                        </a:solidFill>
                        <a:latin typeface="Aptos"/>
                      </a:endParaRP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846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09966"/>
                          </a:solidFill>
                          <a:latin typeface="Aptos"/>
                        </a:rPr>
                        <a:t>CHAT + AGENT</a:t>
                      </a:r>
                    </a:p>
                  </a:txBody>
                  <a:tcPr marL="36576" marR="36576" marT="13716" marB="13716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modalità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guidata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e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ciclo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autonomo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controllato</a:t>
                      </a:r>
                      <a:endParaRPr sz="1100" b="0" dirty="0">
                        <a:solidFill>
                          <a:srgbClr val="2D394A"/>
                        </a:solidFill>
                        <a:latin typeface="Aptos"/>
                      </a:endParaRPr>
                    </a:p>
                  </a:txBody>
                  <a:tcPr marL="36576" marR="36576" marT="13716" marB="13716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validati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;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aggregazione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quantitativa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CHAT‑AGENT come next step</a:t>
                      </a:r>
                    </a:p>
                  </a:txBody>
                  <a:tcPr marL="36576" marR="36576" marT="13716" marB="13716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10992000" y="0"/>
            <a:ext cx="1200000" cy="6858000"/>
          </a:xfrm>
          <a:prstGeom prst="rect">
            <a:avLst/>
          </a:prstGeom>
          <a:solidFill>
            <a:srgbClr val="0A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713232" y="56692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b="1">
                <a:solidFill>
                  <a:srgbClr val="0F172A"/>
                </a:solidFill>
              </a:defRPr>
            </a:pPr>
            <a:r>
              <a:rPr lang="en-US" sz="3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Risultato del percorso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31520" y="1115568"/>
            <a:ext cx="10399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pipeline completa che unisce computer vision, rappresentazione strutturata, simulazione elettrica e diagnosi agentica.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1248" y="1920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2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98448" y="184708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+ benchmark YOLO</a:t>
            </a:r>
            <a:endParaRPr lang="en-US" sz="1520" dirty="0"/>
          </a:p>
        </p:txBody>
      </p:sp>
      <p:sp>
        <p:nvSpPr>
          <p:cNvPr id="6" name="Text 4"/>
          <p:cNvSpPr/>
          <p:nvPr/>
        </p:nvSpPr>
        <p:spPr>
          <a:xfrm>
            <a:off x="4572000" y="1874520"/>
            <a:ext cx="5897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627 immagini, augmentation e scelta YOLOv11 strong v3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256032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2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487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1.0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4572000" y="2514600"/>
            <a:ext cx="5897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detection a Graph JSON con terminali, OCR e warning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320040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2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8448" y="31272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Judge GPT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4572000" y="3154680"/>
            <a:ext cx="5897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 Graph JSON e diagnosi su sintomi con datasheet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38404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2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37673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2.0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4572000" y="3794760"/>
            <a:ext cx="5897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JSON → netlist SPICE → ngspice OP/TRAN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44805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2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44074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 diagnostico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4572000" y="4434840"/>
            <a:ext cx="5897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guidata, AGENT autonomo, scenari e viewer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580644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11356848" y="625449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>
                <a:solidFill>
                  <a:srgbClr val="1E293B"/>
                </a:solidFill>
              </a:defRPr>
            </a:pPr>
            <a:r>
              <a:rPr lang="en-US" sz="11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1656</Words>
  <Application>Microsoft Office PowerPoint</Application>
  <PresentationFormat>Widescreen</PresentationFormat>
  <Paragraphs>377</Paragraphs>
  <Slides>12</Slides>
  <Notes>12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Politecnico di Torino / Data Reply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detection e diagnosi AI di circuiti elettrici</dc:title>
  <dc:subject>Panoramica percorso di tesi</dc:subject>
  <dc:creator>Marco Profilo</dc:creator>
  <cp:lastModifiedBy>Marco Profilo</cp:lastModifiedBy>
  <cp:revision>4</cp:revision>
  <dcterms:created xsi:type="dcterms:W3CDTF">2026-07-21T08:30:22Z</dcterms:created>
  <dcterms:modified xsi:type="dcterms:W3CDTF">2026-07-21T11:34:03Z</dcterms:modified>
</cp:coreProperties>
</file>